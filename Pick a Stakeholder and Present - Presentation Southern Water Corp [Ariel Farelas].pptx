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8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0"/>
  </p:notesMasterIdLst>
  <p:sldIdLst>
    <p:sldId id="400" r:id="rId2"/>
    <p:sldId id="401" r:id="rId3"/>
    <p:sldId id="397" r:id="rId4"/>
    <p:sldId id="399" r:id="rId5"/>
    <p:sldId id="392" r:id="rId6"/>
    <p:sldId id="395" r:id="rId7"/>
    <p:sldId id="396" r:id="rId8"/>
    <p:sldId id="391" r:id="rId9"/>
  </p:sldIdLst>
  <p:sldSz cx="8961438" cy="67214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6B8"/>
    <a:srgbClr val="002C46"/>
    <a:srgbClr val="FDDA95"/>
    <a:srgbClr val="FFFFFF"/>
    <a:srgbClr val="FBC14E"/>
    <a:srgbClr val="EBEEF2"/>
    <a:srgbClr val="AABFD6"/>
    <a:srgbClr val="8497B0"/>
    <a:srgbClr val="657E9D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2755E-6761-3444-9962-CF550417DEC8}" v="70" dt="2025-10-06T03:36:29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1" autoAdjust="0"/>
    <p:restoredTop sz="92802" autoAdjust="0"/>
  </p:normalViewPr>
  <p:slideViewPr>
    <p:cSldViewPr snapToGrid="0">
      <p:cViewPr varScale="1">
        <p:scale>
          <a:sx n="127" d="100"/>
          <a:sy n="127" d="100"/>
        </p:scale>
        <p:origin x="1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Sebastian Farelas Lazaro" userId="1a9187d6-15d9-4228-a7e1-8dd89972ed52" providerId="ADAL" clId="{FA2E4CBD-115D-55B4-B72B-BC8AC780125D}"/>
    <pc:docChg chg="undo custSel addSld modSld sldOrd">
      <pc:chgData name="Ariel Sebastian Farelas Lazaro" userId="1a9187d6-15d9-4228-a7e1-8dd89972ed52" providerId="ADAL" clId="{FA2E4CBD-115D-55B4-B72B-BC8AC780125D}" dt="2025-10-18T13:41:28.846" v="3325" actId="20577"/>
      <pc:docMkLst>
        <pc:docMk/>
      </pc:docMkLst>
      <pc:sldChg chg="addSp delSp modSp mod modNotesTx">
        <pc:chgData name="Ariel Sebastian Farelas Lazaro" userId="1a9187d6-15d9-4228-a7e1-8dd89972ed52" providerId="ADAL" clId="{FA2E4CBD-115D-55B4-B72B-BC8AC780125D}" dt="2025-10-18T13:41:28.846" v="3325" actId="20577"/>
        <pc:sldMkLst>
          <pc:docMk/>
          <pc:sldMk cId="44480560" sldId="391"/>
        </pc:sldMkLst>
        <pc:spChg chg="mod">
          <ac:chgData name="Ariel Sebastian Farelas Lazaro" userId="1a9187d6-15d9-4228-a7e1-8dd89972ed52" providerId="ADAL" clId="{FA2E4CBD-115D-55B4-B72B-BC8AC780125D}" dt="2025-10-06T03:25:19.684" v="1161" actId="20577"/>
          <ac:spMkLst>
            <pc:docMk/>
            <pc:sldMk cId="44480560" sldId="391"/>
            <ac:spMk id="2" creationId="{F0E37C96-13BD-4F0C-B379-77591A183D9B}"/>
          </ac:spMkLst>
        </pc:spChg>
        <pc:spChg chg="add mod">
          <ac:chgData name="Ariel Sebastian Farelas Lazaro" userId="1a9187d6-15d9-4228-a7e1-8dd89972ed52" providerId="ADAL" clId="{FA2E4CBD-115D-55B4-B72B-BC8AC780125D}" dt="2025-10-06T03:23:20.746" v="1131"/>
          <ac:spMkLst>
            <pc:docMk/>
            <pc:sldMk cId="44480560" sldId="391"/>
            <ac:spMk id="5" creationId="{6F4F6696-1F93-FED5-27E0-5BAA8CE3CDC5}"/>
          </ac:spMkLst>
        </pc:spChg>
        <pc:graphicFrameChg chg="mod">
          <ac:chgData name="Ariel Sebastian Farelas Lazaro" userId="1a9187d6-15d9-4228-a7e1-8dd89972ed52" providerId="ADAL" clId="{FA2E4CBD-115D-55B4-B72B-BC8AC780125D}" dt="2025-10-06T03:23:01.364" v="1128" actId="1076"/>
          <ac:graphicFrameMkLst>
            <pc:docMk/>
            <pc:sldMk cId="44480560" sldId="391"/>
            <ac:graphicFrameMk id="3" creationId="{3A3146F5-E907-F832-2FDA-41B45D8F36BC}"/>
          </ac:graphicFrameMkLst>
        </pc:graphicFrameChg>
        <pc:graphicFrameChg chg="mod">
          <ac:chgData name="Ariel Sebastian Farelas Lazaro" userId="1a9187d6-15d9-4228-a7e1-8dd89972ed52" providerId="ADAL" clId="{FA2E4CBD-115D-55B4-B72B-BC8AC780125D}" dt="2025-10-06T03:23:07.242" v="1129" actId="1076"/>
          <ac:graphicFrameMkLst>
            <pc:docMk/>
            <pc:sldMk cId="44480560" sldId="391"/>
            <ac:graphicFrameMk id="4" creationId="{8BE449DF-ABF7-AEDE-68A3-97B97FBC856D}"/>
          </ac:graphicFrameMkLst>
        </pc:graphicFrameChg>
        <pc:cxnChg chg="mod">
          <ac:chgData name="Ariel Sebastian Farelas Lazaro" userId="1a9187d6-15d9-4228-a7e1-8dd89972ed52" providerId="ADAL" clId="{FA2E4CBD-115D-55B4-B72B-BC8AC780125D}" dt="2025-10-06T03:23:28.125" v="1146" actId="1035"/>
          <ac:cxnSpMkLst>
            <pc:docMk/>
            <pc:sldMk cId="44480560" sldId="391"/>
            <ac:cxnSpMk id="32" creationId="{D28A3BF8-BBF4-43D8-9B9B-1BA918AB5CD5}"/>
          </ac:cxnSpMkLst>
        </pc:cxnChg>
      </pc:sldChg>
      <pc:sldChg chg="addSp delSp modSp mod modNotesTx">
        <pc:chgData name="Ariel Sebastian Farelas Lazaro" userId="1a9187d6-15d9-4228-a7e1-8dd89972ed52" providerId="ADAL" clId="{FA2E4CBD-115D-55B4-B72B-BC8AC780125D}" dt="2025-10-18T13:29:18.374" v="2426" actId="20577"/>
        <pc:sldMkLst>
          <pc:docMk/>
          <pc:sldMk cId="2844286603" sldId="392"/>
        </pc:sldMkLst>
        <pc:spChg chg="mod">
          <ac:chgData name="Ariel Sebastian Farelas Lazaro" userId="1a9187d6-15d9-4228-a7e1-8dd89972ed52" providerId="ADAL" clId="{FA2E4CBD-115D-55B4-B72B-BC8AC780125D}" dt="2025-10-06T03:04:52.452" v="940" actId="20577"/>
          <ac:spMkLst>
            <pc:docMk/>
            <pc:sldMk cId="2844286603" sldId="392"/>
            <ac:spMk id="2" creationId="{F0E37C96-13BD-4F0C-B379-77591A183D9B}"/>
          </ac:spMkLst>
        </pc:spChg>
        <pc:spChg chg="add mod">
          <ac:chgData name="Ariel Sebastian Farelas Lazaro" userId="1a9187d6-15d9-4228-a7e1-8dd89972ed52" providerId="ADAL" clId="{FA2E4CBD-115D-55B4-B72B-BC8AC780125D}" dt="2025-10-06T03:05:48.526" v="953" actId="20577"/>
          <ac:spMkLst>
            <pc:docMk/>
            <pc:sldMk cId="2844286603" sldId="392"/>
            <ac:spMk id="5" creationId="{3E96B06A-CFD9-99A7-0F17-1439114AC6A0}"/>
          </ac:spMkLst>
        </pc:spChg>
        <pc:graphicFrameChg chg="mod">
          <ac:chgData name="Ariel Sebastian Farelas Lazaro" userId="1a9187d6-15d9-4228-a7e1-8dd89972ed52" providerId="ADAL" clId="{FA2E4CBD-115D-55B4-B72B-BC8AC780125D}" dt="2025-10-06T03:02:12.426" v="910" actId="14100"/>
          <ac:graphicFrameMkLst>
            <pc:docMk/>
            <pc:sldMk cId="2844286603" sldId="392"/>
            <ac:graphicFrameMk id="3" creationId="{65D7A609-8F20-5184-3269-3DB0B8A9B36D}"/>
          </ac:graphicFrameMkLst>
        </pc:graphicFrameChg>
        <pc:graphicFrameChg chg="mod">
          <ac:chgData name="Ariel Sebastian Farelas Lazaro" userId="1a9187d6-15d9-4228-a7e1-8dd89972ed52" providerId="ADAL" clId="{FA2E4CBD-115D-55B4-B72B-BC8AC780125D}" dt="2025-10-06T03:02:01.473" v="908" actId="1076"/>
          <ac:graphicFrameMkLst>
            <pc:docMk/>
            <pc:sldMk cId="2844286603" sldId="392"/>
            <ac:graphicFrameMk id="4" creationId="{46524DD3-2A8D-B4FC-BFCF-E3A3FB469B63}"/>
          </ac:graphicFrameMkLst>
        </pc:graphicFrameChg>
        <pc:cxnChg chg="mod">
          <ac:chgData name="Ariel Sebastian Farelas Lazaro" userId="1a9187d6-15d9-4228-a7e1-8dd89972ed52" providerId="ADAL" clId="{FA2E4CBD-115D-55B4-B72B-BC8AC780125D}" dt="2025-10-06T03:02:41.847" v="921" actId="1035"/>
          <ac:cxnSpMkLst>
            <pc:docMk/>
            <pc:sldMk cId="2844286603" sldId="392"/>
            <ac:cxnSpMk id="16" creationId="{B5D26C0C-ABE4-436D-9169-215E6A514CFF}"/>
          </ac:cxnSpMkLst>
        </pc:cxnChg>
      </pc:sldChg>
      <pc:sldChg chg="addSp delSp modSp mod modNotesTx">
        <pc:chgData name="Ariel Sebastian Farelas Lazaro" userId="1a9187d6-15d9-4228-a7e1-8dd89972ed52" providerId="ADAL" clId="{FA2E4CBD-115D-55B4-B72B-BC8AC780125D}" dt="2025-10-18T13:32:42.466" v="2745" actId="20577"/>
        <pc:sldMkLst>
          <pc:docMk/>
          <pc:sldMk cId="911419877" sldId="395"/>
        </pc:sldMkLst>
        <pc:spChg chg="mod">
          <ac:chgData name="Ariel Sebastian Farelas Lazaro" userId="1a9187d6-15d9-4228-a7e1-8dd89972ed52" providerId="ADAL" clId="{FA2E4CBD-115D-55B4-B72B-BC8AC780125D}" dt="2025-10-06T03:12:10.020" v="1055" actId="20577"/>
          <ac:spMkLst>
            <pc:docMk/>
            <pc:sldMk cId="911419877" sldId="395"/>
            <ac:spMk id="2" creationId="{F0E37C96-13BD-4F0C-B379-77591A183D9B}"/>
          </ac:spMkLst>
        </pc:spChg>
        <pc:spChg chg="add mod">
          <ac:chgData name="Ariel Sebastian Farelas Lazaro" userId="1a9187d6-15d9-4228-a7e1-8dd89972ed52" providerId="ADAL" clId="{FA2E4CBD-115D-55B4-B72B-BC8AC780125D}" dt="2025-10-06T03:09:52.603" v="1027" actId="20577"/>
          <ac:spMkLst>
            <pc:docMk/>
            <pc:sldMk cId="911419877" sldId="395"/>
            <ac:spMk id="10" creationId="{938ED917-15D8-99FF-B192-C51A15B3A276}"/>
          </ac:spMkLst>
        </pc:spChg>
        <pc:graphicFrameChg chg="mod">
          <ac:chgData name="Ariel Sebastian Farelas Lazaro" userId="1a9187d6-15d9-4228-a7e1-8dd89972ed52" providerId="ADAL" clId="{FA2E4CBD-115D-55B4-B72B-BC8AC780125D}" dt="2025-10-06T03:08:27.234" v="976" actId="1076"/>
          <ac:graphicFrameMkLst>
            <pc:docMk/>
            <pc:sldMk cId="911419877" sldId="395"/>
            <ac:graphicFrameMk id="3" creationId="{40746F9E-5C3C-2574-66CA-DACCD83156FB}"/>
          </ac:graphicFrameMkLst>
        </pc:graphicFrameChg>
        <pc:graphicFrameChg chg="mod">
          <ac:chgData name="Ariel Sebastian Farelas Lazaro" userId="1a9187d6-15d9-4228-a7e1-8dd89972ed52" providerId="ADAL" clId="{FA2E4CBD-115D-55B4-B72B-BC8AC780125D}" dt="2025-10-06T03:08:45.400" v="978" actId="1076"/>
          <ac:graphicFrameMkLst>
            <pc:docMk/>
            <pc:sldMk cId="911419877" sldId="395"/>
            <ac:graphicFrameMk id="4" creationId="{5ADA955B-91AB-3746-A81B-A3875632CF0E}"/>
          </ac:graphicFrameMkLst>
        </pc:graphicFrameChg>
        <pc:graphicFrameChg chg="mod">
          <ac:chgData name="Ariel Sebastian Farelas Lazaro" userId="1a9187d6-15d9-4228-a7e1-8dd89972ed52" providerId="ADAL" clId="{FA2E4CBD-115D-55B4-B72B-BC8AC780125D}" dt="2025-10-06T03:08:15.055" v="974" actId="1076"/>
          <ac:graphicFrameMkLst>
            <pc:docMk/>
            <pc:sldMk cId="911419877" sldId="395"/>
            <ac:graphicFrameMk id="5" creationId="{51832C8C-BF62-964F-A7B6-A586977A8748}"/>
          </ac:graphicFrameMkLst>
        </pc:graphicFrameChg>
        <pc:cxnChg chg="mod">
          <ac:chgData name="Ariel Sebastian Farelas Lazaro" userId="1a9187d6-15d9-4228-a7e1-8dd89972ed52" providerId="ADAL" clId="{FA2E4CBD-115D-55B4-B72B-BC8AC780125D}" dt="2025-10-06T03:09:27.765" v="992" actId="1035"/>
          <ac:cxnSpMkLst>
            <pc:docMk/>
            <pc:sldMk cId="911419877" sldId="395"/>
            <ac:cxnSpMk id="16" creationId="{B5D26C0C-ABE4-436D-9169-215E6A514CFF}"/>
          </ac:cxnSpMkLst>
        </pc:cxnChg>
      </pc:sldChg>
      <pc:sldChg chg="addSp delSp modSp mod modNotesTx">
        <pc:chgData name="Ariel Sebastian Farelas Lazaro" userId="1a9187d6-15d9-4228-a7e1-8dd89972ed52" providerId="ADAL" clId="{FA2E4CBD-115D-55B4-B72B-BC8AC780125D}" dt="2025-10-18T13:36:30.678" v="3015" actId="20577"/>
        <pc:sldMkLst>
          <pc:docMk/>
          <pc:sldMk cId="2776998344" sldId="396"/>
        </pc:sldMkLst>
        <pc:spChg chg="mod">
          <ac:chgData name="Ariel Sebastian Farelas Lazaro" userId="1a9187d6-15d9-4228-a7e1-8dd89972ed52" providerId="ADAL" clId="{FA2E4CBD-115D-55B4-B72B-BC8AC780125D}" dt="2025-10-06T03:17:21.455" v="1104" actId="20577"/>
          <ac:spMkLst>
            <pc:docMk/>
            <pc:sldMk cId="2776998344" sldId="396"/>
            <ac:spMk id="2" creationId="{F0E37C96-13BD-4F0C-B379-77591A183D9B}"/>
          </ac:spMkLst>
        </pc:spChg>
        <pc:spChg chg="add mod">
          <ac:chgData name="Ariel Sebastian Farelas Lazaro" userId="1a9187d6-15d9-4228-a7e1-8dd89972ed52" providerId="ADAL" clId="{FA2E4CBD-115D-55B4-B72B-BC8AC780125D}" dt="2025-10-06T03:17:40.944" v="1126" actId="20577"/>
          <ac:spMkLst>
            <pc:docMk/>
            <pc:sldMk cId="2776998344" sldId="396"/>
            <ac:spMk id="6" creationId="{B163FE2B-91F7-CD12-20D0-380E03DAAE70}"/>
          </ac:spMkLst>
        </pc:spChg>
        <pc:graphicFrameChg chg="mod">
          <ac:chgData name="Ariel Sebastian Farelas Lazaro" userId="1a9187d6-15d9-4228-a7e1-8dd89972ed52" providerId="ADAL" clId="{FA2E4CBD-115D-55B4-B72B-BC8AC780125D}" dt="2025-10-06T03:14:17.355" v="1065" actId="14100"/>
          <ac:graphicFrameMkLst>
            <pc:docMk/>
            <pc:sldMk cId="2776998344" sldId="396"/>
            <ac:graphicFrameMk id="3" creationId="{C19069C0-157C-6D6A-3469-DFC00E83784D}"/>
          </ac:graphicFrameMkLst>
        </pc:graphicFrameChg>
        <pc:graphicFrameChg chg="mod">
          <ac:chgData name="Ariel Sebastian Farelas Lazaro" userId="1a9187d6-15d9-4228-a7e1-8dd89972ed52" providerId="ADAL" clId="{FA2E4CBD-115D-55B4-B72B-BC8AC780125D}" dt="2025-10-06T03:14:21.086" v="1066" actId="14100"/>
          <ac:graphicFrameMkLst>
            <pc:docMk/>
            <pc:sldMk cId="2776998344" sldId="396"/>
            <ac:graphicFrameMk id="4" creationId="{2874F390-E64A-1E40-A208-9B6CAC9A9B73}"/>
          </ac:graphicFrameMkLst>
        </pc:graphicFrameChg>
        <pc:graphicFrameChg chg="mod">
          <ac:chgData name="Ariel Sebastian Farelas Lazaro" userId="1a9187d6-15d9-4228-a7e1-8dd89972ed52" providerId="ADAL" clId="{FA2E4CBD-115D-55B4-B72B-BC8AC780125D}" dt="2025-10-06T03:14:30.521" v="1068" actId="1076"/>
          <ac:graphicFrameMkLst>
            <pc:docMk/>
            <pc:sldMk cId="2776998344" sldId="396"/>
            <ac:graphicFrameMk id="5" creationId="{61DDF01E-FFB9-D743-BCD1-360EC500D260}"/>
          </ac:graphicFrameMkLst>
        </pc:graphicFrameChg>
        <pc:cxnChg chg="mod">
          <ac:chgData name="Ariel Sebastian Farelas Lazaro" userId="1a9187d6-15d9-4228-a7e1-8dd89972ed52" providerId="ADAL" clId="{FA2E4CBD-115D-55B4-B72B-BC8AC780125D}" dt="2025-10-06T03:14:50.704" v="1085" actId="1036"/>
          <ac:cxnSpMkLst>
            <pc:docMk/>
            <pc:sldMk cId="2776998344" sldId="396"/>
            <ac:cxnSpMk id="16" creationId="{B5D26C0C-ABE4-436D-9169-215E6A514CFF}"/>
          </ac:cxnSpMkLst>
        </pc:cxnChg>
      </pc:sldChg>
      <pc:sldChg chg="addSp delSp modSp mod modNotesTx">
        <pc:chgData name="Ariel Sebastian Farelas Lazaro" userId="1a9187d6-15d9-4228-a7e1-8dd89972ed52" providerId="ADAL" clId="{FA2E4CBD-115D-55B4-B72B-BC8AC780125D}" dt="2025-10-18T13:20:55.449" v="1790" actId="20577"/>
        <pc:sldMkLst>
          <pc:docMk/>
          <pc:sldMk cId="2748477053" sldId="397"/>
        </pc:sldMkLst>
        <pc:spChg chg="mod">
          <ac:chgData name="Ariel Sebastian Farelas Lazaro" userId="1a9187d6-15d9-4228-a7e1-8dd89972ed52" providerId="ADAL" clId="{FA2E4CBD-115D-55B4-B72B-BC8AC780125D}" dt="2025-10-06T02:52:57.141" v="772" actId="20577"/>
          <ac:spMkLst>
            <pc:docMk/>
            <pc:sldMk cId="2748477053" sldId="397"/>
            <ac:spMk id="2" creationId="{F0E37C96-13BD-4F0C-B379-77591A183D9B}"/>
          </ac:spMkLst>
        </pc:spChg>
        <pc:spChg chg="add mod">
          <ac:chgData name="Ariel Sebastian Farelas Lazaro" userId="1a9187d6-15d9-4228-a7e1-8dd89972ed52" providerId="ADAL" clId="{FA2E4CBD-115D-55B4-B72B-BC8AC780125D}" dt="2025-10-06T02:46:11.037" v="690" actId="1076"/>
          <ac:spMkLst>
            <pc:docMk/>
            <pc:sldMk cId="2748477053" sldId="397"/>
            <ac:spMk id="4" creationId="{B08ED6DC-5592-3AEE-A3D4-995F3185C93C}"/>
          </ac:spMkLst>
        </pc:spChg>
        <pc:graphicFrameChg chg="mod">
          <ac:chgData name="Ariel Sebastian Farelas Lazaro" userId="1a9187d6-15d9-4228-a7e1-8dd89972ed52" providerId="ADAL" clId="{FA2E4CBD-115D-55B4-B72B-BC8AC780125D}" dt="2025-10-06T02:55:37.209" v="788" actId="1076"/>
          <ac:graphicFrameMkLst>
            <pc:docMk/>
            <pc:sldMk cId="2748477053" sldId="397"/>
            <ac:graphicFrameMk id="3" creationId="{E5BE25A2-4F12-B153-CAB1-1D9ABF16C4FB}"/>
          </ac:graphicFrameMkLst>
        </pc:graphicFrameChg>
      </pc:sldChg>
      <pc:sldChg chg="addSp delSp modSp mod modNotesTx">
        <pc:chgData name="Ariel Sebastian Farelas Lazaro" userId="1a9187d6-15d9-4228-a7e1-8dd89972ed52" providerId="ADAL" clId="{FA2E4CBD-115D-55B4-B72B-BC8AC780125D}" dt="2025-10-18T13:24:44.785" v="2017" actId="20577"/>
        <pc:sldMkLst>
          <pc:docMk/>
          <pc:sldMk cId="667657664" sldId="399"/>
        </pc:sldMkLst>
        <pc:spChg chg="mod">
          <ac:chgData name="Ariel Sebastian Farelas Lazaro" userId="1a9187d6-15d9-4228-a7e1-8dd89972ed52" providerId="ADAL" clId="{FA2E4CBD-115D-55B4-B72B-BC8AC780125D}" dt="2025-10-06T02:59:35.997" v="873" actId="20577"/>
          <ac:spMkLst>
            <pc:docMk/>
            <pc:sldMk cId="667657664" sldId="399"/>
            <ac:spMk id="2" creationId="{F0E37C96-13BD-4F0C-B379-77591A183D9B}"/>
          </ac:spMkLst>
        </pc:spChg>
        <pc:spChg chg="add mod">
          <ac:chgData name="Ariel Sebastian Farelas Lazaro" userId="1a9187d6-15d9-4228-a7e1-8dd89972ed52" providerId="ADAL" clId="{FA2E4CBD-115D-55B4-B72B-BC8AC780125D}" dt="2025-10-06T02:56:28.054" v="831" actId="20577"/>
          <ac:spMkLst>
            <pc:docMk/>
            <pc:sldMk cId="667657664" sldId="399"/>
            <ac:spMk id="6" creationId="{B4AA89AD-651C-2D01-B7AE-50B968DE3275}"/>
          </ac:spMkLst>
        </pc:spChg>
        <pc:graphicFrameChg chg="mod">
          <ac:chgData name="Ariel Sebastian Farelas Lazaro" userId="1a9187d6-15d9-4228-a7e1-8dd89972ed52" providerId="ADAL" clId="{FA2E4CBD-115D-55B4-B72B-BC8AC780125D}" dt="2025-10-06T03:07:21.518" v="962" actId="1076"/>
          <ac:graphicFrameMkLst>
            <pc:docMk/>
            <pc:sldMk cId="667657664" sldId="399"/>
            <ac:graphicFrameMk id="3" creationId="{751BAE10-69C4-A483-169C-9FBCD8538511}"/>
          </ac:graphicFrameMkLst>
        </pc:graphicFrameChg>
        <pc:graphicFrameChg chg="mod">
          <ac:chgData name="Ariel Sebastian Farelas Lazaro" userId="1a9187d6-15d9-4228-a7e1-8dd89972ed52" providerId="ADAL" clId="{FA2E4CBD-115D-55B4-B72B-BC8AC780125D}" dt="2025-10-06T03:07:28.570" v="964" actId="1076"/>
          <ac:graphicFrameMkLst>
            <pc:docMk/>
            <pc:sldMk cId="667657664" sldId="399"/>
            <ac:graphicFrameMk id="4" creationId="{E118F921-777C-1C4F-B6C2-981C1AB89943}"/>
          </ac:graphicFrameMkLst>
        </pc:graphicFrameChg>
        <pc:graphicFrameChg chg="add del mod">
          <ac:chgData name="Ariel Sebastian Farelas Lazaro" userId="1a9187d6-15d9-4228-a7e1-8dd89972ed52" providerId="ADAL" clId="{FA2E4CBD-115D-55B4-B72B-BC8AC780125D}" dt="2025-10-06T03:07:11.948" v="960" actId="14100"/>
          <ac:graphicFrameMkLst>
            <pc:docMk/>
            <pc:sldMk cId="667657664" sldId="399"/>
            <ac:graphicFrameMk id="5" creationId="{0CC67372-4C13-5C46-A81C-656E02139FFE}"/>
          </ac:graphicFrameMkLst>
        </pc:graphicFrameChg>
        <pc:cxnChg chg="mod">
          <ac:chgData name="Ariel Sebastian Farelas Lazaro" userId="1a9187d6-15d9-4228-a7e1-8dd89972ed52" providerId="ADAL" clId="{FA2E4CBD-115D-55B4-B72B-BC8AC780125D}" dt="2025-10-06T02:56:08.741" v="806" actId="1036"/>
          <ac:cxnSpMkLst>
            <pc:docMk/>
            <pc:sldMk cId="667657664" sldId="399"/>
            <ac:cxnSpMk id="16" creationId="{B5D26C0C-ABE4-436D-9169-215E6A514CFF}"/>
          </ac:cxnSpMkLst>
        </pc:cxnChg>
      </pc:sldChg>
      <pc:sldChg chg="addSp delSp modSp new mod ord modNotesTx">
        <pc:chgData name="Ariel Sebastian Farelas Lazaro" userId="1a9187d6-15d9-4228-a7e1-8dd89972ed52" providerId="ADAL" clId="{FA2E4CBD-115D-55B4-B72B-BC8AC780125D}" dt="2025-10-18T13:12:28.603" v="1275" actId="20577"/>
        <pc:sldMkLst>
          <pc:docMk/>
          <pc:sldMk cId="454724459" sldId="400"/>
        </pc:sldMkLst>
        <pc:spChg chg="add mod">
          <ac:chgData name="Ariel Sebastian Farelas Lazaro" userId="1a9187d6-15d9-4228-a7e1-8dd89972ed52" providerId="ADAL" clId="{FA2E4CBD-115D-55B4-B72B-BC8AC780125D}" dt="2025-10-05T21:02:37.208" v="596" actId="122"/>
          <ac:spMkLst>
            <pc:docMk/>
            <pc:sldMk cId="454724459" sldId="400"/>
            <ac:spMk id="5" creationId="{1C0568C9-EDF0-33CD-71F5-E9F25422DA63}"/>
          </ac:spMkLst>
        </pc:spChg>
        <pc:spChg chg="add mod">
          <ac:chgData name="Ariel Sebastian Farelas Lazaro" userId="1a9187d6-15d9-4228-a7e1-8dd89972ed52" providerId="ADAL" clId="{FA2E4CBD-115D-55B4-B72B-BC8AC780125D}" dt="2025-10-06T02:42:04.776" v="662" actId="20577"/>
          <ac:spMkLst>
            <pc:docMk/>
            <pc:sldMk cId="454724459" sldId="400"/>
            <ac:spMk id="8" creationId="{30A8AAF0-E14C-36C7-3D3A-2DAB37A351E3}"/>
          </ac:spMkLst>
        </pc:spChg>
        <pc:spChg chg="add mod">
          <ac:chgData name="Ariel Sebastian Farelas Lazaro" userId="1a9187d6-15d9-4228-a7e1-8dd89972ed52" providerId="ADAL" clId="{FA2E4CBD-115D-55B4-B72B-BC8AC780125D}" dt="2025-10-05T21:03:37.128" v="653" actId="20577"/>
          <ac:spMkLst>
            <pc:docMk/>
            <pc:sldMk cId="454724459" sldId="400"/>
            <ac:spMk id="9" creationId="{4B5EA350-9F2E-F254-FA7C-A78D0C1564EF}"/>
          </ac:spMkLst>
        </pc:spChg>
        <pc:picChg chg="add mod">
          <ac:chgData name="Ariel Sebastian Farelas Lazaro" userId="1a9187d6-15d9-4228-a7e1-8dd89972ed52" providerId="ADAL" clId="{FA2E4CBD-115D-55B4-B72B-BC8AC780125D}" dt="2025-10-05T20:56:05.146" v="425" actId="1076"/>
          <ac:picMkLst>
            <pc:docMk/>
            <pc:sldMk cId="454724459" sldId="400"/>
            <ac:picMk id="1026" creationId="{5795C46F-D700-AC04-4E53-66826F351C93}"/>
          </ac:picMkLst>
        </pc:picChg>
        <pc:cxnChg chg="add mod">
          <ac:chgData name="Ariel Sebastian Farelas Lazaro" userId="1a9187d6-15d9-4228-a7e1-8dd89972ed52" providerId="ADAL" clId="{FA2E4CBD-115D-55B4-B72B-BC8AC780125D}" dt="2025-10-05T20:54:22.680" v="420"/>
          <ac:cxnSpMkLst>
            <pc:docMk/>
            <pc:sldMk cId="454724459" sldId="400"/>
            <ac:cxnSpMk id="6" creationId="{D7327498-B1BA-7BB9-6612-31CF930E4F4C}"/>
          </ac:cxnSpMkLst>
        </pc:cxnChg>
      </pc:sldChg>
      <pc:sldChg chg="addSp delSp modSp add mod modNotesTx">
        <pc:chgData name="Ariel Sebastian Farelas Lazaro" userId="1a9187d6-15d9-4228-a7e1-8dd89972ed52" providerId="ADAL" clId="{FA2E4CBD-115D-55B4-B72B-BC8AC780125D}" dt="2025-10-18T13:18:36.158" v="1608" actId="20577"/>
        <pc:sldMkLst>
          <pc:docMk/>
          <pc:sldMk cId="2433426078" sldId="401"/>
        </pc:sldMkLst>
        <pc:spChg chg="add mod">
          <ac:chgData name="Ariel Sebastian Farelas Lazaro" userId="1a9187d6-15d9-4228-a7e1-8dd89972ed52" providerId="ADAL" clId="{FA2E4CBD-115D-55B4-B72B-BC8AC780125D}" dt="2025-10-06T03:26:49.874" v="1180" actId="20577"/>
          <ac:spMkLst>
            <pc:docMk/>
            <pc:sldMk cId="2433426078" sldId="401"/>
            <ac:spMk id="2" creationId="{94BAD6E1-AEDB-9A3B-EE8E-43F65E752E48}"/>
          </ac:spMkLst>
        </pc:spChg>
        <pc:spChg chg="mod">
          <ac:chgData name="Ariel Sebastian Farelas Lazaro" userId="1a9187d6-15d9-4228-a7e1-8dd89972ed52" providerId="ADAL" clId="{FA2E4CBD-115D-55B4-B72B-BC8AC780125D}" dt="2025-10-06T03:32:03.139" v="1257" actId="20577"/>
          <ac:spMkLst>
            <pc:docMk/>
            <pc:sldMk cId="2433426078" sldId="401"/>
            <ac:spMk id="5" creationId="{3DEC94E7-0A1C-4C25-E803-FF2FD29CC922}"/>
          </ac:spMkLst>
        </pc:spChg>
        <pc:graphicFrameChg chg="add mod">
          <ac:chgData name="Ariel Sebastian Farelas Lazaro" userId="1a9187d6-15d9-4228-a7e1-8dd89972ed52" providerId="ADAL" clId="{FA2E4CBD-115D-55B4-B72B-BC8AC780125D}" dt="2025-10-06T03:37:01.909" v="1267" actId="14100"/>
          <ac:graphicFrameMkLst>
            <pc:docMk/>
            <pc:sldMk cId="2433426078" sldId="401"/>
            <ac:graphicFrameMk id="3" creationId="{D7937CBC-4E66-3BAA-FB8E-4A9D6492A111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10-06T03:37:08.003" v="1268" actId="14100"/>
          <ac:graphicFrameMkLst>
            <pc:docMk/>
            <pc:sldMk cId="2433426078" sldId="401"/>
            <ac:graphicFrameMk id="4" creationId="{DFCB0EBF-4750-9995-39F9-628B08FD1B4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Financial%20Case%20Study%20Student%20Facing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Overall Contribution from Each Sales Segment (By Percentage)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'Revenue Analysis'!$B$71</c:f>
              <c:strCache>
                <c:ptCount val="1"/>
                <c:pt idx="0">
                  <c:v>001 Private Water Hedge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Analysis'!$A$72:$A$74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'Revenue Analysis'!$B$72:$B$74</c:f>
              <c:numCache>
                <c:formatCode>0.0%</c:formatCode>
                <c:ptCount val="3"/>
                <c:pt idx="0">
                  <c:v>0.52320475368890484</c:v>
                </c:pt>
                <c:pt idx="1">
                  <c:v>0.40764341953130878</c:v>
                </c:pt>
                <c:pt idx="2">
                  <c:v>0.41462998885337127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8A-8E4A-AF19-2B75A5B02E27}"/>
            </c:ext>
          </c:extLst>
        </c:ser>
        <c:ser>
          <c:idx val="1"/>
          <c:order val="1"/>
          <c:tx>
            <c:strRef>
              <c:f>'Revenue Analysis'!$C$71</c:f>
              <c:strCache>
                <c:ptCount val="1"/>
                <c:pt idx="0">
                  <c:v>002 Public Sales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Analysis'!$A$72:$A$74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'Revenue Analysis'!$C$72:$C$74</c:f>
              <c:numCache>
                <c:formatCode>0.0%</c:formatCode>
                <c:ptCount val="3"/>
                <c:pt idx="0">
                  <c:v>0.25754754000336344</c:v>
                </c:pt>
                <c:pt idx="1">
                  <c:v>0.34887778413286691</c:v>
                </c:pt>
                <c:pt idx="2">
                  <c:v>0.35498085766522613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8A-8E4A-AF19-2B75A5B02E27}"/>
            </c:ext>
          </c:extLst>
        </c:ser>
        <c:ser>
          <c:idx val="2"/>
          <c:order val="2"/>
          <c:tx>
            <c:strRef>
              <c:f>'Revenue Analysis'!$D$71</c:f>
              <c:strCache>
                <c:ptCount val="1"/>
                <c:pt idx="0">
                  <c:v>003 Residential Sales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Analysis'!$A$72:$A$74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'Revenue Analysis'!$D$72:$D$74</c:f>
              <c:numCache>
                <c:formatCode>0.0%</c:formatCode>
                <c:ptCount val="3"/>
                <c:pt idx="0">
                  <c:v>0.21924770630773166</c:v>
                </c:pt>
                <c:pt idx="1">
                  <c:v>0.24347879633582434</c:v>
                </c:pt>
                <c:pt idx="2">
                  <c:v>0.23038915348140254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8A-8E4A-AF19-2B75A5B02E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1465557408"/>
        <c:axId val="1631266768"/>
      </c:barChart>
      <c:catAx>
        <c:axId val="1465557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266768"/>
        <c:crosses val="autoZero"/>
        <c:auto val="1"/>
        <c:lblAlgn val="ctr"/>
        <c:lblOffset val="100"/>
        <c:noMultiLvlLbl val="0"/>
      </c:catAx>
      <c:valAx>
        <c:axId val="163126676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5557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Montly</a:t>
            </a:r>
            <a:r>
              <a:rPr lang="en-US" baseline="0"/>
              <a:t> EBIT Per Desalination Plant (Jul 13th - Jun 14th)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'Profitability EBIT Analysis'!$A$24</c:f>
              <c:strCache>
                <c:ptCount val="1"/>
                <c:pt idx="0">
                  <c:v>Kootha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'Profitability EBIT Analysis'!$E$14:$P$14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'Profitability EBIT Analysis'!$E$24:$P$24</c:f>
              <c:numCache>
                <c:formatCode>"$"#,##0.00;[Red]\-"$"#,##0.00</c:formatCode>
                <c:ptCount val="12"/>
                <c:pt idx="0">
                  <c:v>2456292.3275362095</c:v>
                </c:pt>
                <c:pt idx="1">
                  <c:v>918310.88787430618</c:v>
                </c:pt>
                <c:pt idx="2">
                  <c:v>1519674.7670411356</c:v>
                </c:pt>
                <c:pt idx="3">
                  <c:v>1671126.6978958244</c:v>
                </c:pt>
                <c:pt idx="4">
                  <c:v>1867603.7439484252</c:v>
                </c:pt>
                <c:pt idx="5">
                  <c:v>1873668.8420387572</c:v>
                </c:pt>
                <c:pt idx="6">
                  <c:v>2572779.3705296321</c:v>
                </c:pt>
                <c:pt idx="7">
                  <c:v>2504531.9499788238</c:v>
                </c:pt>
                <c:pt idx="8">
                  <c:v>2888063.9198026378</c:v>
                </c:pt>
                <c:pt idx="9">
                  <c:v>912936.10019635595</c:v>
                </c:pt>
                <c:pt idx="10">
                  <c:v>702117.95209483802</c:v>
                </c:pt>
                <c:pt idx="11">
                  <c:v>-165973.35311146174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DE-8441-9FD1-8CB16F4E4E32}"/>
            </c:ext>
          </c:extLst>
        </c:ser>
        <c:ser>
          <c:idx val="1"/>
          <c:order val="1"/>
          <c:tx>
            <c:strRef>
              <c:f>'Profitability EBIT Analysis'!$A$25</c:f>
              <c:strCache>
                <c:ptCount val="1"/>
                <c:pt idx="0">
                  <c:v>Surjek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'Profitability EBIT Analysis'!$E$14:$P$14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'Profitability EBIT Analysis'!$E$25:$P$25</c:f>
              <c:numCache>
                <c:formatCode>"$"#,##0.00;[Red]\-"$"#,##0.00</c:formatCode>
                <c:ptCount val="12"/>
                <c:pt idx="0">
                  <c:v>5988499.8026137892</c:v>
                </c:pt>
                <c:pt idx="1">
                  <c:v>943434.10160639696</c:v>
                </c:pt>
                <c:pt idx="2">
                  <c:v>2328952.4387191646</c:v>
                </c:pt>
                <c:pt idx="3">
                  <c:v>-3360291.110331079</c:v>
                </c:pt>
                <c:pt idx="4">
                  <c:v>-6192464.2872408964</c:v>
                </c:pt>
                <c:pt idx="5">
                  <c:v>2604016.9804607946</c:v>
                </c:pt>
                <c:pt idx="6">
                  <c:v>8366591.2969236001</c:v>
                </c:pt>
                <c:pt idx="7">
                  <c:v>2112457.573284395</c:v>
                </c:pt>
                <c:pt idx="8">
                  <c:v>4631100.2007863969</c:v>
                </c:pt>
                <c:pt idx="9">
                  <c:v>2132931.991960397</c:v>
                </c:pt>
                <c:pt idx="10">
                  <c:v>-4294074.8102160059</c:v>
                </c:pt>
                <c:pt idx="11">
                  <c:v>7675095.9504671991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DE-8441-9FD1-8CB16F4E4E32}"/>
            </c:ext>
          </c:extLst>
        </c:ser>
        <c:ser>
          <c:idx val="2"/>
          <c:order val="2"/>
          <c:tx>
            <c:strRef>
              <c:f>'Profitability EBIT Analysis'!$A$26</c:f>
              <c:strCache>
                <c:ptCount val="1"/>
                <c:pt idx="0">
                  <c:v>Jutik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'Profitability EBIT Analysis'!$E$14:$P$14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'Profitability EBIT Analysis'!$E$26:$P$26</c:f>
              <c:numCache>
                <c:formatCode>"$"#,##0.00;[Red]\-"$"#,##0.00</c:formatCode>
                <c:ptCount val="12"/>
                <c:pt idx="0">
                  <c:v>4547848.2127075791</c:v>
                </c:pt>
                <c:pt idx="1">
                  <c:v>6542227.6080423184</c:v>
                </c:pt>
                <c:pt idx="2">
                  <c:v>4438176.8988530822</c:v>
                </c:pt>
                <c:pt idx="3">
                  <c:v>4415960.6020003622</c:v>
                </c:pt>
                <c:pt idx="4">
                  <c:v>5589126.5717249103</c:v>
                </c:pt>
                <c:pt idx="5">
                  <c:v>5264580.3424524991</c:v>
                </c:pt>
                <c:pt idx="6">
                  <c:v>8292411.5891714972</c:v>
                </c:pt>
                <c:pt idx="7">
                  <c:v>8295134.2778322492</c:v>
                </c:pt>
                <c:pt idx="8">
                  <c:v>5460903.0204648729</c:v>
                </c:pt>
                <c:pt idx="9">
                  <c:v>8279084.1609189995</c:v>
                </c:pt>
                <c:pt idx="10">
                  <c:v>6175874.2250345014</c:v>
                </c:pt>
                <c:pt idx="11">
                  <c:v>5640408.5879914984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DE-8441-9FD1-8CB16F4E4E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09044623"/>
        <c:axId val="2109046335"/>
      </c:barChart>
      <c:dateAx>
        <c:axId val="210904462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9046335"/>
        <c:crosses val="autoZero"/>
        <c:auto val="1"/>
        <c:lblOffset val="100"/>
        <c:baseTimeUnit val="months"/>
      </c:dateAx>
      <c:valAx>
        <c:axId val="210904633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904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Overall Contribution from Each Sales Segment (By Percentage)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'Revenue Analysis'!$B$71</c:f>
              <c:strCache>
                <c:ptCount val="1"/>
                <c:pt idx="0">
                  <c:v>001 Private Water Hedge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Analysis'!$A$72:$A$74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'Revenue Analysis'!$B$72:$B$74</c:f>
              <c:numCache>
                <c:formatCode>0.0%</c:formatCode>
                <c:ptCount val="3"/>
                <c:pt idx="0">
                  <c:v>0.52320475368890484</c:v>
                </c:pt>
                <c:pt idx="1">
                  <c:v>0.40764341953130878</c:v>
                </c:pt>
                <c:pt idx="2">
                  <c:v>0.41462998885337127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68-1C49-9AC6-4FE5593CC344}"/>
            </c:ext>
          </c:extLst>
        </c:ser>
        <c:ser>
          <c:idx val="1"/>
          <c:order val="1"/>
          <c:tx>
            <c:strRef>
              <c:f>'Revenue Analysis'!$C$71</c:f>
              <c:strCache>
                <c:ptCount val="1"/>
                <c:pt idx="0">
                  <c:v>002 Public Sales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Analysis'!$A$72:$A$74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'Revenue Analysis'!$C$72:$C$74</c:f>
              <c:numCache>
                <c:formatCode>0.0%</c:formatCode>
                <c:ptCount val="3"/>
                <c:pt idx="0">
                  <c:v>0.25754754000336344</c:v>
                </c:pt>
                <c:pt idx="1">
                  <c:v>0.34887778413286691</c:v>
                </c:pt>
                <c:pt idx="2">
                  <c:v>0.35498085766522613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68-1C49-9AC6-4FE5593CC344}"/>
            </c:ext>
          </c:extLst>
        </c:ser>
        <c:ser>
          <c:idx val="2"/>
          <c:order val="2"/>
          <c:tx>
            <c:strRef>
              <c:f>'Revenue Analysis'!$D$71</c:f>
              <c:strCache>
                <c:ptCount val="1"/>
                <c:pt idx="0">
                  <c:v>003 Residential Sales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Analysis'!$A$72:$A$74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'Revenue Analysis'!$D$72:$D$74</c:f>
              <c:numCache>
                <c:formatCode>0.0%</c:formatCode>
                <c:ptCount val="3"/>
                <c:pt idx="0">
                  <c:v>0.21924770630773166</c:v>
                </c:pt>
                <c:pt idx="1">
                  <c:v>0.24347879633582434</c:v>
                </c:pt>
                <c:pt idx="2">
                  <c:v>0.23038915348140254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68-1C49-9AC6-4FE5593CC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1465557408"/>
        <c:axId val="1631266768"/>
      </c:barChart>
      <c:catAx>
        <c:axId val="1465557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266768"/>
        <c:crosses val="autoZero"/>
        <c:auto val="1"/>
        <c:lblAlgn val="ctr"/>
        <c:lblOffset val="100"/>
        <c:noMultiLvlLbl val="0"/>
      </c:catAx>
      <c:valAx>
        <c:axId val="163126676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5557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Kootha Revenues (July 13th to June 14th)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'Revenue Analysis'!$C$34</c:f>
              <c:strCache>
                <c:ptCount val="1"/>
                <c:pt idx="0">
                  <c:v>001 Private Water Hedge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Analysis'!$E$34:$P$34</c:f>
              <c:numCache>
                <c:formatCode>"$"#,##0.00;[Red]\-"$"#,##0.00</c:formatCode>
                <c:ptCount val="12"/>
                <c:pt idx="0">
                  <c:v>3094536.9986999994</c:v>
                </c:pt>
                <c:pt idx="1">
                  <c:v>2980521.8105250001</c:v>
                </c:pt>
                <c:pt idx="2">
                  <c:v>2752413.7409999999</c:v>
                </c:pt>
                <c:pt idx="3">
                  <c:v>2732151.9371999996</c:v>
                </c:pt>
                <c:pt idx="4">
                  <c:v>2885028.0122999996</c:v>
                </c:pt>
                <c:pt idx="5">
                  <c:v>2815308.3782250006</c:v>
                </c:pt>
                <c:pt idx="6">
                  <c:v>4092821.3597249994</c:v>
                </c:pt>
                <c:pt idx="7">
                  <c:v>3622839.5636999998</c:v>
                </c:pt>
                <c:pt idx="8">
                  <c:v>3818238.1009499999</c:v>
                </c:pt>
                <c:pt idx="9">
                  <c:v>2789853.534825</c:v>
                </c:pt>
                <c:pt idx="10">
                  <c:v>2822646.2911499999</c:v>
                </c:pt>
                <c:pt idx="11">
                  <c:v>2712379.18035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C8-1446-A042-0E4C0DB75BC9}"/>
            </c:ext>
          </c:extLst>
        </c:ser>
        <c:ser>
          <c:idx val="1"/>
          <c:order val="1"/>
          <c:tx>
            <c:strRef>
              <c:f>'Revenue Analysis'!$C$35</c:f>
              <c:strCache>
                <c:ptCount val="1"/>
                <c:pt idx="0">
                  <c:v>002 Public Sales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Analysis'!$E$35:$P$35</c:f>
              <c:numCache>
                <c:formatCode>"$"#,##0.00;[Red]\-"$"#,##0.00</c:formatCode>
                <c:ptCount val="12"/>
                <c:pt idx="0">
                  <c:v>1523285.8376100748</c:v>
                </c:pt>
                <c:pt idx="1">
                  <c:v>1467161.8612309312</c:v>
                </c:pt>
                <c:pt idx="2">
                  <c:v>1354875.66400725</c:v>
                </c:pt>
                <c:pt idx="3">
                  <c:v>1344901.7910867</c:v>
                </c:pt>
                <c:pt idx="4">
                  <c:v>1420155.039054675</c:v>
                </c:pt>
                <c:pt idx="5">
                  <c:v>1385835.5491812564</c:v>
                </c:pt>
                <c:pt idx="6">
                  <c:v>2014691.3143246307</c:v>
                </c:pt>
                <c:pt idx="7">
                  <c:v>1783342.7752313251</c:v>
                </c:pt>
                <c:pt idx="8">
                  <c:v>1879527.7051926372</c:v>
                </c:pt>
                <c:pt idx="9">
                  <c:v>1373305.4025176065</c:v>
                </c:pt>
                <c:pt idx="10">
                  <c:v>1389447.6368185873</c:v>
                </c:pt>
                <c:pt idx="11">
                  <c:v>1335168.6515272874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C8-1446-A042-0E4C0DB75BC9}"/>
            </c:ext>
          </c:extLst>
        </c:ser>
        <c:ser>
          <c:idx val="2"/>
          <c:order val="2"/>
          <c:tx>
            <c:strRef>
              <c:f>'Revenue Analysis'!$C$36</c:f>
              <c:strCache>
                <c:ptCount val="1"/>
                <c:pt idx="0">
                  <c:v>003 Residential Sales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Analysis'!$E$36:$P$36</c:f>
              <c:numCache>
                <c:formatCode>"$"#,##0.00;[Red]\-"$"#,##0.00</c:formatCode>
                <c:ptCount val="12"/>
                <c:pt idx="0">
                  <c:v>1296758.36136</c:v>
                </c:pt>
                <c:pt idx="1">
                  <c:v>1248980.56822</c:v>
                </c:pt>
                <c:pt idx="2">
                  <c:v>1153392.4247999999</c:v>
                </c:pt>
                <c:pt idx="3">
                  <c:v>1144901.76416</c:v>
                </c:pt>
                <c:pt idx="4">
                  <c:v>1208964.11944</c:v>
                </c:pt>
                <c:pt idx="5">
                  <c:v>1179748.2727800002</c:v>
                </c:pt>
                <c:pt idx="6">
                  <c:v>1715087.0459799999</c:v>
                </c:pt>
                <c:pt idx="7">
                  <c:v>1518142.2933600002</c:v>
                </c:pt>
                <c:pt idx="8">
                  <c:v>1600023.58516</c:v>
                </c:pt>
                <c:pt idx="9">
                  <c:v>1169081.4812600003</c:v>
                </c:pt>
                <c:pt idx="10">
                  <c:v>1182823.2077200001</c:v>
                </c:pt>
                <c:pt idx="11">
                  <c:v>1136616.0374800002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C8-1446-A042-0E4C0DB75B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1734863"/>
        <c:axId val="1121767823"/>
      </c:lineChart>
      <c:dateAx>
        <c:axId val="112173486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67823"/>
        <c:crosses val="autoZero"/>
        <c:auto val="1"/>
        <c:lblOffset val="100"/>
        <c:baseTimeUnit val="months"/>
      </c:dateAx>
      <c:valAx>
        <c:axId val="112176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34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Surjek Revenues (July 13th to June 14th)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'Revenue Analysis'!$C$37</c:f>
              <c:strCache>
                <c:ptCount val="1"/>
                <c:pt idx="0">
                  <c:v>001 Private Water Hedge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Analysis'!$E$37:$P$37</c:f>
              <c:numCache>
                <c:formatCode>"$"#,##0.00;[Red]\-"$"#,##0.00</c:formatCode>
                <c:ptCount val="12"/>
                <c:pt idx="0">
                  <c:v>7220021.2387499996</c:v>
                </c:pt>
                <c:pt idx="1">
                  <c:v>6085131.0149999997</c:v>
                </c:pt>
                <c:pt idx="2">
                  <c:v>6723291.7162500005</c:v>
                </c:pt>
                <c:pt idx="3">
                  <c:v>6313180.5299999993</c:v>
                </c:pt>
                <c:pt idx="4">
                  <c:v>5763708.6674999995</c:v>
                </c:pt>
                <c:pt idx="5">
                  <c:v>6484566.5099999998</c:v>
                </c:pt>
                <c:pt idx="6">
                  <c:v>9314190.6750000007</c:v>
                </c:pt>
                <c:pt idx="7">
                  <c:v>6750396.1374999993</c:v>
                </c:pt>
                <c:pt idx="8">
                  <c:v>8185283.6587499995</c:v>
                </c:pt>
                <c:pt idx="9">
                  <c:v>6778514.602500001</c:v>
                </c:pt>
                <c:pt idx="10">
                  <c:v>6094707.7050000001</c:v>
                </c:pt>
                <c:pt idx="11">
                  <c:v>6735069.6974999998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9F-1244-A8DB-912258B7ED74}"/>
            </c:ext>
          </c:extLst>
        </c:ser>
        <c:ser>
          <c:idx val="1"/>
          <c:order val="1"/>
          <c:tx>
            <c:strRef>
              <c:f>'Revenue Analysis'!$C$38</c:f>
              <c:strCache>
                <c:ptCount val="1"/>
                <c:pt idx="0">
                  <c:v>002 Public Sales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Analysis'!$E$38:$P$38</c:f>
              <c:numCache>
                <c:formatCode>"$"#,##0.00;[Red]\-"$"#,##0.00</c:formatCode>
                <c:ptCount val="12"/>
                <c:pt idx="0">
                  <c:v>5968550.8906999994</c:v>
                </c:pt>
                <c:pt idx="1">
                  <c:v>5030374.9724000003</c:v>
                </c:pt>
                <c:pt idx="2">
                  <c:v>5557921.1521000005</c:v>
                </c:pt>
                <c:pt idx="3">
                  <c:v>5218895.9047999997</c:v>
                </c:pt>
                <c:pt idx="4">
                  <c:v>4764665.8318000007</c:v>
                </c:pt>
                <c:pt idx="5">
                  <c:v>5360574.9815999996</c:v>
                </c:pt>
                <c:pt idx="6">
                  <c:v>7699730.9580000006</c:v>
                </c:pt>
                <c:pt idx="7">
                  <c:v>6985660.807</c:v>
                </c:pt>
                <c:pt idx="8">
                  <c:v>6766501.1579</c:v>
                </c:pt>
                <c:pt idx="9">
                  <c:v>6603572.0713999998</c:v>
                </c:pt>
                <c:pt idx="10">
                  <c:v>5038291.7028000001</c:v>
                </c:pt>
                <c:pt idx="11">
                  <c:v>5567657.6166000003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9F-1244-A8DB-912258B7ED74}"/>
            </c:ext>
          </c:extLst>
        </c:ser>
        <c:ser>
          <c:idx val="2"/>
          <c:order val="2"/>
          <c:tx>
            <c:strRef>
              <c:f>'Revenue Analysis'!$C$39</c:f>
              <c:strCache>
                <c:ptCount val="1"/>
                <c:pt idx="0">
                  <c:v>003 Residential Sales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Analysis'!$E$39:$P$39</c:f>
              <c:numCache>
                <c:formatCode>"$"#,##0.00;[Red]\-"$"#,##0.00</c:formatCode>
                <c:ptCount val="12"/>
                <c:pt idx="0">
                  <c:v>4139478.8435499985</c:v>
                </c:pt>
                <c:pt idx="1">
                  <c:v>3488808.4485999988</c:v>
                </c:pt>
                <c:pt idx="2">
                  <c:v>3854687.2506499989</c:v>
                </c:pt>
                <c:pt idx="3">
                  <c:v>3619556.8371999986</c:v>
                </c:pt>
                <c:pt idx="4">
                  <c:v>3304526.302699999</c:v>
                </c:pt>
                <c:pt idx="5">
                  <c:v>3717818.1323999991</c:v>
                </c:pt>
                <c:pt idx="6">
                  <c:v>5340135.9869999988</c:v>
                </c:pt>
                <c:pt idx="7">
                  <c:v>4844893.7854999984</c:v>
                </c:pt>
                <c:pt idx="8">
                  <c:v>4692895.9643499991</c:v>
                </c:pt>
                <c:pt idx="9">
                  <c:v>4886348.3721000003</c:v>
                </c:pt>
                <c:pt idx="10">
                  <c:v>3494299.084199999</c:v>
                </c:pt>
                <c:pt idx="11">
                  <c:v>3861439.9598999987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69F-1244-A8DB-912258B7E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1734863"/>
        <c:axId val="1121767823"/>
      </c:lineChart>
      <c:dateAx>
        <c:axId val="112173486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67823"/>
        <c:crosses val="autoZero"/>
        <c:auto val="1"/>
        <c:lblOffset val="100"/>
        <c:baseTimeUnit val="months"/>
      </c:dateAx>
      <c:valAx>
        <c:axId val="112176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34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Jutik (July 13th to June 14th)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'Revenue Analysis'!$C$40</c:f>
              <c:strCache>
                <c:ptCount val="1"/>
                <c:pt idx="0">
                  <c:v>001 Private Water Hedge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Analysis'!$E$40:$P$40</c:f>
              <c:numCache>
                <c:formatCode>"$"#,##0.00;[Red]\-"$"#,##0.00</c:formatCode>
                <c:ptCount val="12"/>
                <c:pt idx="0">
                  <c:v>5298686.1637500003</c:v>
                </c:pt>
                <c:pt idx="1">
                  <c:v>5854268.2837499995</c:v>
                </c:pt>
                <c:pt idx="2">
                  <c:v>5098113.7162500005</c:v>
                </c:pt>
                <c:pt idx="3">
                  <c:v>4506567.6112500001</c:v>
                </c:pt>
                <c:pt idx="4">
                  <c:v>4950718.5187500007</c:v>
                </c:pt>
                <c:pt idx="5">
                  <c:v>4219638.2549999999</c:v>
                </c:pt>
                <c:pt idx="6">
                  <c:v>6454620.584999999</c:v>
                </c:pt>
                <c:pt idx="7">
                  <c:v>6573684.678749999</c:v>
                </c:pt>
                <c:pt idx="8">
                  <c:v>5896579.8487499999</c:v>
                </c:pt>
                <c:pt idx="9">
                  <c:v>6254734.0800000001</c:v>
                </c:pt>
                <c:pt idx="10">
                  <c:v>6161098.0612500003</c:v>
                </c:pt>
                <c:pt idx="11">
                  <c:v>6591800.7712500002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6B-5B48-85C3-636222622C3D}"/>
            </c:ext>
          </c:extLst>
        </c:ser>
        <c:ser>
          <c:idx val="1"/>
          <c:order val="1"/>
          <c:tx>
            <c:strRef>
              <c:f>'Revenue Analysis'!$C$41</c:f>
              <c:strCache>
                <c:ptCount val="1"/>
                <c:pt idx="0">
                  <c:v>002 Public Sales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Analysis'!$E$41:$P$41</c:f>
              <c:numCache>
                <c:formatCode>"$"#,##0.00;[Red]\-"$"#,##0.00</c:formatCode>
                <c:ptCount val="12"/>
                <c:pt idx="0">
                  <c:v>4380247.2286999999</c:v>
                </c:pt>
                <c:pt idx="1">
                  <c:v>3839528.4479</c:v>
                </c:pt>
                <c:pt idx="2">
                  <c:v>5214440.6721000001</c:v>
                </c:pt>
                <c:pt idx="3">
                  <c:v>4725429.2253</c:v>
                </c:pt>
                <c:pt idx="4">
                  <c:v>4092593.9755000006</c:v>
                </c:pt>
                <c:pt idx="5">
                  <c:v>4488234.2907999996</c:v>
                </c:pt>
                <c:pt idx="6">
                  <c:v>5335819.6836000001</c:v>
                </c:pt>
                <c:pt idx="7">
                  <c:v>5434246.0011</c:v>
                </c:pt>
                <c:pt idx="8">
                  <c:v>4874506.0082999999</c:v>
                </c:pt>
                <c:pt idx="9">
                  <c:v>5170580.1728000008</c:v>
                </c:pt>
                <c:pt idx="10">
                  <c:v>5093174.3973000003</c:v>
                </c:pt>
                <c:pt idx="11">
                  <c:v>5449221.9709000001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6B-5B48-85C3-636222622C3D}"/>
            </c:ext>
          </c:extLst>
        </c:ser>
        <c:ser>
          <c:idx val="2"/>
          <c:order val="2"/>
          <c:tx>
            <c:strRef>
              <c:f>'Revenue Analysis'!$C$42</c:f>
              <c:strCache>
                <c:ptCount val="1"/>
                <c:pt idx="0">
                  <c:v>003 Residential Sales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'Revenue Analysis'!$E$32:$P$32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'Revenue Analysis'!$E$42:$P$42</c:f>
              <c:numCache>
                <c:formatCode>"$"#,##0.00;[Red]\-"$"#,##0.00</c:formatCode>
                <c:ptCount val="12"/>
                <c:pt idx="0">
                  <c:v>3037913.400549999</c:v>
                </c:pt>
                <c:pt idx="1">
                  <c:v>3356447.1493499991</c:v>
                </c:pt>
                <c:pt idx="2">
                  <c:v>2922918.5306499992</c:v>
                </c:pt>
                <c:pt idx="3">
                  <c:v>2583765.4304499994</c:v>
                </c:pt>
                <c:pt idx="4">
                  <c:v>2838411.9507499994</c:v>
                </c:pt>
                <c:pt idx="5">
                  <c:v>2419259.2661999995</c:v>
                </c:pt>
                <c:pt idx="6">
                  <c:v>3700649.1353999986</c:v>
                </c:pt>
                <c:pt idx="7">
                  <c:v>3768912.5491499985</c:v>
                </c:pt>
                <c:pt idx="8">
                  <c:v>3380705.7799499989</c:v>
                </c:pt>
                <c:pt idx="9">
                  <c:v>3586047.5391999991</c:v>
                </c:pt>
                <c:pt idx="10">
                  <c:v>3032362.88845</c:v>
                </c:pt>
                <c:pt idx="11">
                  <c:v>3079299.10885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6B-5B48-85C3-636222622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1734863"/>
        <c:axId val="1121767823"/>
      </c:lineChart>
      <c:dateAx>
        <c:axId val="112173486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67823"/>
        <c:crosses val="autoZero"/>
        <c:auto val="1"/>
        <c:lblOffset val="100"/>
        <c:baseTimeUnit val="months"/>
      </c:dateAx>
      <c:valAx>
        <c:axId val="112176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34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Aggregated</a:t>
            </a:r>
            <a:r>
              <a:rPr lang="en-US" baseline="0"/>
              <a:t> Costs per Unit (Jul 13th-Jun 14th)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'Expenses Analysis'!$A$82</c:f>
              <c:strCache>
                <c:ptCount val="1"/>
                <c:pt idx="0">
                  <c:v>Kootha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'Expenses Analysis'!$F$81:$Q$81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'Expenses Analysis'!$F$82:$Q$82</c:f>
              <c:numCache>
                <c:formatCode>"$"#,##0.00;[Red]\-"$"#,##0.00</c:formatCode>
                <c:ptCount val="12"/>
                <c:pt idx="0">
                  <c:v>3458288.8701338647</c:v>
                </c:pt>
                <c:pt idx="1">
                  <c:v>4778353.3521016249</c:v>
                </c:pt>
                <c:pt idx="2">
                  <c:v>3741007.0627661142</c:v>
                </c:pt>
                <c:pt idx="3">
                  <c:v>3550828.7945508747</c:v>
                </c:pt>
                <c:pt idx="4">
                  <c:v>3646543.42684625</c:v>
                </c:pt>
                <c:pt idx="5">
                  <c:v>3507223.3581475001</c:v>
                </c:pt>
                <c:pt idx="6">
                  <c:v>5249820.3494999986</c:v>
                </c:pt>
                <c:pt idx="7">
                  <c:v>4419792.6823125007</c:v>
                </c:pt>
                <c:pt idx="8">
                  <c:v>4409725.4715</c:v>
                </c:pt>
                <c:pt idx="9">
                  <c:v>4419304.3184062503</c:v>
                </c:pt>
                <c:pt idx="10">
                  <c:v>4692799.18359375</c:v>
                </c:pt>
                <c:pt idx="11">
                  <c:v>5350137.2224687496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6E-4E4B-AFDB-45302CCE509B}"/>
            </c:ext>
          </c:extLst>
        </c:ser>
        <c:ser>
          <c:idx val="1"/>
          <c:order val="1"/>
          <c:tx>
            <c:strRef>
              <c:f>'Expenses Analysis'!$A$83</c:f>
              <c:strCache>
                <c:ptCount val="1"/>
                <c:pt idx="0">
                  <c:v>Surjek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'Expenses Analysis'!$F$81:$Q$81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'Expenses Analysis'!$F$83:$Q$83</c:f>
              <c:numCache>
                <c:formatCode>"$"#,##0.00;[Red]\-"$"#,##0.00</c:formatCode>
                <c:ptCount val="12"/>
                <c:pt idx="0">
                  <c:v>11339551.170386208</c:v>
                </c:pt>
                <c:pt idx="1">
                  <c:v>13660880.3343936</c:v>
                </c:pt>
                <c:pt idx="2">
                  <c:v>13806947.680280834</c:v>
                </c:pt>
                <c:pt idx="3">
                  <c:v>18511924.382331077</c:v>
                </c:pt>
                <c:pt idx="4">
                  <c:v>20025365.089240894</c:v>
                </c:pt>
                <c:pt idx="5">
                  <c:v>12958942.643539203</c:v>
                </c:pt>
                <c:pt idx="6">
                  <c:v>13987466.323076401</c:v>
                </c:pt>
                <c:pt idx="7">
                  <c:v>16468493.156715602</c:v>
                </c:pt>
                <c:pt idx="8">
                  <c:v>15013580.580213603</c:v>
                </c:pt>
                <c:pt idx="9">
                  <c:v>16135503.054039603</c:v>
                </c:pt>
                <c:pt idx="10">
                  <c:v>18921373.302216005</c:v>
                </c:pt>
                <c:pt idx="11">
                  <c:v>8489071.3235327993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6E-4E4B-AFDB-45302CCE509B}"/>
            </c:ext>
          </c:extLst>
        </c:ser>
        <c:ser>
          <c:idx val="2"/>
          <c:order val="2"/>
          <c:tx>
            <c:strRef>
              <c:f>'Expenses Analysis'!$A$84</c:f>
              <c:strCache>
                <c:ptCount val="1"/>
                <c:pt idx="0">
                  <c:v>Jutik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'Expenses Analysis'!$F$81:$Q$81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'Expenses Analysis'!$F$84:$Q$84</c:f>
              <c:numCache>
                <c:formatCode>"$"#,##0.00;[Red]\-"$"#,##0.00</c:formatCode>
                <c:ptCount val="12"/>
                <c:pt idx="0">
                  <c:v>8168998.5802924205</c:v>
                </c:pt>
                <c:pt idx="1">
                  <c:v>6508016.2729576789</c:v>
                </c:pt>
                <c:pt idx="2">
                  <c:v>8797296.0201469176</c:v>
                </c:pt>
                <c:pt idx="3">
                  <c:v>7399801.6649996387</c:v>
                </c:pt>
                <c:pt idx="4">
                  <c:v>6292597.87327509</c:v>
                </c:pt>
                <c:pt idx="5">
                  <c:v>5862551.4695474999</c:v>
                </c:pt>
                <c:pt idx="6">
                  <c:v>7198677.8148285002</c:v>
                </c:pt>
                <c:pt idx="7">
                  <c:v>7481708.9511677492</c:v>
                </c:pt>
                <c:pt idx="8">
                  <c:v>8690888.6165351253</c:v>
                </c:pt>
                <c:pt idx="9">
                  <c:v>6732277.631081</c:v>
                </c:pt>
                <c:pt idx="10">
                  <c:v>8110761.1219654996</c:v>
                </c:pt>
                <c:pt idx="11">
                  <c:v>9479913.2630085014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26E-4E4B-AFDB-45302CCE509B}"/>
            </c:ext>
          </c:extLst>
        </c:ser>
        <c:ser>
          <c:idx val="3"/>
          <c:order val="3"/>
          <c:tx>
            <c:strRef>
              <c:f>'Expenses Analysis'!$A$85</c:f>
              <c:strCache>
                <c:ptCount val="1"/>
                <c:pt idx="0">
                  <c:v>Overall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'Expenses Analysis'!$F$81:$Q$81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'Expenses Analysis'!$F$85:$Q$85</c:f>
              <c:numCache>
                <c:formatCode>"$"#,##0.00;[Red]\-"$"#,##0.00</c:formatCode>
                <c:ptCount val="12"/>
                <c:pt idx="0">
                  <c:v>22966838.620812491</c:v>
                </c:pt>
                <c:pt idx="1">
                  <c:v>24947249.959452905</c:v>
                </c:pt>
                <c:pt idx="2">
                  <c:v>26345250.763193864</c:v>
                </c:pt>
                <c:pt idx="3">
                  <c:v>29462554.841881588</c:v>
                </c:pt>
                <c:pt idx="4">
                  <c:v>29964506.389362235</c:v>
                </c:pt>
                <c:pt idx="5">
                  <c:v>22328717.471234202</c:v>
                </c:pt>
                <c:pt idx="6">
                  <c:v>26435964.487404898</c:v>
                </c:pt>
                <c:pt idx="7">
                  <c:v>28369994.790195853</c:v>
                </c:pt>
                <c:pt idx="8">
                  <c:v>28114194.668248728</c:v>
                </c:pt>
                <c:pt idx="9">
                  <c:v>27287085.003526852</c:v>
                </c:pt>
                <c:pt idx="10">
                  <c:v>31724933.607775256</c:v>
                </c:pt>
                <c:pt idx="11">
                  <c:v>23319121.809010051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26E-4E4B-AFDB-45302CCE5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0385872"/>
        <c:axId val="770387584"/>
      </c:lineChart>
      <c:dateAx>
        <c:axId val="77038587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0387584"/>
        <c:crosses val="autoZero"/>
        <c:auto val="1"/>
        <c:lblOffset val="100"/>
        <c:baseTimeUnit val="months"/>
      </c:dateAx>
      <c:valAx>
        <c:axId val="77038758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0385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Aggregated Costs per Accounting</a:t>
            </a:r>
            <a:r>
              <a:rPr lang="en-US" baseline="0"/>
              <a:t> Code Centre Element (July 13th-June 14th)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$78.413</a:t>
                    </a:r>
                    <a:r>
                      <a:rPr lang="en-US" baseline="0"/>
                      <a:t> 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E92-DA44-B526-90821174B62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$38.717</a:t>
                    </a:r>
                    <a:r>
                      <a:rPr lang="en-US" baseline="0"/>
                      <a:t> 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E92-DA44-B526-90821174B62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$36.414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E92-DA44-B526-90821174B62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$31.752</a:t>
                    </a:r>
                    <a:r>
                      <a:rPr lang="en-US" baseline="0"/>
                      <a:t> 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E92-DA44-B526-90821174B62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$16.735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E92-DA44-B526-90821174B62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$21.090</a:t>
                    </a:r>
                    <a:r>
                      <a:rPr lang="en-US" baseline="0"/>
                      <a:t> 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E92-DA44-B526-90821174B62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$10.813</a:t>
                    </a:r>
                    <a:r>
                      <a:rPr lang="en-US" baseline="0"/>
                      <a:t> 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E92-DA44-B526-90821174B62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$87.328</a:t>
                    </a:r>
                    <a:r>
                      <a:rPr lang="en-US" baseline="0"/>
                      <a:t> 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E92-DA44-B526-90821174B626}"/>
                </c:ext>
              </c:extLst>
            </c:dLbl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'Expenses Analysis'!$D$48:$D$55</c:f>
              <c:strCache>
                <c:ptCount val="8"/>
                <c:pt idx="0">
                  <c:v>Chem-Exp (001)</c:v>
                </c:pt>
                <c:pt idx="1">
                  <c:v>Utility-Exp (002) - Heating</c:v>
                </c:pt>
                <c:pt idx="2">
                  <c:v>Utility-Exp (002) - Electricity</c:v>
                </c:pt>
                <c:pt idx="3">
                  <c:v>Plant Maintenance (001)</c:v>
                </c:pt>
                <c:pt idx="4">
                  <c:v>Plant Outages (002)</c:v>
                </c:pt>
                <c:pt idx="5">
                  <c:v>Plant Op. Costs (003)</c:v>
                </c:pt>
                <c:pt idx="6">
                  <c:v>Plant Admin Costs (004)</c:v>
                </c:pt>
                <c:pt idx="7">
                  <c:v>Labour-Costs (001)</c:v>
                </c:pt>
              </c:strCache>
            </c:strRef>
          </c:cat>
          <c:val>
            <c:numRef>
              <c:f>'Expenses Analysis'!$R$48:$R$55</c:f>
              <c:numCache>
                <c:formatCode>"$"#,##0.00;[Red]\-"$"#,##0.00</c:formatCode>
                <c:ptCount val="8"/>
                <c:pt idx="0">
                  <c:v>78413350.257664919</c:v>
                </c:pt>
                <c:pt idx="1">
                  <c:v>38717591.397570275</c:v>
                </c:pt>
                <c:pt idx="2">
                  <c:v>36414827.690372624</c:v>
                </c:pt>
                <c:pt idx="3">
                  <c:v>31752797.278513506</c:v>
                </c:pt>
                <c:pt idx="4">
                  <c:v>16735122.996921198</c:v>
                </c:pt>
                <c:pt idx="5">
                  <c:v>21090666.556378298</c:v>
                </c:pt>
                <c:pt idx="6">
                  <c:v>10813424.6638656</c:v>
                </c:pt>
                <c:pt idx="7">
                  <c:v>87328631.570812494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E92-DA44-B526-90821174B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5819152"/>
        <c:axId val="1465820864"/>
      </c:barChart>
      <c:catAx>
        <c:axId val="146581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5820864"/>
        <c:crosses val="autoZero"/>
        <c:auto val="1"/>
        <c:lblAlgn val="ctr"/>
        <c:lblOffset val="100"/>
        <c:noMultiLvlLbl val="0"/>
      </c:catAx>
      <c:valAx>
        <c:axId val="146582086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581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Kootha Expenses (July 13th-Jun 14th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B050"/>
            </a:solidFill>
            <a:ln>
              <a:solidFill>
                <a:srgbClr val="FFC000"/>
              </a:solidFill>
            </a:ln>
            <a:effectLst>
              <a:innerShdw blurRad="114300">
                <a:prstClr val="black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'Expenses Analysis'!$D$15:$D$22</c:f>
              <c:strCache>
                <c:ptCount val="8"/>
                <c:pt idx="0">
                  <c:v>Chem-Exp (001)</c:v>
                </c:pt>
                <c:pt idx="1">
                  <c:v>Utility-Exp (002) - Heating</c:v>
                </c:pt>
                <c:pt idx="2">
                  <c:v>Utility-Exp (002) - Electricity</c:v>
                </c:pt>
                <c:pt idx="3">
                  <c:v>Plant Maintenance (001)</c:v>
                </c:pt>
                <c:pt idx="4">
                  <c:v>Plant Outages (002)</c:v>
                </c:pt>
                <c:pt idx="5">
                  <c:v>Plant Op. Costs (003)</c:v>
                </c:pt>
                <c:pt idx="6">
                  <c:v>Plant Admin Costs (004)</c:v>
                </c:pt>
                <c:pt idx="7">
                  <c:v>Labour-Costs (001)</c:v>
                </c:pt>
              </c:strCache>
            </c:strRef>
          </c:cat>
          <c:val>
            <c:numRef>
              <c:f>'Expenses Analysis'!$R$15:$R$22</c:f>
              <c:numCache>
                <c:formatCode>"$"#,##0.00;[Red]\-"$"#,##0.00</c:formatCode>
                <c:ptCount val="8"/>
                <c:pt idx="0">
                  <c:v>10125517.983652497</c:v>
                </c:pt>
                <c:pt idx="1">
                  <c:v>4720521.2044999981</c:v>
                </c:pt>
                <c:pt idx="2">
                  <c:v>7080781.8067499967</c:v>
                </c:pt>
                <c:pt idx="3">
                  <c:v>4863981.2092249971</c:v>
                </c:pt>
                <c:pt idx="4">
                  <c:v>3054127.7360249986</c:v>
                </c:pt>
                <c:pt idx="5">
                  <c:v>3450033.1832874976</c:v>
                </c:pt>
                <c:pt idx="6">
                  <c:v>2375432.6835749988</c:v>
                </c:pt>
                <c:pt idx="7">
                  <c:v>15553428.285312492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D-CD4B-A2AE-460CDC5C1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769698624"/>
        <c:axId val="769911328"/>
      </c:barChart>
      <c:catAx>
        <c:axId val="76969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911328"/>
        <c:crosses val="autoZero"/>
        <c:auto val="1"/>
        <c:lblAlgn val="ctr"/>
        <c:lblOffset val="100"/>
        <c:noMultiLvlLbl val="0"/>
      </c:catAx>
      <c:valAx>
        <c:axId val="76991132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698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Surjek Expenses (July 13th-Jun 14th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B050"/>
            </a:solidFill>
            <a:ln>
              <a:solidFill>
                <a:srgbClr val="FFC000"/>
              </a:solidFill>
            </a:ln>
            <a:effectLst>
              <a:innerShdw blurRad="114300">
                <a:prstClr val="black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'Expenses Analysis'!$D$25:$D$32</c:f>
              <c:strCache>
                <c:ptCount val="8"/>
                <c:pt idx="0">
                  <c:v>Chem-Exp (001)</c:v>
                </c:pt>
                <c:pt idx="1">
                  <c:v>Utility-Exp (002) - Heating</c:v>
                </c:pt>
                <c:pt idx="2">
                  <c:v>Utility-Exp (002) - Electricity</c:v>
                </c:pt>
                <c:pt idx="3">
                  <c:v>Plant Maintenance (001)</c:v>
                </c:pt>
                <c:pt idx="4">
                  <c:v>Plant Outages (002)</c:v>
                </c:pt>
                <c:pt idx="5">
                  <c:v>Plant Op. Costs (003)</c:v>
                </c:pt>
                <c:pt idx="6">
                  <c:v>Plant Admin Costs (004)</c:v>
                </c:pt>
                <c:pt idx="7">
                  <c:v>Labour-Costs (001)</c:v>
                </c:pt>
              </c:strCache>
            </c:strRef>
          </c:cat>
          <c:val>
            <c:numRef>
              <c:f>'Expenses Analysis'!$R$25:$R$32</c:f>
              <c:numCache>
                <c:formatCode>"$"#,##0.00;[Red]\-"$"#,##0.00</c:formatCode>
                <c:ptCount val="8"/>
                <c:pt idx="0">
                  <c:v>46326012.775156811</c:v>
                </c:pt>
                <c:pt idx="1">
                  <c:v>23163006.387578405</c:v>
                </c:pt>
                <c:pt idx="2">
                  <c:v>19302505.322982002</c:v>
                </c:pt>
                <c:pt idx="3">
                  <c:v>18221565.024895009</c:v>
                </c:pt>
                <c:pt idx="4">
                  <c:v>11461092.4195712</c:v>
                </c:pt>
                <c:pt idx="5">
                  <c:v>12135274.3266048</c:v>
                </c:pt>
                <c:pt idx="6">
                  <c:v>6573273.5935776001</c:v>
                </c:pt>
                <c:pt idx="7">
                  <c:v>42136369.189600006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D1-7744-8501-616C160734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769698624"/>
        <c:axId val="769911328"/>
      </c:barChart>
      <c:catAx>
        <c:axId val="76969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911328"/>
        <c:crosses val="autoZero"/>
        <c:auto val="1"/>
        <c:lblAlgn val="ctr"/>
        <c:lblOffset val="100"/>
        <c:noMultiLvlLbl val="0"/>
      </c:catAx>
      <c:valAx>
        <c:axId val="76991132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698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Jutik Expenses (July 13th-Jun 14th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B050"/>
            </a:solidFill>
            <a:ln>
              <a:solidFill>
                <a:srgbClr val="FFC000"/>
              </a:solidFill>
            </a:ln>
            <a:effectLst>
              <a:innerShdw blurRad="114300">
                <a:prstClr val="black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'Expenses Analysis'!$D$35:$D$42</c:f>
              <c:strCache>
                <c:ptCount val="8"/>
                <c:pt idx="0">
                  <c:v>Chem-Exp (001)</c:v>
                </c:pt>
                <c:pt idx="1">
                  <c:v>Utility-Exp (002) - Heating</c:v>
                </c:pt>
                <c:pt idx="2">
                  <c:v>Utility-Exp (002) - Electricity</c:v>
                </c:pt>
                <c:pt idx="3">
                  <c:v>Plant Maintenance (001)</c:v>
                </c:pt>
                <c:pt idx="4">
                  <c:v>Plant Outages (002)</c:v>
                </c:pt>
                <c:pt idx="5">
                  <c:v>Plant Op. Costs (003)</c:v>
                </c:pt>
                <c:pt idx="6">
                  <c:v>Plant Admin Costs (004)</c:v>
                </c:pt>
                <c:pt idx="7">
                  <c:v>Labour-Costs (001)</c:v>
                </c:pt>
              </c:strCache>
            </c:strRef>
          </c:cat>
          <c:val>
            <c:numRef>
              <c:f>'Expenses Analysis'!$R$35:$R$42</c:f>
              <c:numCache>
                <c:formatCode>"$"#,##0.00;[Red]\-"$"#,##0.00</c:formatCode>
                <c:ptCount val="8"/>
                <c:pt idx="0">
                  <c:v>21961819.498855624</c:v>
                </c:pt>
                <c:pt idx="1">
                  <c:v>10834063.805491872</c:v>
                </c:pt>
                <c:pt idx="2">
                  <c:v>10031540.560640626</c:v>
                </c:pt>
                <c:pt idx="3">
                  <c:v>8667251.0443934985</c:v>
                </c:pt>
                <c:pt idx="4">
                  <c:v>2219902.8413250004</c:v>
                </c:pt>
                <c:pt idx="5">
                  <c:v>5505359.0464859996</c:v>
                </c:pt>
                <c:pt idx="6">
                  <c:v>1864718.386713</c:v>
                </c:pt>
                <c:pt idx="7">
                  <c:v>29638834.095899999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DE-DF49-A50C-F69E38E8FF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769698624"/>
        <c:axId val="769911328"/>
      </c:barChart>
      <c:catAx>
        <c:axId val="76969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911328"/>
        <c:crosses val="autoZero"/>
        <c:auto val="1"/>
        <c:lblAlgn val="ctr"/>
        <c:lblOffset val="100"/>
        <c:noMultiLvlLbl val="0"/>
      </c:catAx>
      <c:valAx>
        <c:axId val="76991132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698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Kootha Chemical Exp vs Water Production Actuals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'Expenses Analysis'!$F$132:$Q$132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'Expenses Analysis'!$F$134:$Q$134</c:f>
              <c:numCache>
                <c:formatCode>"$"#,##0.00;[Red]\-"$"#,##0.00</c:formatCode>
                <c:ptCount val="12"/>
                <c:pt idx="0">
                  <c:v>593751.84077137313</c:v>
                </c:pt>
                <c:pt idx="1">
                  <c:v>820393.03401412489</c:v>
                </c:pt>
                <c:pt idx="2">
                  <c:v>642291.58212862327</c:v>
                </c:pt>
                <c:pt idx="3">
                  <c:v>609639.97288837493</c:v>
                </c:pt>
                <c:pt idx="4">
                  <c:v>626073.16897124995</c:v>
                </c:pt>
                <c:pt idx="5">
                  <c:v>602153.37789750006</c:v>
                </c:pt>
                <c:pt idx="6">
                  <c:v>1146143.9846999997</c:v>
                </c:pt>
                <c:pt idx="7">
                  <c:v>964931.83751249989</c:v>
                </c:pt>
                <c:pt idx="8">
                  <c:v>962733.95790000004</c:v>
                </c:pt>
                <c:pt idx="9">
                  <c:v>964825.21760624985</c:v>
                </c:pt>
                <c:pt idx="10">
                  <c:v>1024534.78359375</c:v>
                </c:pt>
                <c:pt idx="11">
                  <c:v>1168045.22566875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2-A44E-B580-23498A20B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00123487"/>
        <c:axId val="2100121311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'Expenses Analysis'!$F$132:$Q$132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'Expenses Analysis'!$F$135:$Q$135</c:f>
              <c:numCache>
                <c:formatCode>0.00</c:formatCode>
                <c:ptCount val="12"/>
                <c:pt idx="0">
                  <c:v>181.933291</c:v>
                </c:pt>
                <c:pt idx="1">
                  <c:v>187.44394299999999</c:v>
                </c:pt>
                <c:pt idx="2">
                  <c:v>184.77365699999999</c:v>
                </c:pt>
                <c:pt idx="3">
                  <c:v>191.54109299999999</c:v>
                </c:pt>
                <c:pt idx="4">
                  <c:v>98.096062000000003</c:v>
                </c:pt>
                <c:pt idx="5">
                  <c:v>185.30685299999999</c:v>
                </c:pt>
                <c:pt idx="6">
                  <c:v>186.90143900000001</c:v>
                </c:pt>
                <c:pt idx="7">
                  <c:v>158.58676500000001</c:v>
                </c:pt>
                <c:pt idx="8">
                  <c:v>191.40367599999999</c:v>
                </c:pt>
                <c:pt idx="9">
                  <c:v>171.057864</c:v>
                </c:pt>
                <c:pt idx="10">
                  <c:v>169.28699900000001</c:v>
                </c:pt>
                <c:pt idx="11">
                  <c:v>142.50871699999999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82-A44E-B580-23498A20B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7407919"/>
        <c:axId val="2007275135"/>
      </c:lineChart>
      <c:dateAx>
        <c:axId val="210012348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0121311"/>
        <c:crosses val="autoZero"/>
        <c:auto val="1"/>
        <c:lblOffset val="100"/>
        <c:baseTimeUnit val="months"/>
      </c:dateAx>
      <c:valAx>
        <c:axId val="2100121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0123487"/>
        <c:crosses val="autoZero"/>
        <c:crossBetween val="between"/>
      </c:valAx>
      <c:valAx>
        <c:axId val="2007275135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407919"/>
        <c:crosses val="max"/>
        <c:crossBetween val="between"/>
      </c:valAx>
      <c:dateAx>
        <c:axId val="200740791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2007275135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Surjek Chemical Exp vs Water Production Actuals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'Expenses Analysis'!$F$136:$Q$136</c:f>
              <c:numCache>
                <c:formatCode>"$"#,##0.00;[Red]\-"$"#,##0.00</c:formatCode>
                <c:ptCount val="12"/>
                <c:pt idx="0">
                  <c:v>2533034.5131168002</c:v>
                </c:pt>
                <c:pt idx="1">
                  <c:v>3051574.1625600001</c:v>
                </c:pt>
                <c:pt idx="2">
                  <c:v>3084202.7580672004</c:v>
                </c:pt>
                <c:pt idx="3">
                  <c:v>4135202.765971201</c:v>
                </c:pt>
                <c:pt idx="4">
                  <c:v>4473275.8948415993</c:v>
                </c:pt>
                <c:pt idx="5">
                  <c:v>3464957.9260800011</c:v>
                </c:pt>
                <c:pt idx="6">
                  <c:v>4049642.8266000003</c:v>
                </c:pt>
                <c:pt idx="7">
                  <c:v>4767948.2214000002</c:v>
                </c:pt>
                <c:pt idx="8">
                  <c:v>4346722.8083999995</c:v>
                </c:pt>
                <c:pt idx="9">
                  <c:v>4671541.1274000006</c:v>
                </c:pt>
                <c:pt idx="10">
                  <c:v>5478104.6040000012</c:v>
                </c:pt>
                <c:pt idx="11">
                  <c:v>2269805.1667200001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D6-BD4F-8FE4-56DC349293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00123487"/>
        <c:axId val="2100121311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'Expenses Analysis'!$F$137:$Q$137</c:f>
              <c:numCache>
                <c:formatCode>0.00</c:formatCode>
                <c:ptCount val="12"/>
                <c:pt idx="0">
                  <c:v>214.968999</c:v>
                </c:pt>
                <c:pt idx="1">
                  <c:v>228.199051</c:v>
                </c:pt>
                <c:pt idx="2">
                  <c:v>216.53646700000002</c:v>
                </c:pt>
                <c:pt idx="3">
                  <c:v>236.760276</c:v>
                </c:pt>
                <c:pt idx="4">
                  <c:v>232.052864</c:v>
                </c:pt>
                <c:pt idx="5">
                  <c:v>240.21016</c:v>
                </c:pt>
                <c:pt idx="6">
                  <c:v>288.160549</c:v>
                </c:pt>
                <c:pt idx="7">
                  <c:v>306.884524</c:v>
                </c:pt>
                <c:pt idx="8">
                  <c:v>367.65100600000005</c:v>
                </c:pt>
                <c:pt idx="9">
                  <c:v>351.99016599999999</c:v>
                </c:pt>
                <c:pt idx="10">
                  <c:v>362.822</c:v>
                </c:pt>
                <c:pt idx="11">
                  <c:v>260.31229999999999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D6-BD4F-8FE4-56DC349293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7407919"/>
        <c:axId val="2007275135"/>
      </c:lineChart>
      <c:catAx>
        <c:axId val="210012348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0121311"/>
        <c:crosses val="autoZero"/>
        <c:auto val="1"/>
        <c:lblAlgn val="ctr"/>
        <c:lblOffset val="100"/>
        <c:noMultiLvlLbl val="0"/>
      </c:catAx>
      <c:valAx>
        <c:axId val="2100121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0123487"/>
        <c:crosses val="autoZero"/>
        <c:crossBetween val="between"/>
      </c:valAx>
      <c:valAx>
        <c:axId val="2007275135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407919"/>
        <c:crosses val="max"/>
        <c:crossBetween val="between"/>
      </c:valAx>
      <c:catAx>
        <c:axId val="200740791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200727513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Jutik Chemical Exp vs Water Production Actuals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'Expenses Analysis'!$F$138:$Q$138</c:f>
              <c:numCache>
                <c:formatCode>"$"#,##0.00;[Red]\-"$"#,##0.00</c:formatCode>
                <c:ptCount val="12"/>
                <c:pt idx="0">
                  <c:v>1625596.3356633</c:v>
                </c:pt>
                <c:pt idx="1">
                  <c:v>1295067.8472731998</c:v>
                </c:pt>
                <c:pt idx="2">
                  <c:v>1750624.8818057997</c:v>
                </c:pt>
                <c:pt idx="3">
                  <c:v>1472529.3869285996</c:v>
                </c:pt>
                <c:pt idx="4">
                  <c:v>1252200.4923928501</c:v>
                </c:pt>
                <c:pt idx="5">
                  <c:v>1406782.6738875001</c:v>
                </c:pt>
                <c:pt idx="6">
                  <c:v>1877449.5046125001</c:v>
                </c:pt>
                <c:pt idx="7">
                  <c:v>1912219.1750437501</c:v>
                </c:pt>
                <c:pt idx="8">
                  <c:v>2266625.1980531253</c:v>
                </c:pt>
                <c:pt idx="9">
                  <c:v>2234200.5744250002</c:v>
                </c:pt>
                <c:pt idx="10">
                  <c:v>2593715.6428375002</c:v>
                </c:pt>
                <c:pt idx="11">
                  <c:v>2274807.7859325004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2E-FB4D-A694-D5A046C472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00123487"/>
        <c:axId val="2100121311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'Expenses Analysis'!$F$139:$Q$139</c:f>
              <c:numCache>
                <c:formatCode>0.00</c:formatCode>
                <c:ptCount val="12"/>
                <c:pt idx="0">
                  <c:v>250.24199099999998</c:v>
                </c:pt>
                <c:pt idx="1">
                  <c:v>206.740703</c:v>
                </c:pt>
                <c:pt idx="2">
                  <c:v>201.23546099999996</c:v>
                </c:pt>
                <c:pt idx="3">
                  <c:v>174.36956599999999</c:v>
                </c:pt>
                <c:pt idx="4">
                  <c:v>204.09105</c:v>
                </c:pt>
                <c:pt idx="5">
                  <c:v>146.35666599999999</c:v>
                </c:pt>
                <c:pt idx="6">
                  <c:v>204.20249700000002</c:v>
                </c:pt>
                <c:pt idx="7">
                  <c:v>217.43019900000002</c:v>
                </c:pt>
                <c:pt idx="8">
                  <c:v>230.98220000000001</c:v>
                </c:pt>
                <c:pt idx="9">
                  <c:v>236.441136</c:v>
                </c:pt>
                <c:pt idx="10">
                  <c:v>241.40736899999999</c:v>
                </c:pt>
                <c:pt idx="11">
                  <c:v>220.380334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2E-FB4D-A694-D5A046C472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7407919"/>
        <c:axId val="2007275135"/>
      </c:lineChart>
      <c:catAx>
        <c:axId val="210012348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0121311"/>
        <c:crosses val="autoZero"/>
        <c:auto val="1"/>
        <c:lblAlgn val="ctr"/>
        <c:lblOffset val="100"/>
        <c:noMultiLvlLbl val="0"/>
      </c:catAx>
      <c:valAx>
        <c:axId val="2100121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0123487"/>
        <c:crosses val="autoZero"/>
        <c:crossBetween val="between"/>
      </c:valAx>
      <c:valAx>
        <c:axId val="2007275135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407919"/>
        <c:crosses val="max"/>
        <c:crossBetween val="between"/>
      </c:valAx>
      <c:catAx>
        <c:axId val="200740791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200727513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EBIT</a:t>
            </a:r>
            <a:r>
              <a:rPr lang="en-US" baseline="0"/>
              <a:t> (Jul 13th-Jun 14th)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'Profitability EBIT Analysis'!$A$24:$A$26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'Profitability EBIT Analysis'!$Q$24:$Q$26</c:f>
              <c:numCache>
                <c:formatCode>"$"#,##0.00;[Red]\-"$"#,##0.00</c:formatCode>
                <c:ptCount val="3"/>
                <c:pt idx="0">
                  <c:v>19721133.205825485</c:v>
                </c:pt>
                <c:pt idx="1">
                  <c:v>22936250.12903415</c:v>
                </c:pt>
                <c:pt idx="2">
                  <c:v>72941736.097194374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F-AB44-ABD3-A7B83ACA7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8836495"/>
        <c:axId val="2108838207"/>
      </c:barChart>
      <c:catAx>
        <c:axId val="210883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8838207"/>
        <c:crosses val="autoZero"/>
        <c:auto val="1"/>
        <c:lblAlgn val="ctr"/>
        <c:lblOffset val="100"/>
        <c:noMultiLvlLbl val="0"/>
      </c:catAx>
      <c:valAx>
        <c:axId val="210883820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8836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Montly</a:t>
            </a:r>
            <a:r>
              <a:rPr lang="en-US" baseline="0"/>
              <a:t> EBIT Per Desalination Plant (Jul 13th - Jun 14th)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'Profitability EBIT Analysis'!$A$24</c:f>
              <c:strCache>
                <c:ptCount val="1"/>
                <c:pt idx="0">
                  <c:v>Kootha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'Profitability EBIT Analysis'!$E$14:$P$14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'Profitability EBIT Analysis'!$E$24:$P$24</c:f>
              <c:numCache>
                <c:formatCode>"$"#,##0.00;[Red]\-"$"#,##0.00</c:formatCode>
                <c:ptCount val="12"/>
                <c:pt idx="0">
                  <c:v>2456292.3275362095</c:v>
                </c:pt>
                <c:pt idx="1">
                  <c:v>918310.88787430618</c:v>
                </c:pt>
                <c:pt idx="2">
                  <c:v>1519674.7670411356</c:v>
                </c:pt>
                <c:pt idx="3">
                  <c:v>1671126.6978958244</c:v>
                </c:pt>
                <c:pt idx="4">
                  <c:v>1867603.7439484252</c:v>
                </c:pt>
                <c:pt idx="5">
                  <c:v>1873668.8420387572</c:v>
                </c:pt>
                <c:pt idx="6">
                  <c:v>2572779.3705296321</c:v>
                </c:pt>
                <c:pt idx="7">
                  <c:v>2504531.9499788238</c:v>
                </c:pt>
                <c:pt idx="8">
                  <c:v>2888063.9198026378</c:v>
                </c:pt>
                <c:pt idx="9">
                  <c:v>912936.10019635595</c:v>
                </c:pt>
                <c:pt idx="10">
                  <c:v>702117.95209483802</c:v>
                </c:pt>
                <c:pt idx="11">
                  <c:v>-165973.35311146174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4-B042-8365-7209E90A5735}"/>
            </c:ext>
          </c:extLst>
        </c:ser>
        <c:ser>
          <c:idx val="1"/>
          <c:order val="1"/>
          <c:tx>
            <c:strRef>
              <c:f>'Profitability EBIT Analysis'!$A$25</c:f>
              <c:strCache>
                <c:ptCount val="1"/>
                <c:pt idx="0">
                  <c:v>Surjek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'Profitability EBIT Analysis'!$E$14:$P$14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'Profitability EBIT Analysis'!$E$25:$P$25</c:f>
              <c:numCache>
                <c:formatCode>"$"#,##0.00;[Red]\-"$"#,##0.00</c:formatCode>
                <c:ptCount val="12"/>
                <c:pt idx="0">
                  <c:v>5988499.8026137892</c:v>
                </c:pt>
                <c:pt idx="1">
                  <c:v>943434.10160639696</c:v>
                </c:pt>
                <c:pt idx="2">
                  <c:v>2328952.4387191646</c:v>
                </c:pt>
                <c:pt idx="3">
                  <c:v>-3360291.110331079</c:v>
                </c:pt>
                <c:pt idx="4">
                  <c:v>-6192464.2872408964</c:v>
                </c:pt>
                <c:pt idx="5">
                  <c:v>2604016.9804607946</c:v>
                </c:pt>
                <c:pt idx="6">
                  <c:v>8366591.2969236001</c:v>
                </c:pt>
                <c:pt idx="7">
                  <c:v>2112457.573284395</c:v>
                </c:pt>
                <c:pt idx="8">
                  <c:v>4631100.2007863969</c:v>
                </c:pt>
                <c:pt idx="9">
                  <c:v>2132931.991960397</c:v>
                </c:pt>
                <c:pt idx="10">
                  <c:v>-4294074.8102160059</c:v>
                </c:pt>
                <c:pt idx="11">
                  <c:v>7675095.9504671991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54-B042-8365-7209E90A5735}"/>
            </c:ext>
          </c:extLst>
        </c:ser>
        <c:ser>
          <c:idx val="2"/>
          <c:order val="2"/>
          <c:tx>
            <c:strRef>
              <c:f>'Profitability EBIT Analysis'!$A$26</c:f>
              <c:strCache>
                <c:ptCount val="1"/>
                <c:pt idx="0">
                  <c:v>Jutik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'Profitability EBIT Analysis'!$E$14:$P$14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'Profitability EBIT Analysis'!$E$26:$P$26</c:f>
              <c:numCache>
                <c:formatCode>"$"#,##0.00;[Red]\-"$"#,##0.00</c:formatCode>
                <c:ptCount val="12"/>
                <c:pt idx="0">
                  <c:v>4547848.2127075791</c:v>
                </c:pt>
                <c:pt idx="1">
                  <c:v>6542227.6080423184</c:v>
                </c:pt>
                <c:pt idx="2">
                  <c:v>4438176.8988530822</c:v>
                </c:pt>
                <c:pt idx="3">
                  <c:v>4415960.6020003622</c:v>
                </c:pt>
                <c:pt idx="4">
                  <c:v>5589126.5717249103</c:v>
                </c:pt>
                <c:pt idx="5">
                  <c:v>5264580.3424524991</c:v>
                </c:pt>
                <c:pt idx="6">
                  <c:v>8292411.5891714972</c:v>
                </c:pt>
                <c:pt idx="7">
                  <c:v>8295134.2778322492</c:v>
                </c:pt>
                <c:pt idx="8">
                  <c:v>5460903.0204648729</c:v>
                </c:pt>
                <c:pt idx="9">
                  <c:v>8279084.1609189995</c:v>
                </c:pt>
                <c:pt idx="10">
                  <c:v>6175874.2250345014</c:v>
                </c:pt>
                <c:pt idx="11">
                  <c:v>5640408.5879914984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54-B042-8365-7209E90A5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09044623"/>
        <c:axId val="2109046335"/>
      </c:barChart>
      <c:dateAx>
        <c:axId val="210904462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9046335"/>
        <c:crosses val="autoZero"/>
        <c:auto val="1"/>
        <c:lblOffset val="100"/>
        <c:baseTimeUnit val="months"/>
      </c:dateAx>
      <c:valAx>
        <c:axId val="210904633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904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2C4C2-2D36-4DCE-92DC-7F8FD612207D}" type="datetimeFigureOut">
              <a:rPr lang="en-AU" smtClean="0"/>
              <a:t>18/10/2025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143000"/>
            <a:ext cx="4111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352E8-A3D8-466D-9C64-BEFAB9E6BD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56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1234566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628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executive summary... introduce the objectives</a:t>
            </a:r>
          </a:p>
          <a:p>
            <a:endParaRPr lang="en-US" dirty="0"/>
          </a:p>
          <a:p>
            <a:r>
              <a:rPr lang="en-US" dirty="0"/>
              <a:t>1) Optimization of chemical procurement on </a:t>
            </a:r>
            <a:r>
              <a:rPr lang="en-US" dirty="0" err="1"/>
              <a:t>Surkjek</a:t>
            </a:r>
            <a:endParaRPr lang="en-US" dirty="0"/>
          </a:p>
          <a:p>
            <a:endParaRPr lang="en-US" dirty="0"/>
          </a:p>
          <a:p>
            <a:r>
              <a:rPr lang="en-US" dirty="0"/>
              <a:t>2)Enhanced Operational efficiency: </a:t>
            </a:r>
            <a:r>
              <a:rPr lang="en-US" dirty="0" err="1"/>
              <a:t>Koothas</a:t>
            </a:r>
            <a:r>
              <a:rPr lang="en-US" dirty="0"/>
              <a:t> model on </a:t>
            </a:r>
            <a:r>
              <a:rPr lang="en-US" dirty="0" err="1"/>
              <a:t>Surjek</a:t>
            </a:r>
            <a:endParaRPr lang="en-US" dirty="0"/>
          </a:p>
          <a:p>
            <a:endParaRPr lang="en-US" dirty="0"/>
          </a:p>
          <a:p>
            <a:r>
              <a:rPr lang="en-US" dirty="0"/>
              <a:t>3)explored revenues diversification: Increase residential sales to balance revenue mix</a:t>
            </a:r>
          </a:p>
          <a:p>
            <a:endParaRPr lang="en-US" dirty="0"/>
          </a:p>
          <a:p>
            <a:r>
              <a:rPr lang="en-US" dirty="0"/>
              <a:t>4)Monitor unit profitability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042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Private water </a:t>
            </a:r>
            <a:r>
              <a:rPr lang="en-AU" dirty="0" err="1"/>
              <a:t>herdge</a:t>
            </a:r>
            <a:r>
              <a:rPr lang="en-AU" dirty="0"/>
              <a:t> sales main product leading overall revenues (187M)</a:t>
            </a:r>
          </a:p>
          <a:p>
            <a:endParaRPr lang="en-AU" dirty="0"/>
          </a:p>
          <a:p>
            <a:r>
              <a:rPr lang="en-AU" dirty="0"/>
              <a:t>Public sales represented the 2nd place in overall revenues with 147M</a:t>
            </a:r>
          </a:p>
          <a:p>
            <a:endParaRPr lang="en-AU" dirty="0"/>
          </a:p>
          <a:p>
            <a:r>
              <a:rPr lang="en-AU" dirty="0"/>
              <a:t>lastly Residential sales (102M)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191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Visualize in this line charts the different product distribution of each water </a:t>
            </a:r>
            <a:r>
              <a:rPr lang="en-US" dirty="0" err="1"/>
              <a:t>desalinator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Surjek</a:t>
            </a:r>
            <a:r>
              <a:rPr lang="en-US" dirty="0"/>
              <a:t> leads with 202M of the company sales</a:t>
            </a:r>
          </a:p>
          <a:p>
            <a:endParaRPr lang="en-US" dirty="0"/>
          </a:p>
          <a:p>
            <a:r>
              <a:rPr lang="en-US" dirty="0"/>
              <a:t>Jutik again as second position with 164M </a:t>
            </a:r>
          </a:p>
          <a:p>
            <a:endParaRPr lang="en-US" dirty="0"/>
          </a:p>
          <a:p>
            <a:r>
              <a:rPr lang="en-US" dirty="0"/>
              <a:t>and lastly </a:t>
            </a:r>
            <a:r>
              <a:rPr lang="en-US" dirty="0" err="1"/>
              <a:t>Kootha</a:t>
            </a:r>
            <a:r>
              <a:rPr lang="en-US" dirty="0"/>
              <a:t> with 71M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3686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Targeted expense analysis reveals an interesting trend, showing that overall costs increase in </a:t>
            </a:r>
            <a:r>
              <a:rPr lang="en-US" dirty="0" err="1"/>
              <a:t>december</a:t>
            </a:r>
            <a:r>
              <a:rPr lang="en-US" dirty="0"/>
              <a:t>, with </a:t>
            </a:r>
            <a:r>
              <a:rPr lang="en-US" dirty="0" err="1"/>
              <a:t>Surjek</a:t>
            </a:r>
            <a:r>
              <a:rPr lang="en-US" dirty="0"/>
              <a:t> </a:t>
            </a:r>
            <a:r>
              <a:rPr lang="en-US" dirty="0" err="1"/>
              <a:t>contribuiting</a:t>
            </a:r>
            <a:r>
              <a:rPr lang="en-US" dirty="0"/>
              <a:t> mainly to the overall costs which were the 56% total, translated into 179M (as showcased on the left)</a:t>
            </a:r>
          </a:p>
          <a:p>
            <a:endParaRPr lang="en-US" dirty="0"/>
          </a:p>
          <a:p>
            <a:r>
              <a:rPr lang="en-US" dirty="0"/>
              <a:t>Also determined the aggregated costs per accounting code </a:t>
            </a:r>
            <a:r>
              <a:rPr lang="en-US" dirty="0" err="1"/>
              <a:t>centre</a:t>
            </a:r>
            <a:r>
              <a:rPr lang="en-US" dirty="0"/>
              <a:t> element with labor being the main cost stream followed by Chemical </a:t>
            </a:r>
            <a:r>
              <a:rPr lang="en-US" dirty="0" err="1"/>
              <a:t>expences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244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cost breakdown by unit was carried out</a:t>
            </a:r>
          </a:p>
          <a:p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Surjek</a:t>
            </a:r>
            <a:r>
              <a:rPr lang="en-US" dirty="0"/>
              <a:t> with 179M (56)% worth of costs, contrasted vastly with </a:t>
            </a:r>
            <a:r>
              <a:rPr lang="en-US" dirty="0" err="1"/>
              <a:t>Kootha</a:t>
            </a:r>
            <a:r>
              <a:rPr lang="en-US" dirty="0"/>
              <a:t> (51M) and Jutik (91M), mainly due to lower chemical; expenses and  labor expenditure. </a:t>
            </a:r>
          </a:p>
          <a:p>
            <a:endParaRPr lang="en-US" dirty="0"/>
          </a:p>
          <a:p>
            <a:r>
              <a:rPr lang="en-US" dirty="0"/>
              <a:t>top right bar chart indicate a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7686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</a:t>
            </a:r>
            <a:r>
              <a:rPr lang="en-US" dirty="0" err="1"/>
              <a:t>efficiciency</a:t>
            </a:r>
            <a:r>
              <a:rPr lang="en-US" dirty="0"/>
              <a:t> was determined by drilling down to cost-element level, revealing a correlation between chemical expenditure and water production, being significantly larger on </a:t>
            </a:r>
            <a:r>
              <a:rPr lang="en-US" dirty="0" err="1"/>
              <a:t>Surjek</a:t>
            </a:r>
            <a:r>
              <a:rPr lang="en-US" dirty="0"/>
              <a:t>, which was the highest rate of water production unit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235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into the operational efficiency, we conclude that Jutik has highest overall EBIT contribution (of 73M) followed by </a:t>
            </a:r>
            <a:r>
              <a:rPr lang="en-US" dirty="0" err="1"/>
              <a:t>surjek</a:t>
            </a:r>
            <a:r>
              <a:rPr lang="en-US" dirty="0"/>
              <a:t> (23M)and lastly </a:t>
            </a:r>
            <a:r>
              <a:rPr lang="en-US" dirty="0" err="1"/>
              <a:t>Kootha</a:t>
            </a:r>
            <a:r>
              <a:rPr lang="en-US" dirty="0"/>
              <a:t> (20M)</a:t>
            </a:r>
          </a:p>
          <a:p>
            <a:endParaRPr lang="en-US" dirty="0"/>
          </a:p>
          <a:p>
            <a:r>
              <a:rPr lang="en-US" dirty="0"/>
              <a:t>Nevertheless, EBIT margin percentage wise, </a:t>
            </a:r>
            <a:r>
              <a:rPr lang="en-US" dirty="0" err="1"/>
              <a:t>Kootha</a:t>
            </a:r>
            <a:r>
              <a:rPr lang="en-US" dirty="0"/>
              <a:t> has a higher margin than </a:t>
            </a:r>
            <a:r>
              <a:rPr lang="en-US" dirty="0" err="1"/>
              <a:t>surjek</a:t>
            </a:r>
            <a:r>
              <a:rPr lang="en-US" dirty="0"/>
              <a:t>, explained by a lower </a:t>
            </a:r>
            <a:r>
              <a:rPr lang="en-US"/>
              <a:t>revenue-to-costs ratio.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52E8-A3D8-466D-9C64-BEFAB9E6BDD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259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19640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king Draft Text" hidden="1"/>
          <p:cNvSpPr txBox="1">
            <a:spLocks noChangeArrowheads="1"/>
          </p:cNvSpPr>
          <p:nvPr/>
        </p:nvSpPr>
        <p:spPr bwMode="ltGray">
          <a:xfrm>
            <a:off x="4030876" y="132157"/>
            <a:ext cx="88165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800" b="1" baseline="0" noProof="0" dirty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WORKING DRAFT</a:t>
            </a:r>
          </a:p>
        </p:txBody>
      </p:sp>
      <p:sp>
        <p:nvSpPr>
          <p:cNvPr id="7" name="Printed" hidden="1"/>
          <p:cNvSpPr txBox="1">
            <a:spLocks noChangeArrowheads="1"/>
          </p:cNvSpPr>
          <p:nvPr/>
        </p:nvSpPr>
        <p:spPr bwMode="ltGray">
          <a:xfrm>
            <a:off x="4030876" y="436846"/>
            <a:ext cx="218970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800" baseline="0" noProof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Printed 2/27/2017 7:03 AM India Standard Time</a:t>
            </a:r>
            <a:endParaRPr lang="en-US" sz="800" baseline="0" noProof="0" dirty="0">
              <a:solidFill>
                <a:schemeClr val="tx1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Working Draft" hidden="1"/>
          <p:cNvSpPr txBox="1">
            <a:spLocks noChangeArrowheads="1"/>
          </p:cNvSpPr>
          <p:nvPr/>
        </p:nvSpPr>
        <p:spPr bwMode="ltGray">
          <a:xfrm>
            <a:off x="4030876" y="277771"/>
            <a:ext cx="292227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AU" sz="800" baseline="0" noProof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Last Modified 10/03/2017 4:54 PM W. Australia Standard Time</a:t>
            </a:r>
            <a:endParaRPr lang="en-US" sz="800" baseline="0" noProof="0" dirty="0">
              <a:solidFill>
                <a:schemeClr val="tx1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Document type" hidden="1"/>
          <p:cNvSpPr txBox="1">
            <a:spLocks noChangeArrowheads="1"/>
          </p:cNvSpPr>
          <p:nvPr/>
        </p:nvSpPr>
        <p:spPr bwMode="ltGray">
          <a:xfrm>
            <a:off x="4030876" y="5305595"/>
            <a:ext cx="47697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00" baseline="0" noProof="0" dirty="0">
                <a:solidFill>
                  <a:schemeClr val="tx1"/>
                </a:solidFill>
                <a:latin typeface="+mn-lt"/>
              </a:rPr>
              <a:t>Document type | Date</a:t>
            </a:r>
          </a:p>
        </p:txBody>
      </p:sp>
      <p:sp>
        <p:nvSpPr>
          <p:cNvPr id="19" name="doc id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8132763" y="36513"/>
            <a:ext cx="657225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895350"/>
            <a:endParaRPr lang="en-US" sz="800" baseline="0" noProof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ltGray">
          <a:xfrm>
            <a:off x="4030876" y="650494"/>
            <a:ext cx="4769711" cy="9848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200" b="0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ltGray">
          <a:xfrm>
            <a:off x="4030876" y="1887470"/>
            <a:ext cx="4769712" cy="215444"/>
          </a:xfrm>
        </p:spPr>
        <p:txBody>
          <a:bodyPr wrap="square">
            <a:spAutoFit/>
          </a:bodyPr>
          <a:lstStyle>
            <a:lvl1pPr>
              <a:defRPr sz="1400" cap="none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20" name="Rectangle 19"/>
          <p:cNvSpPr/>
          <p:nvPr userDrawn="1"/>
        </p:nvSpPr>
        <p:spPr bwMode="ltGray">
          <a:xfrm>
            <a:off x="3175" y="6233824"/>
            <a:ext cx="8958263" cy="4876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 bwMode="ltGray">
          <a:xfrm>
            <a:off x="0" y="6187568"/>
            <a:ext cx="8961438" cy="45719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6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37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3" Type="http://schemas.openxmlformats.org/officeDocument/2006/relationships/theme" Target="../theme/theme1.xml"/><Relationship Id="rId21" Type="http://schemas.openxmlformats.org/officeDocument/2006/relationships/tags" Target="../tags/tag18.xml"/><Relationship Id="rId7" Type="http://schemas.openxmlformats.org/officeDocument/2006/relationships/tags" Target="../tags/tag4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0" Type="http://schemas.openxmlformats.org/officeDocument/2006/relationships/tags" Target="../tags/tag17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image" Target="../media/image1.emf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oleObject" Target="../embeddings/oleObject1.bin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4" Type="http://schemas.openxmlformats.org/officeDocument/2006/relationships/tags" Target="../tags/tag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13237148"/>
              </p:ext>
            </p:ext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/>
        </p:nvSpPr>
        <p:spPr bwMode="auto">
          <a:xfrm>
            <a:off x="8132763" y="36513"/>
            <a:ext cx="657225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895350"/>
            <a:endParaRPr lang="en-US" sz="800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/>
        </p:nvSpPr>
        <p:spPr bwMode="auto">
          <a:xfrm rot="5400000">
            <a:off x="7799945" y="1940591"/>
            <a:ext cx="2183290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AU" sz="600" baseline="0" noProof="0">
                <a:solidFill>
                  <a:schemeClr val="accent6"/>
                </a:solidFill>
                <a:latin typeface="+mn-lt"/>
                <a:ea typeface="+mn-ea"/>
              </a:rPr>
              <a:t>Last Modified 10/03/2017 4:54 PM W. Australia Standard Time</a:t>
            </a:r>
            <a:endParaRPr lang="en-US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auto">
          <a:xfrm rot="5400000">
            <a:off x="8074057" y="4114417"/>
            <a:ext cx="1635063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600" baseline="0" noProof="0">
                <a:solidFill>
                  <a:schemeClr val="accent6"/>
                </a:solidFill>
                <a:latin typeface="+mn-lt"/>
                <a:ea typeface="+mn-ea"/>
              </a:rPr>
              <a:t>Printed 2/27/2017 7:03 AM India Standard Time</a:t>
            </a:r>
            <a:endParaRPr lang="en-US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29657" y="2317778"/>
            <a:ext cx="430212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1451" y="185145"/>
            <a:ext cx="86185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171450" y="35048"/>
            <a:ext cx="49051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80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171450" y="519908"/>
            <a:ext cx="861853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2329657" y="1747865"/>
            <a:ext cx="4302125" cy="508000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18" name="LegendBoxes" hidden="1"/>
          <p:cNvGrpSpPr>
            <a:grpSpLocks/>
          </p:cNvGrpSpPr>
          <p:nvPr/>
        </p:nvGrpSpPr>
        <p:grpSpPr bwMode="auto">
          <a:xfrm>
            <a:off x="8026400" y="237755"/>
            <a:ext cx="763588" cy="996951"/>
            <a:chOff x="4936" y="176"/>
            <a:chExt cx="481" cy="628"/>
          </a:xfrm>
        </p:grpSpPr>
        <p:sp>
          <p:nvSpPr>
            <p:cNvPr id="20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21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22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23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24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25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26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27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</p:grpSp>
      <p:grpSp>
        <p:nvGrpSpPr>
          <p:cNvPr id="28" name="LegendLines" hidden="1"/>
          <p:cNvGrpSpPr>
            <a:grpSpLocks/>
          </p:cNvGrpSpPr>
          <p:nvPr/>
        </p:nvGrpSpPr>
        <p:grpSpPr bwMode="auto">
          <a:xfrm>
            <a:off x="7718425" y="237755"/>
            <a:ext cx="1071563" cy="730251"/>
            <a:chOff x="4750" y="176"/>
            <a:chExt cx="675" cy="460"/>
          </a:xfrm>
        </p:grpSpPr>
        <p:sp>
          <p:nvSpPr>
            <p:cNvPr id="29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30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31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32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33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34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</p:grpSp>
      <p:grpSp>
        <p:nvGrpSpPr>
          <p:cNvPr id="35" name="McK Sticker" hidden="1"/>
          <p:cNvGrpSpPr/>
          <p:nvPr/>
        </p:nvGrpSpPr>
        <p:grpSpPr bwMode="auto">
          <a:xfrm>
            <a:off x="8064982" y="237755"/>
            <a:ext cx="725006" cy="150811"/>
            <a:chOff x="8015769" y="285750"/>
            <a:chExt cx="725006" cy="150811"/>
          </a:xfrm>
        </p:grpSpPr>
        <p:sp>
          <p:nvSpPr>
            <p:cNvPr id="36" name="StickerRectangle"/>
            <p:cNvSpPr>
              <a:spLocks noChangeArrowheads="1"/>
            </p:cNvSpPr>
            <p:nvPr/>
          </p:nvSpPr>
          <p:spPr bwMode="auto">
            <a:xfrm>
              <a:off x="8015769" y="285750"/>
              <a:ext cx="725006" cy="150811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895350">
                <a:buClr>
                  <a:schemeClr val="tx2"/>
                </a:buClr>
              </a:pPr>
              <a:r>
                <a:rPr lang="en-US" sz="800" dirty="0">
                  <a:solidFill>
                    <a:srgbClr val="808080"/>
                  </a:solidFill>
                  <a:latin typeface="+mn-lt"/>
                </a:rPr>
                <a:t>PRELIMINARY</a:t>
              </a:r>
            </a:p>
          </p:txBody>
        </p:sp>
        <p:cxnSp>
          <p:nvCxnSpPr>
            <p:cNvPr id="37" name="AutoShape 31"/>
            <p:cNvCxnSpPr>
              <a:cxnSpLocks noChangeShapeType="1"/>
              <a:stCxn id="36" idx="2"/>
              <a:endCxn id="36" idx="4"/>
            </p:cNvCxnSpPr>
            <p:nvPr/>
          </p:nvCxnSpPr>
          <p:spPr bwMode="auto">
            <a:xfrm>
              <a:off x="8015769" y="285750"/>
              <a:ext cx="0" cy="150811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AutoShape 32"/>
            <p:cNvCxnSpPr>
              <a:cxnSpLocks noChangeShapeType="1"/>
              <a:stCxn id="36" idx="4"/>
              <a:endCxn id="36" idx="6"/>
            </p:cNvCxnSpPr>
            <p:nvPr/>
          </p:nvCxnSpPr>
          <p:spPr bwMode="auto">
            <a:xfrm>
              <a:off x="8015769" y="436561"/>
              <a:ext cx="725006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3" name="Slide Number"/>
          <p:cNvSpPr txBox="1">
            <a:spLocks/>
          </p:cNvSpPr>
          <p:nvPr/>
        </p:nvSpPr>
        <p:spPr bwMode="auto">
          <a:xfrm>
            <a:off x="8664954" y="6462552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 algn="r"/>
            <a:fld id="{42C328C1-A84F-4A39-A664-DBA00541A8C6}" type="slidenum">
              <a:rPr lang="en-US" sz="800" smtClean="0">
                <a:solidFill>
                  <a:schemeClr val="tx1"/>
                </a:solidFill>
              </a:rPr>
              <a:pPr lvl="0" algn="r"/>
              <a:t>‹#›</a:t>
            </a:fld>
            <a:endParaRPr lang="en-US" sz="800" dirty="0">
              <a:solidFill>
                <a:schemeClr val="tx1"/>
              </a:solidFill>
            </a:endParaRPr>
          </a:p>
        </p:txBody>
      </p:sp>
      <p:grpSp>
        <p:nvGrpSpPr>
          <p:cNvPr id="64" name="Moon" hidden="1"/>
          <p:cNvGrpSpPr>
            <a:grpSpLocks noChangeAspect="1"/>
          </p:cNvGrpSpPr>
          <p:nvPr>
            <p:custDataLst>
              <p:tags r:id="rId5"/>
            </p:custDataLst>
          </p:nvPr>
        </p:nvGrpSpPr>
        <p:grpSpPr bwMode="auto">
          <a:xfrm>
            <a:off x="7170608" y="764013"/>
            <a:ext cx="254000" cy="254000"/>
            <a:chOff x="1600" y="1600"/>
            <a:chExt cx="160" cy="160"/>
          </a:xfrm>
        </p:grpSpPr>
        <p:sp>
          <p:nvSpPr>
            <p:cNvPr id="65" name="Oval 90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600" y="1600"/>
              <a:ext cx="160" cy="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Arc 91"/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>
              <a:off x="1600" y="1600"/>
              <a:ext cx="160" cy="160"/>
            </a:xfrm>
            <a:prstGeom prst="arc">
              <a:avLst/>
            </a:prstGeom>
            <a:solidFill>
              <a:schemeClr val="accent3"/>
            </a:solidFill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7" name="LegendMoons" hidden="1"/>
          <p:cNvGrpSpPr/>
          <p:nvPr/>
        </p:nvGrpSpPr>
        <p:grpSpPr bwMode="auto">
          <a:xfrm>
            <a:off x="7959558" y="237755"/>
            <a:ext cx="830430" cy="1306516"/>
            <a:chOff x="5428012" y="273840"/>
            <a:chExt cx="830430" cy="1306516"/>
          </a:xfrm>
        </p:grpSpPr>
        <p:sp>
          <p:nvSpPr>
            <p:cNvPr id="68" name="Legend1"/>
            <p:cNvSpPr>
              <a:spLocks noChangeArrowheads="1"/>
            </p:cNvSpPr>
            <p:nvPr/>
          </p:nvSpPr>
          <p:spPr bwMode="auto">
            <a:xfrm>
              <a:off x="5748687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 dirty="0">
                  <a:latin typeface="+mn-lt"/>
                </a:rPr>
                <a:t>Legend</a:t>
              </a:r>
            </a:p>
          </p:txBody>
        </p:sp>
        <p:sp>
          <p:nvSpPr>
            <p:cNvPr id="69" name="Legend2"/>
            <p:cNvSpPr>
              <a:spLocks noChangeArrowheads="1"/>
            </p:cNvSpPr>
            <p:nvPr/>
          </p:nvSpPr>
          <p:spPr bwMode="auto">
            <a:xfrm>
              <a:off x="5748687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 dirty="0">
                  <a:latin typeface="+mn-lt"/>
                </a:rPr>
                <a:t>Legend</a:t>
              </a:r>
            </a:p>
          </p:txBody>
        </p:sp>
        <p:sp>
          <p:nvSpPr>
            <p:cNvPr id="70" name="Legend3"/>
            <p:cNvSpPr>
              <a:spLocks noChangeArrowheads="1"/>
            </p:cNvSpPr>
            <p:nvPr/>
          </p:nvSpPr>
          <p:spPr bwMode="auto">
            <a:xfrm>
              <a:off x="5748687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 dirty="0">
                  <a:latin typeface="+mn-lt"/>
                </a:rPr>
                <a:t>Legend</a:t>
              </a:r>
            </a:p>
          </p:txBody>
        </p:sp>
        <p:sp>
          <p:nvSpPr>
            <p:cNvPr id="71" name="Legend4"/>
            <p:cNvSpPr>
              <a:spLocks noChangeArrowheads="1"/>
            </p:cNvSpPr>
            <p:nvPr/>
          </p:nvSpPr>
          <p:spPr bwMode="auto">
            <a:xfrm>
              <a:off x="5748687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72" name="Legend5"/>
            <p:cNvSpPr>
              <a:spLocks noChangeArrowheads="1"/>
            </p:cNvSpPr>
            <p:nvPr/>
          </p:nvSpPr>
          <p:spPr bwMode="auto">
            <a:xfrm>
              <a:off x="5748687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 dirty="0">
                  <a:latin typeface="+mn-lt"/>
                </a:rPr>
                <a:t>Legend</a:t>
              </a:r>
            </a:p>
          </p:txBody>
        </p:sp>
        <p:grpSp>
          <p:nvGrpSpPr>
            <p:cNvPr id="73" name="MoonLegend1"/>
            <p:cNvGrpSpPr>
              <a:grpSpLocks noChangeAspect="1"/>
            </p:cNvGrpSpPr>
            <p:nvPr userDrawn="1">
              <p:custDataLst>
                <p:tags r:id="rId6"/>
              </p:custDataLst>
            </p:nvPr>
          </p:nvGrpSpPr>
          <p:grpSpPr bwMode="auto">
            <a:xfrm>
              <a:off x="5428012" y="273840"/>
              <a:ext cx="209550" cy="209551"/>
              <a:chOff x="1694" y="2044"/>
              <a:chExt cx="160" cy="160"/>
            </a:xfrm>
          </p:grpSpPr>
          <p:sp>
            <p:nvSpPr>
              <p:cNvPr id="86" name="Oval 41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87" name="Arc 42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3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grpSp>
          <p:nvGrpSpPr>
            <p:cNvPr id="74" name="MoonLegend2"/>
            <p:cNvGrpSpPr>
              <a:grpSpLocks noChangeAspect="1"/>
            </p:cNvGrpSpPr>
            <p:nvPr userDrawn="1">
              <p:custDataLst>
                <p:tags r:id="rId7"/>
              </p:custDataLst>
            </p:nvPr>
          </p:nvGrpSpPr>
          <p:grpSpPr bwMode="auto">
            <a:xfrm>
              <a:off x="5428012" y="548081"/>
              <a:ext cx="209550" cy="209551"/>
              <a:chOff x="1694" y="2044"/>
              <a:chExt cx="160" cy="160"/>
            </a:xfrm>
          </p:grpSpPr>
          <p:sp>
            <p:nvSpPr>
              <p:cNvPr id="84" name="Oval 41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85" name="Arc 42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3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grpSp>
          <p:nvGrpSpPr>
            <p:cNvPr id="75" name="MoonLegend3"/>
            <p:cNvGrpSpPr>
              <a:grpSpLocks noChangeAspect="1"/>
            </p:cNvGrpSpPr>
            <p:nvPr userDrawn="1">
              <p:custDataLst>
                <p:tags r:id="rId8"/>
              </p:custDataLst>
            </p:nvPr>
          </p:nvGrpSpPr>
          <p:grpSpPr bwMode="auto">
            <a:xfrm>
              <a:off x="5428012" y="822322"/>
              <a:ext cx="209550" cy="209551"/>
              <a:chOff x="1694" y="2044"/>
              <a:chExt cx="160" cy="160"/>
            </a:xfrm>
          </p:grpSpPr>
          <p:sp>
            <p:nvSpPr>
              <p:cNvPr id="82" name="Oval 41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83" name="Arc 42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3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grpSp>
          <p:nvGrpSpPr>
            <p:cNvPr id="76" name="MoonLegend4"/>
            <p:cNvGrpSpPr>
              <a:grpSpLocks noChangeAspect="1"/>
            </p:cNvGrpSpPr>
            <p:nvPr userDrawn="1">
              <p:custDataLst>
                <p:tags r:id="rId9"/>
              </p:custDataLst>
            </p:nvPr>
          </p:nvGrpSpPr>
          <p:grpSpPr bwMode="auto">
            <a:xfrm>
              <a:off x="5428012" y="1096563"/>
              <a:ext cx="209550" cy="209551"/>
              <a:chOff x="1694" y="2044"/>
              <a:chExt cx="160" cy="160"/>
            </a:xfrm>
          </p:grpSpPr>
          <p:sp>
            <p:nvSpPr>
              <p:cNvPr id="80" name="Oval 41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81" name="Arc 42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3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grpSp>
          <p:nvGrpSpPr>
            <p:cNvPr id="77" name="MoonLegend5"/>
            <p:cNvGrpSpPr>
              <a:grpSpLocks noChangeAspect="1"/>
            </p:cNvGrpSpPr>
            <p:nvPr userDrawn="1">
              <p:custDataLst>
                <p:tags r:id="rId10"/>
              </p:custDataLst>
            </p:nvPr>
          </p:nvGrpSpPr>
          <p:grpSpPr bwMode="auto">
            <a:xfrm>
              <a:off x="5428012" y="1370805"/>
              <a:ext cx="209550" cy="209551"/>
              <a:chOff x="1694" y="2044"/>
              <a:chExt cx="160" cy="160"/>
            </a:xfrm>
          </p:grpSpPr>
          <p:sp>
            <p:nvSpPr>
              <p:cNvPr id="78" name="Oval 41"/>
              <p:cNvSpPr>
                <a:spLocks noChangeAspect="1"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79" name="Arc 42"/>
              <p:cNvSpPr>
                <a:spLocks noChangeAspect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3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</p:grpSp>
      <p:grpSp>
        <p:nvGrpSpPr>
          <p:cNvPr id="3" name="Slide Elements" hidden="1"/>
          <p:cNvGrpSpPr/>
          <p:nvPr/>
        </p:nvGrpSpPr>
        <p:grpSpPr bwMode="auto">
          <a:xfrm>
            <a:off x="171450" y="6276179"/>
            <a:ext cx="7277099" cy="309484"/>
            <a:chOff x="171451" y="6321899"/>
            <a:chExt cx="7200000" cy="309484"/>
          </a:xfrm>
        </p:grpSpPr>
        <p:sp>
          <p:nvSpPr>
            <p:cNvPr id="89" name="4. Footnote"/>
            <p:cNvSpPr txBox="1">
              <a:spLocks noChangeArrowheads="1"/>
            </p:cNvSpPr>
            <p:nvPr/>
          </p:nvSpPr>
          <p:spPr bwMode="auto">
            <a:xfrm>
              <a:off x="171451" y="6321899"/>
              <a:ext cx="7200000" cy="12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85725" indent="-85725">
                <a:defRPr lang="x-none"/>
              </a:pPr>
              <a:r>
                <a:rPr lang="x-none" sz="800" baseline="0" dirty="0">
                  <a:solidFill>
                    <a:schemeClr val="tx1"/>
                  </a:solidFill>
                  <a:latin typeface="+mn-lt"/>
                  <a:ea typeface="+mn-ea"/>
                </a:rPr>
                <a:t>1 Footnote</a:t>
              </a:r>
            </a:p>
          </p:txBody>
        </p:sp>
        <p:sp>
          <p:nvSpPr>
            <p:cNvPr id="90" name="5. Source"/>
            <p:cNvSpPr>
              <a:spLocks noChangeArrowheads="1"/>
            </p:cNvSpPr>
            <p:nvPr/>
          </p:nvSpPr>
          <p:spPr bwMode="auto">
            <a:xfrm>
              <a:off x="171451" y="6508272"/>
              <a:ext cx="7200000" cy="12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marL="409575" indent="-409575" defTabSz="895350">
                <a:tabLst>
                  <a:tab pos="409575" algn="l"/>
                </a:tabLst>
              </a:pPr>
              <a:r>
                <a:rPr lang="x-none" sz="800" baseline="0" dirty="0">
                  <a:solidFill>
                    <a:schemeClr val="tx1"/>
                  </a:solidFill>
                  <a:latin typeface="+mn-lt"/>
                  <a:ea typeface="+mn-ea"/>
                </a:rPr>
                <a:t>Source : Source</a:t>
              </a:r>
            </a:p>
          </p:txBody>
        </p:sp>
      </p:grpSp>
      <p:sp>
        <p:nvSpPr>
          <p:cNvPr id="62" name="Rectangle 61"/>
          <p:cNvSpPr/>
          <p:nvPr/>
        </p:nvSpPr>
        <p:spPr bwMode="auto">
          <a:xfrm>
            <a:off x="0" y="6674787"/>
            <a:ext cx="896143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40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lvl1pPr algn="l" defTabSz="895350" rtl="0" eaLnBrk="1" fontAlgn="base" hangingPunct="1">
        <a:spcBef>
          <a:spcPct val="0"/>
        </a:spcBef>
        <a:spcAft>
          <a:spcPct val="0"/>
        </a:spcAft>
        <a:tabLst>
          <a:tab pos="269875" algn="l"/>
        </a:tabLst>
        <a:defRPr sz="2000" b="0" baseline="0">
          <a:solidFill>
            <a:schemeClr val="accent3"/>
          </a:solidFill>
          <a:latin typeface="+mj-lt"/>
          <a:ea typeface="Arial Unicode MS" pitchFamily="34" charset="-128"/>
          <a:cs typeface="Arial Unicode MS" pitchFamily="34" charset="-128"/>
        </a:defRPr>
      </a:lvl1pPr>
      <a:lvl2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572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144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716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288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1pPr>
      <a:lvl2pPr marL="193675" indent="-192088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57200" indent="-261938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614363" indent="-1555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49808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749808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49808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49808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49808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0568C9-EDF0-33CD-71F5-E9F25422DA63}"/>
              </a:ext>
            </a:extLst>
          </p:cNvPr>
          <p:cNvSpPr txBox="1">
            <a:spLocks/>
          </p:cNvSpPr>
          <p:nvPr/>
        </p:nvSpPr>
        <p:spPr bwMode="auto">
          <a:xfrm>
            <a:off x="171451" y="185145"/>
            <a:ext cx="873759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GB" sz="3200" b="1" kern="0" dirty="0"/>
              <a:t>Southern Water Corp.</a:t>
            </a:r>
            <a:endParaRPr lang="en-AU" sz="32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327498-B1BA-7BB9-6612-31CF930E4F4C}"/>
              </a:ext>
            </a:extLst>
          </p:cNvPr>
          <p:cNvCxnSpPr/>
          <p:nvPr/>
        </p:nvCxnSpPr>
        <p:spPr>
          <a:xfrm>
            <a:off x="171451" y="648497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outhern Water fined record amount for sewage spills in Kent | The  Independent">
            <a:extLst>
              <a:ext uri="{FF2B5EF4-FFF2-40B4-BE49-F238E27FC236}">
                <a16:creationId xmlns:a16="http://schemas.microsoft.com/office/drawing/2014/main" id="{5795C46F-D700-AC04-4E53-66826F351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619" y="1507073"/>
            <a:ext cx="4942812" cy="370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A8AAF0-E14C-36C7-3D3A-2DAB37A351E3}"/>
              </a:ext>
            </a:extLst>
          </p:cNvPr>
          <p:cNvSpPr txBox="1"/>
          <p:nvPr/>
        </p:nvSpPr>
        <p:spPr>
          <a:xfrm>
            <a:off x="107751" y="907664"/>
            <a:ext cx="8737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Financial Analysis &amp; Profit Optimization for the Period of June 2013 to July 2014.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EA350-9F2E-F254-FA7C-A78D0C1564EF}"/>
              </a:ext>
            </a:extLst>
          </p:cNvPr>
          <p:cNvSpPr txBox="1"/>
          <p:nvPr/>
        </p:nvSpPr>
        <p:spPr>
          <a:xfrm>
            <a:off x="107752" y="5564331"/>
            <a:ext cx="850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Ariel Farelas</a:t>
            </a:r>
          </a:p>
          <a:p>
            <a:r>
              <a:rPr lang="en-US" dirty="0"/>
              <a:t>Springboard</a:t>
            </a:r>
          </a:p>
          <a:p>
            <a:r>
              <a:rPr lang="en-US" dirty="0"/>
              <a:t>October 05, 2025</a:t>
            </a:r>
          </a:p>
        </p:txBody>
      </p:sp>
    </p:spTree>
    <p:extLst>
      <p:ext uri="{BB962C8B-B14F-4D97-AF65-F5344CB8AC3E}">
        <p14:creationId xmlns:p14="http://schemas.microsoft.com/office/powerpoint/2010/main" val="45472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AF420-6F95-DFD9-F5F7-0C155C25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EC94E7-0A1C-4C25-E803-FF2FD29CC922}"/>
              </a:ext>
            </a:extLst>
          </p:cNvPr>
          <p:cNvSpPr txBox="1">
            <a:spLocks/>
          </p:cNvSpPr>
          <p:nvPr/>
        </p:nvSpPr>
        <p:spPr bwMode="auto">
          <a:xfrm>
            <a:off x="171451" y="648497"/>
            <a:ext cx="8737599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kern="0" dirty="0"/>
              <a:t>Optimize chemical procurement, mainly with </a:t>
            </a:r>
            <a:r>
              <a:rPr lang="en-GB" sz="1400" b="1" kern="0" dirty="0" err="1"/>
              <a:t>Surjek</a:t>
            </a:r>
            <a:r>
              <a:rPr lang="en-GB" sz="1400" b="1" kern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kern="0" dirty="0"/>
              <a:t>Enhance operational efficiency: Apply </a:t>
            </a:r>
            <a:r>
              <a:rPr lang="en-GB" sz="1400" b="1" kern="0" dirty="0" err="1"/>
              <a:t>Kootha’s</a:t>
            </a:r>
            <a:r>
              <a:rPr lang="en-GB" sz="1400" b="1" kern="0" dirty="0"/>
              <a:t> cost model to </a:t>
            </a:r>
            <a:r>
              <a:rPr lang="en-GB" sz="1400" b="1" kern="0" dirty="0" err="1"/>
              <a:t>Surjek’s</a:t>
            </a:r>
            <a:r>
              <a:rPr lang="en-GB" sz="1400" b="1" kern="0" dirty="0"/>
              <a:t>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kern="0" dirty="0"/>
              <a:t>Diversify revenue base: Increase residential sales penetration to balance revenue mix.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kern="0" dirty="0"/>
              <a:t>Monitor Unit Profitability Monthly.</a:t>
            </a:r>
            <a:endParaRPr lang="en-AU" sz="1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31154C-024D-CF06-7B13-7C10D9F5CE2D}"/>
              </a:ext>
            </a:extLst>
          </p:cNvPr>
          <p:cNvCxnSpPr/>
          <p:nvPr/>
        </p:nvCxnSpPr>
        <p:spPr>
          <a:xfrm>
            <a:off x="171451" y="648497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4BAD6E1-AEDB-9A3B-EE8E-43F65E752E48}"/>
              </a:ext>
            </a:extLst>
          </p:cNvPr>
          <p:cNvSpPr txBox="1">
            <a:spLocks/>
          </p:cNvSpPr>
          <p:nvPr/>
        </p:nvSpPr>
        <p:spPr bwMode="auto">
          <a:xfrm>
            <a:off x="171450" y="266240"/>
            <a:ext cx="8737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b="1" kern="0" dirty="0"/>
              <a:t>Executive Summary</a:t>
            </a:r>
            <a:endParaRPr lang="en-AU" b="1" kern="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7937CBC-4E66-3BAA-FB8E-4A9D6492A1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0934508"/>
              </p:ext>
            </p:extLst>
          </p:nvPr>
        </p:nvGraphicFramePr>
        <p:xfrm>
          <a:off x="0" y="2020203"/>
          <a:ext cx="4360333" cy="3833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FCB0EBF-4750-9995-39F9-628B08FD1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727441"/>
              </p:ext>
            </p:extLst>
          </p:nvPr>
        </p:nvGraphicFramePr>
        <p:xfrm>
          <a:off x="4548718" y="2020203"/>
          <a:ext cx="4360332" cy="3833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3342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7C96-13BD-4F0C-B379-77591A18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1" y="648497"/>
            <a:ext cx="8737599" cy="861774"/>
          </a:xfrm>
        </p:spPr>
        <p:txBody>
          <a:bodyPr/>
          <a:lstStyle/>
          <a:p>
            <a:br>
              <a:rPr lang="en-GB" sz="1400" b="1" dirty="0"/>
            </a:br>
            <a:r>
              <a:rPr lang="en-GB" sz="1400" b="1" dirty="0"/>
              <a:t>Private Water Hedge Sales lead overall revenues, contributing $187M, followed by Public Sales ($147M) and lastly Residential Sales ($102M).</a:t>
            </a:r>
            <a:br>
              <a:rPr lang="en-GB" sz="1400" b="1" dirty="0"/>
            </a:br>
            <a:endParaRPr lang="en-AU" sz="1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26C0C-ABE4-436D-9169-215E6A514CFF}"/>
              </a:ext>
            </a:extLst>
          </p:cNvPr>
          <p:cNvCxnSpPr/>
          <p:nvPr/>
        </p:nvCxnSpPr>
        <p:spPr>
          <a:xfrm>
            <a:off x="171451" y="648497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5BE25A2-4F12-B153-CAB1-1D9ABF16C4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6750216"/>
              </p:ext>
            </p:extLst>
          </p:nvPr>
        </p:nvGraphicFramePr>
        <p:xfrm>
          <a:off x="2025427" y="1952470"/>
          <a:ext cx="5029643" cy="3833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08ED6DC-5592-3AEE-A3D4-995F3185C93C}"/>
              </a:ext>
            </a:extLst>
          </p:cNvPr>
          <p:cNvSpPr txBox="1">
            <a:spLocks/>
          </p:cNvSpPr>
          <p:nvPr/>
        </p:nvSpPr>
        <p:spPr bwMode="auto">
          <a:xfrm>
            <a:off x="171450" y="266240"/>
            <a:ext cx="8737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b="1" kern="0" dirty="0"/>
              <a:t>Key Revenue Insights</a:t>
            </a:r>
            <a:endParaRPr lang="en-AU" b="1" kern="0" dirty="0"/>
          </a:p>
        </p:txBody>
      </p:sp>
    </p:spTree>
    <p:extLst>
      <p:ext uri="{BB962C8B-B14F-4D97-AF65-F5344CB8AC3E}">
        <p14:creationId xmlns:p14="http://schemas.microsoft.com/office/powerpoint/2010/main" val="274847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7C96-13BD-4F0C-B379-77591A18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1" y="734796"/>
            <a:ext cx="8737599" cy="430887"/>
          </a:xfrm>
        </p:spPr>
        <p:txBody>
          <a:bodyPr/>
          <a:lstStyle/>
          <a:p>
            <a:br>
              <a:rPr lang="en-GB" sz="1400" b="1" dirty="0"/>
            </a:br>
            <a:r>
              <a:rPr lang="en-GB" sz="1400" b="1" dirty="0" err="1"/>
              <a:t>Surjek</a:t>
            </a:r>
            <a:r>
              <a:rPr lang="en-GB" sz="1400" b="1" dirty="0"/>
              <a:t> drives half of all company sales ($202M), with </a:t>
            </a:r>
            <a:r>
              <a:rPr lang="en-GB" sz="1400" b="1" dirty="0" err="1"/>
              <a:t>Jutik</a:t>
            </a:r>
            <a:r>
              <a:rPr lang="en-GB" sz="1400" b="1" dirty="0"/>
              <a:t> close behind ($164M) and </a:t>
            </a:r>
            <a:r>
              <a:rPr lang="en-GB" sz="1400" b="1" dirty="0" err="1"/>
              <a:t>Kootha</a:t>
            </a:r>
            <a:r>
              <a:rPr lang="en-GB" sz="1400" b="1" dirty="0"/>
              <a:t> ($71M)</a:t>
            </a:r>
            <a:endParaRPr lang="en-AU" sz="1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26C0C-ABE4-436D-9169-215E6A514CFF}"/>
              </a:ext>
            </a:extLst>
          </p:cNvPr>
          <p:cNvCxnSpPr/>
          <p:nvPr/>
        </p:nvCxnSpPr>
        <p:spPr>
          <a:xfrm>
            <a:off x="171451" y="644215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51BAE10-69C4-A483-169C-9FBCD8538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7548811"/>
              </p:ext>
            </p:extLst>
          </p:nvPr>
        </p:nvGraphicFramePr>
        <p:xfrm>
          <a:off x="4480719" y="1457766"/>
          <a:ext cx="4044950" cy="2631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18F921-777C-1C4F-B6C2-981C1AB899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0382829"/>
              </p:ext>
            </p:extLst>
          </p:nvPr>
        </p:nvGraphicFramePr>
        <p:xfrm>
          <a:off x="2517774" y="4089620"/>
          <a:ext cx="4044949" cy="2631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CC67372-4C13-5C46-A81C-656E02139F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3276281"/>
              </p:ext>
            </p:extLst>
          </p:nvPr>
        </p:nvGraphicFramePr>
        <p:xfrm>
          <a:off x="171450" y="1457766"/>
          <a:ext cx="4044950" cy="2631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4AA89AD-651C-2D01-B7AE-50B968DE3275}"/>
              </a:ext>
            </a:extLst>
          </p:cNvPr>
          <p:cNvSpPr txBox="1">
            <a:spLocks/>
          </p:cNvSpPr>
          <p:nvPr/>
        </p:nvSpPr>
        <p:spPr bwMode="auto">
          <a:xfrm>
            <a:off x="171450" y="266240"/>
            <a:ext cx="8737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b="1" kern="0" dirty="0"/>
              <a:t>Unit Level Revenue Trends</a:t>
            </a:r>
            <a:endParaRPr lang="en-AU" b="1" kern="0" dirty="0"/>
          </a:p>
        </p:txBody>
      </p:sp>
    </p:spTree>
    <p:extLst>
      <p:ext uri="{BB962C8B-B14F-4D97-AF65-F5344CB8AC3E}">
        <p14:creationId xmlns:p14="http://schemas.microsoft.com/office/powerpoint/2010/main" val="66765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7C96-13BD-4F0C-B379-77591A18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9" y="709776"/>
            <a:ext cx="8737599" cy="861774"/>
          </a:xfrm>
        </p:spPr>
        <p:txBody>
          <a:bodyPr/>
          <a:lstStyle/>
          <a:p>
            <a:r>
              <a:rPr lang="en-GB" sz="1400" b="1" dirty="0"/>
              <a:t>Targeted Expense Analysis reveals an interesting trend; Overall Costs sharply increase from December, with </a:t>
            </a:r>
            <a:r>
              <a:rPr lang="en-GB" sz="1400" b="1" dirty="0" err="1"/>
              <a:t>Surjek</a:t>
            </a:r>
            <a:r>
              <a:rPr lang="en-GB" sz="1400" b="1" dirty="0"/>
              <a:t>, contributing $179M (56%) towards the overall cost-base.</a:t>
            </a:r>
            <a:br>
              <a:rPr lang="en-GB" sz="1400" b="1" dirty="0"/>
            </a:br>
            <a:br>
              <a:rPr lang="en-GB" sz="1400" b="1" dirty="0"/>
            </a:br>
            <a:r>
              <a:rPr lang="en-GB" sz="1400" b="1" dirty="0"/>
              <a:t> </a:t>
            </a:r>
            <a:endParaRPr lang="en-AU" sz="1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26C0C-ABE4-436D-9169-215E6A514CFF}"/>
              </a:ext>
            </a:extLst>
          </p:cNvPr>
          <p:cNvCxnSpPr/>
          <p:nvPr/>
        </p:nvCxnSpPr>
        <p:spPr>
          <a:xfrm>
            <a:off x="171451" y="652681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5D7A609-8F20-5184-3269-3DB0B8A9B3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188713"/>
              </p:ext>
            </p:extLst>
          </p:nvPr>
        </p:nvGraphicFramePr>
        <p:xfrm>
          <a:off x="171452" y="2216862"/>
          <a:ext cx="4459816" cy="2576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6524DD3-2A8D-B4FC-BFCF-E3A3FB469B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881610"/>
              </p:ext>
            </p:extLst>
          </p:nvPr>
        </p:nvGraphicFramePr>
        <p:xfrm>
          <a:off x="4631268" y="2216861"/>
          <a:ext cx="4069696" cy="2576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3E96B06A-CFD9-99A7-0F17-1439114AC6A0}"/>
              </a:ext>
            </a:extLst>
          </p:cNvPr>
          <p:cNvSpPr txBox="1">
            <a:spLocks/>
          </p:cNvSpPr>
          <p:nvPr/>
        </p:nvSpPr>
        <p:spPr bwMode="auto">
          <a:xfrm>
            <a:off x="171450" y="266240"/>
            <a:ext cx="8737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b="1" kern="0" dirty="0"/>
              <a:t>Cost Overview</a:t>
            </a:r>
            <a:endParaRPr lang="en-AU" b="1" kern="0" dirty="0"/>
          </a:p>
        </p:txBody>
      </p:sp>
    </p:spTree>
    <p:extLst>
      <p:ext uri="{BB962C8B-B14F-4D97-AF65-F5344CB8AC3E}">
        <p14:creationId xmlns:p14="http://schemas.microsoft.com/office/powerpoint/2010/main" val="284428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7C96-13BD-4F0C-B379-77591A18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9" y="698780"/>
            <a:ext cx="8737599" cy="646331"/>
          </a:xfrm>
        </p:spPr>
        <p:txBody>
          <a:bodyPr/>
          <a:lstStyle/>
          <a:p>
            <a:r>
              <a:rPr lang="en-GB" sz="1400" b="1" dirty="0"/>
              <a:t>Further analysis singles-out that </a:t>
            </a:r>
            <a:r>
              <a:rPr lang="en-GB" sz="1400" b="1" dirty="0" err="1"/>
              <a:t>Surjek</a:t>
            </a:r>
            <a:r>
              <a:rPr lang="en-GB" sz="1400" b="1" dirty="0"/>
              <a:t> with $179M (56%) worth of expenses, contrasted to a much lower spend from </a:t>
            </a:r>
            <a:r>
              <a:rPr lang="en-GB" sz="1400" b="1" dirty="0" err="1"/>
              <a:t>Kootha</a:t>
            </a:r>
            <a:r>
              <a:rPr lang="en-GB" sz="1400" b="1" dirty="0"/>
              <a:t> ($51 M) and  </a:t>
            </a:r>
            <a:r>
              <a:rPr lang="en-GB" sz="1400" b="1" dirty="0" err="1"/>
              <a:t>Jutik</a:t>
            </a:r>
            <a:r>
              <a:rPr lang="en-GB" sz="1400" b="1" dirty="0"/>
              <a:t> ($91M), largely due to lower Chemical and Labour Expenditure. </a:t>
            </a:r>
            <a:endParaRPr lang="en-AU" sz="1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26C0C-ABE4-436D-9169-215E6A514CFF}"/>
              </a:ext>
            </a:extLst>
          </p:cNvPr>
          <p:cNvCxnSpPr/>
          <p:nvPr/>
        </p:nvCxnSpPr>
        <p:spPr>
          <a:xfrm>
            <a:off x="171451" y="669615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0746F9E-5C3C-2574-66CA-DACCD83156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444258"/>
              </p:ext>
            </p:extLst>
          </p:nvPr>
        </p:nvGraphicFramePr>
        <p:xfrm>
          <a:off x="171451" y="1676967"/>
          <a:ext cx="4126070" cy="2507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ADA955B-91AB-3746-A81B-A3875632CF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6186962"/>
              </p:ext>
            </p:extLst>
          </p:nvPr>
        </p:nvGraphicFramePr>
        <p:xfrm>
          <a:off x="4663917" y="1676967"/>
          <a:ext cx="4031720" cy="2507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1832C8C-BF62-964F-A7B6-A586977A87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5444701"/>
              </p:ext>
            </p:extLst>
          </p:nvPr>
        </p:nvGraphicFramePr>
        <p:xfrm>
          <a:off x="2327990" y="4213803"/>
          <a:ext cx="4126070" cy="2507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938ED917-15D8-99FF-B192-C51A15B3A276}"/>
              </a:ext>
            </a:extLst>
          </p:cNvPr>
          <p:cNvSpPr txBox="1">
            <a:spLocks/>
          </p:cNvSpPr>
          <p:nvPr/>
        </p:nvSpPr>
        <p:spPr bwMode="auto">
          <a:xfrm>
            <a:off x="171450" y="266240"/>
            <a:ext cx="8737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b="1" kern="0" dirty="0"/>
              <a:t>Cost Breakdown by Unit</a:t>
            </a:r>
            <a:endParaRPr lang="en-AU" b="1" kern="0" dirty="0"/>
          </a:p>
        </p:txBody>
      </p:sp>
    </p:spTree>
    <p:extLst>
      <p:ext uri="{BB962C8B-B14F-4D97-AF65-F5344CB8AC3E}">
        <p14:creationId xmlns:p14="http://schemas.microsoft.com/office/powerpoint/2010/main" val="91141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7C96-13BD-4F0C-B379-77591A18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1" y="692945"/>
            <a:ext cx="8737599" cy="646331"/>
          </a:xfrm>
        </p:spPr>
        <p:txBody>
          <a:bodyPr/>
          <a:lstStyle/>
          <a:p>
            <a:r>
              <a:rPr lang="en-GB" sz="1400" b="1" dirty="0"/>
              <a:t>Drilling-down to the cost-element level, reveals an indicative relationship between water production and chemical expenditure with this being particularly pronounced for the </a:t>
            </a:r>
            <a:r>
              <a:rPr lang="en-GB" sz="1400" b="1" dirty="0" err="1"/>
              <a:t>Surjek</a:t>
            </a:r>
            <a:r>
              <a:rPr lang="en-GB" sz="1400" b="1" dirty="0"/>
              <a:t> Unit which coincidentally has the highest rate of water production. </a:t>
            </a:r>
            <a:endParaRPr lang="en-AU" sz="1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26C0C-ABE4-436D-9169-215E6A514CFF}"/>
              </a:ext>
            </a:extLst>
          </p:cNvPr>
          <p:cNvCxnSpPr/>
          <p:nvPr/>
        </p:nvCxnSpPr>
        <p:spPr>
          <a:xfrm>
            <a:off x="171451" y="616746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19069C0-157C-6D6A-3469-DFC00E8378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1284611"/>
              </p:ext>
            </p:extLst>
          </p:nvPr>
        </p:nvGraphicFramePr>
        <p:xfrm>
          <a:off x="524933" y="1688831"/>
          <a:ext cx="3866091" cy="2437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874F390-E64A-1E40-A208-9B6CAC9A9B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835982"/>
              </p:ext>
            </p:extLst>
          </p:nvPr>
        </p:nvGraphicFramePr>
        <p:xfrm>
          <a:off x="4480719" y="1688831"/>
          <a:ext cx="3866091" cy="2437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1DDF01E-FFB9-D743-BCD1-360EC500D2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104217"/>
              </p:ext>
            </p:extLst>
          </p:nvPr>
        </p:nvGraphicFramePr>
        <p:xfrm>
          <a:off x="2547673" y="4126398"/>
          <a:ext cx="3866091" cy="2437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163FE2B-91F7-CD12-20D0-380E03DAAE70}"/>
              </a:ext>
            </a:extLst>
          </p:cNvPr>
          <p:cNvSpPr txBox="1">
            <a:spLocks/>
          </p:cNvSpPr>
          <p:nvPr/>
        </p:nvSpPr>
        <p:spPr bwMode="auto">
          <a:xfrm>
            <a:off x="171450" y="266240"/>
            <a:ext cx="8737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b="1" kern="0" dirty="0"/>
              <a:t>Operational Efficiency</a:t>
            </a:r>
            <a:endParaRPr lang="en-AU" b="1" kern="0" dirty="0"/>
          </a:p>
        </p:txBody>
      </p:sp>
    </p:spTree>
    <p:extLst>
      <p:ext uri="{BB962C8B-B14F-4D97-AF65-F5344CB8AC3E}">
        <p14:creationId xmlns:p14="http://schemas.microsoft.com/office/powerpoint/2010/main" val="2776998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7C96-13BD-4F0C-B379-77591A18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19" y="603426"/>
            <a:ext cx="8737599" cy="623248"/>
          </a:xfrm>
        </p:spPr>
        <p:txBody>
          <a:bodyPr/>
          <a:lstStyle/>
          <a:p>
            <a:r>
              <a:rPr lang="en-AU" sz="1350" b="1" dirty="0"/>
              <a:t>Concluding our analysis, </a:t>
            </a:r>
            <a:r>
              <a:rPr lang="en-AU" sz="1350" b="1" dirty="0" err="1"/>
              <a:t>Jutik</a:t>
            </a:r>
            <a:r>
              <a:rPr lang="en-AU" sz="1350" b="1" dirty="0"/>
              <a:t> has the highest overall EBIT contributions ($73M), followed by </a:t>
            </a:r>
            <a:r>
              <a:rPr lang="en-AU" sz="1350" b="1" dirty="0" err="1"/>
              <a:t>Surjek</a:t>
            </a:r>
            <a:r>
              <a:rPr lang="en-AU" sz="1350" b="1" dirty="0"/>
              <a:t> ($23M), and lastly </a:t>
            </a:r>
            <a:r>
              <a:rPr lang="en-AU" sz="1350" b="1" dirty="0" err="1"/>
              <a:t>Kootha</a:t>
            </a:r>
            <a:r>
              <a:rPr lang="en-AU" sz="1350" b="1" dirty="0"/>
              <a:t> ($20M). However, from an EBIT  Margin (%) perspective, Kootha has a higher margin than that of </a:t>
            </a:r>
            <a:r>
              <a:rPr lang="en-AU" sz="1350" b="1" dirty="0" err="1"/>
              <a:t>Surjek</a:t>
            </a:r>
            <a:r>
              <a:rPr lang="en-AU" sz="1350" b="1" dirty="0"/>
              <a:t>, indicative of a lower revenue-to-expense ratio.¹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EFAD5F-5947-4F50-9D03-73E482BF7380}"/>
              </a:ext>
            </a:extLst>
          </p:cNvPr>
          <p:cNvSpPr txBox="1"/>
          <p:nvPr/>
        </p:nvSpPr>
        <p:spPr>
          <a:xfrm>
            <a:off x="134995" y="6351664"/>
            <a:ext cx="851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b="1" dirty="0"/>
              <a:t>Note:¹ We can clearly see for Surjek over the October, November and May Periods – expenses were far higher than revenues which contributed to this lower revenue-to-expense ratio.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8A3BF8-BBF4-43D8-9B9B-1BA918AB5CD5}"/>
              </a:ext>
            </a:extLst>
          </p:cNvPr>
          <p:cNvCxnSpPr/>
          <p:nvPr/>
        </p:nvCxnSpPr>
        <p:spPr>
          <a:xfrm>
            <a:off x="171451" y="599812"/>
            <a:ext cx="84391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A3146F5-E907-F832-2FDA-41B45D8F3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4310003"/>
              </p:ext>
            </p:extLst>
          </p:nvPr>
        </p:nvGraphicFramePr>
        <p:xfrm>
          <a:off x="0" y="2166804"/>
          <a:ext cx="4075452" cy="2931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BE449DF-ABF7-AEDE-68A3-97B97FBC85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5426695"/>
              </p:ext>
            </p:extLst>
          </p:nvPr>
        </p:nvGraphicFramePr>
        <p:xfrm>
          <a:off x="4075452" y="2166804"/>
          <a:ext cx="4742307" cy="2721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F4F6696-1F93-FED5-27E0-5BAA8CE3CDC5}"/>
              </a:ext>
            </a:extLst>
          </p:cNvPr>
          <p:cNvSpPr txBox="1">
            <a:spLocks/>
          </p:cNvSpPr>
          <p:nvPr/>
        </p:nvSpPr>
        <p:spPr bwMode="auto">
          <a:xfrm>
            <a:off x="171450" y="266240"/>
            <a:ext cx="8737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000" b="0" baseline="0">
                <a:solidFill>
                  <a:schemeClr val="accent3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b="1" kern="0" dirty="0"/>
              <a:t>Operational Efficiency</a:t>
            </a:r>
            <a:endParaRPr lang="en-AU" b="1" kern="0" dirty="0"/>
          </a:p>
        </p:txBody>
      </p:sp>
    </p:spTree>
    <p:extLst>
      <p:ext uri="{BB962C8B-B14F-4D97-AF65-F5344CB8AC3E}">
        <p14:creationId xmlns:p14="http://schemas.microsoft.com/office/powerpoint/2010/main" val="44480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  <p:tag name="TYPE" val="McK Mo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heme/theme1.xml><?xml version="1.0" encoding="utf-8"?>
<a:theme xmlns:a="http://schemas.openxmlformats.org/drawingml/2006/main" name="1_Synergy_CF_YNR013">
  <a:themeElements>
    <a:clrScheme name="Current">
      <a:dk1>
        <a:srgbClr val="000000"/>
      </a:dk1>
      <a:lt1>
        <a:srgbClr val="FFFFFF"/>
      </a:lt1>
      <a:dk2>
        <a:srgbClr val="FBC14E"/>
      </a:dk2>
      <a:lt2>
        <a:srgbClr val="FFFFFF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FBC14E"/>
        </a:dk2>
        <a:lt2>
          <a:srgbClr val="FFFFFF"/>
        </a:lt2>
        <a:accent1>
          <a:srgbClr val="99AABE"/>
        </a:accent1>
        <a:accent2>
          <a:srgbClr val="406085"/>
        </a:accent2>
        <a:accent3>
          <a:srgbClr val="002C46"/>
        </a:accent3>
        <a:accent4>
          <a:srgbClr val="FBC14E"/>
        </a:accent4>
        <a:accent5>
          <a:srgbClr val="379BBD"/>
        </a:accent5>
        <a:accent6>
          <a:srgbClr val="808080"/>
        </a:accent6>
        <a:hlink>
          <a:srgbClr val="002C46"/>
        </a:hlink>
        <a:folHlink>
          <a:srgbClr val="FBC1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ynergy_CF_YNR013.potx" id="{5B0B8770-4875-4F3D-A851-ED2332DB7D84}" vid="{3E5BE603-DDA9-4662-BF9D-F22E8644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15220</TotalTime>
  <Words>808</Words>
  <Application>Microsoft Macintosh PowerPoint</Application>
  <PresentationFormat>Custom</PresentationFormat>
  <Paragraphs>89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1_Synergy_CF_YNR013</vt:lpstr>
      <vt:lpstr>think-cell Slide</vt:lpstr>
      <vt:lpstr>PowerPoint Presentation</vt:lpstr>
      <vt:lpstr>PowerPoint Presentation</vt:lpstr>
      <vt:lpstr> Private Water Hedge Sales lead overall revenues, contributing $187M, followed by Public Sales ($147M) and lastly Residential Sales ($102M). </vt:lpstr>
      <vt:lpstr> Surjek drives half of all company sales ($202M), with Jutik close behind ($164M) and Kootha ($71M)</vt:lpstr>
      <vt:lpstr>Targeted Expense Analysis reveals an interesting trend; Overall Costs sharply increase from December, with Surjek, contributing $179M (56%) towards the overall cost-base.   </vt:lpstr>
      <vt:lpstr>Further analysis singles-out that Surjek with $179M (56%) worth of expenses, contrasted to a much lower spend from Kootha ($51 M) and  Jutik ($91M), largely due to lower Chemical and Labour Expenditure. </vt:lpstr>
      <vt:lpstr>Drilling-down to the cost-element level, reveals an indicative relationship between water production and chemical expenditure with this being particularly pronounced for the Surjek Unit which coincidentally has the highest rate of water production. </vt:lpstr>
      <vt:lpstr>Concluding our analysis, Jutik has the highest overall EBIT contributions ($73M), followed by Surjek ($23M), and lastly Kootha ($20M). However, from an EBIT  Margin (%) perspective, Kootha has a higher margin than that of Surjek, indicative of a lower revenue-to-expense ratio.¹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Through focusing our efforts on the units with the majority of questions; we can be confident that we are improving the overall User Experience etc.</dc:title>
  <dc:creator>Christopher H</dc:creator>
  <cp:lastModifiedBy>Ariel Sebastian Farelas Lazaro</cp:lastModifiedBy>
  <cp:revision>67</cp:revision>
  <dcterms:created xsi:type="dcterms:W3CDTF">2020-04-12T13:23:13Z</dcterms:created>
  <dcterms:modified xsi:type="dcterms:W3CDTF">2025-10-18T13:41:36Z</dcterms:modified>
</cp:coreProperties>
</file>