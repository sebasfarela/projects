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r:id="rId7" roundtripDataSignature="AMtx7mjdo7FECp685JsX7/4pIVeoAktj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36"/>
    <p:restoredTop sz="64712"/>
  </p:normalViewPr>
  <p:slideViewPr>
    <p:cSldViewPr snapToGrid="0">
      <p:cViewPr varScale="1">
        <p:scale>
          <a:sx n="97" d="100"/>
          <a:sy n="97" d="100"/>
        </p:scale>
        <p:origin x="200" y="2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-32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customschemas.google.com/relationships/presentationmetadata" Target="metadata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iel Sebastian Farelas Lazaro" userId="1a9187d6-15d9-4228-a7e1-8dd89972ed52" providerId="ADAL" clId="{5269C98D-A1E5-4148-9920-EDEBE0EFC29F}"/>
    <pc:docChg chg="custSel delSld modSld">
      <pc:chgData name="Ariel Sebastian Farelas Lazaro" userId="1a9187d6-15d9-4228-a7e1-8dd89972ed52" providerId="ADAL" clId="{5269C98D-A1E5-4148-9920-EDEBE0EFC29F}" dt="2025-08-11T02:40:36.240" v="1339" actId="20577"/>
      <pc:docMkLst>
        <pc:docMk/>
      </pc:docMkLst>
      <pc:sldChg chg="modSp mod">
        <pc:chgData name="Ariel Sebastian Farelas Lazaro" userId="1a9187d6-15d9-4228-a7e1-8dd89972ed52" providerId="ADAL" clId="{5269C98D-A1E5-4148-9920-EDEBE0EFC29F}" dt="2025-08-11T02:40:36.240" v="1339" actId="20577"/>
        <pc:sldMkLst>
          <pc:docMk/>
          <pc:sldMk cId="0" sldId="256"/>
        </pc:sldMkLst>
        <pc:spChg chg="mod">
          <ac:chgData name="Ariel Sebastian Farelas Lazaro" userId="1a9187d6-15d9-4228-a7e1-8dd89972ed52" providerId="ADAL" clId="{5269C98D-A1E5-4148-9920-EDEBE0EFC29F}" dt="2025-08-11T02:24:31.446" v="446" actId="20577"/>
          <ac:spMkLst>
            <pc:docMk/>
            <pc:sldMk cId="0" sldId="256"/>
            <ac:spMk id="34" creationId="{00000000-0000-0000-0000-000000000000}"/>
          </ac:spMkLst>
        </pc:spChg>
        <pc:spChg chg="mod">
          <ac:chgData name="Ariel Sebastian Farelas Lazaro" userId="1a9187d6-15d9-4228-a7e1-8dd89972ed52" providerId="ADAL" clId="{5269C98D-A1E5-4148-9920-EDEBE0EFC29F}" dt="2025-08-11T02:27:12.143" v="616" actId="20577"/>
          <ac:spMkLst>
            <pc:docMk/>
            <pc:sldMk cId="0" sldId="256"/>
            <ac:spMk id="35" creationId="{00000000-0000-0000-0000-000000000000}"/>
          </ac:spMkLst>
        </pc:spChg>
        <pc:spChg chg="mod">
          <ac:chgData name="Ariel Sebastian Farelas Lazaro" userId="1a9187d6-15d9-4228-a7e1-8dd89972ed52" providerId="ADAL" clId="{5269C98D-A1E5-4148-9920-EDEBE0EFC29F}" dt="2025-08-11T02:31:36.553" v="782" actId="20577"/>
          <ac:spMkLst>
            <pc:docMk/>
            <pc:sldMk cId="0" sldId="256"/>
            <ac:spMk id="36" creationId="{00000000-0000-0000-0000-000000000000}"/>
          </ac:spMkLst>
        </pc:spChg>
        <pc:spChg chg="mod">
          <ac:chgData name="Ariel Sebastian Farelas Lazaro" userId="1a9187d6-15d9-4228-a7e1-8dd89972ed52" providerId="ADAL" clId="{5269C98D-A1E5-4148-9920-EDEBE0EFC29F}" dt="2025-08-11T02:36:32.851" v="1166" actId="20577"/>
          <ac:spMkLst>
            <pc:docMk/>
            <pc:sldMk cId="0" sldId="256"/>
            <ac:spMk id="37" creationId="{00000000-0000-0000-0000-000000000000}"/>
          </ac:spMkLst>
        </pc:spChg>
        <pc:spChg chg="mod">
          <ac:chgData name="Ariel Sebastian Farelas Lazaro" userId="1a9187d6-15d9-4228-a7e1-8dd89972ed52" providerId="ADAL" clId="{5269C98D-A1E5-4148-9920-EDEBE0EFC29F}" dt="2025-08-11T02:40:36.240" v="1339" actId="20577"/>
          <ac:spMkLst>
            <pc:docMk/>
            <pc:sldMk cId="0" sldId="256"/>
            <ac:spMk id="38" creationId="{00000000-0000-0000-0000-000000000000}"/>
          </ac:spMkLst>
        </pc:spChg>
        <pc:spChg chg="mod">
          <ac:chgData name="Ariel Sebastian Farelas Lazaro" userId="1a9187d6-15d9-4228-a7e1-8dd89972ed52" providerId="ADAL" clId="{5269C98D-A1E5-4148-9920-EDEBE0EFC29F}" dt="2025-08-11T02:37:09.179" v="1184" actId="20577"/>
          <ac:spMkLst>
            <pc:docMk/>
            <pc:sldMk cId="0" sldId="256"/>
            <ac:spMk id="47" creationId="{00000000-0000-0000-0000-000000000000}"/>
          </ac:spMkLst>
        </pc:spChg>
        <pc:spChg chg="mod">
          <ac:chgData name="Ariel Sebastian Farelas Lazaro" userId="1a9187d6-15d9-4228-a7e1-8dd89972ed52" providerId="ADAL" clId="{5269C98D-A1E5-4148-9920-EDEBE0EFC29F}" dt="2025-08-11T02:15:10.188" v="245" actId="20577"/>
          <ac:spMkLst>
            <pc:docMk/>
            <pc:sldMk cId="0" sldId="256"/>
            <ac:spMk id="48" creationId="{00000000-0000-0000-0000-000000000000}"/>
          </ac:spMkLst>
        </pc:spChg>
      </pc:sldChg>
      <pc:sldChg chg="del">
        <pc:chgData name="Ariel Sebastian Farelas Lazaro" userId="1a9187d6-15d9-4228-a7e1-8dd89972ed52" providerId="ADAL" clId="{5269C98D-A1E5-4148-9920-EDEBE0EFC29F}" dt="2025-08-11T02:15:58.070" v="246" actId="2696"/>
        <pc:sldMkLst>
          <pc:docMk/>
          <pc:sldMk cId="2706669158" sldId="25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A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 txBox="1">
            <a:spLocks noGrp="1"/>
          </p:cNvSpPr>
          <p:nvPr>
            <p:ph type="sldNum" idx="12"/>
          </p:nvPr>
        </p:nvSpPr>
        <p:spPr>
          <a:xfrm>
            <a:off x="6042320" y="9493393"/>
            <a:ext cx="169918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lang="en-AU" sz="1800" b="0" i="0" u="none" strike="noStrike" cap="none">
                <a:solidFill>
                  <a:srgbClr val="000000"/>
                </a:solidFill>
              </a:rPr>
              <a:t>1</a:t>
            </a:fld>
            <a:endParaRPr sz="1800" b="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17" name="Google Shape;1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319338" y="1265238"/>
            <a:ext cx="11201401" cy="8401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" name="Google Shape;18;p1:notes"/>
          <p:cNvSpPr txBox="1">
            <a:spLocks noGrp="1"/>
          </p:cNvSpPr>
          <p:nvPr>
            <p:ph type="body" idx="1"/>
          </p:nvPr>
        </p:nvSpPr>
        <p:spPr>
          <a:xfrm>
            <a:off x="789535" y="605318"/>
            <a:ext cx="547079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AU" b="1" dirty="0"/>
              <a:t>Hypothesis: </a:t>
            </a:r>
            <a:r>
              <a:rPr lang="en-AU" sz="12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a Hypothesis with an emphasis on SMART principles. </a:t>
            </a:r>
            <a:r>
              <a:rPr lang="en-AU" sz="1200" b="1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AU" sz="1200" b="1" i="1" dirty="0"/>
              <a:t>S – Specific, M – Measurable, A – Achievable, R – Realistic, T – Timebound). </a:t>
            </a:r>
            <a:r>
              <a:rPr lang="en-AU" sz="1200" b="0" i="0" dirty="0"/>
              <a:t>If you cannot do this, you </a:t>
            </a:r>
            <a:r>
              <a:rPr lang="en-AU" sz="1200" b="1" i="0" dirty="0"/>
              <a:t>do not</a:t>
            </a:r>
            <a:r>
              <a:rPr lang="en-AU" sz="1200" b="0" i="0" dirty="0"/>
              <a:t> have a good grasp on the business problem.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AU" b="1" dirty="0"/>
              <a:t>Context: </a:t>
            </a:r>
            <a:r>
              <a:rPr lang="en-AU" sz="1200" dirty="0"/>
              <a:t>With context, we have </a:t>
            </a:r>
            <a:r>
              <a:rPr lang="en-AU" sz="1200" b="1" u="sng" dirty="0"/>
              <a:t>clearly identified the problem at hand </a:t>
            </a:r>
            <a:r>
              <a:rPr lang="en-AU" sz="1200" dirty="0"/>
              <a:t>and have elucidated on how our initiative may solve this problem, alongside the commercial implications this will have on the business. 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AU" b="1" dirty="0"/>
              <a:t>Criteria for Success</a:t>
            </a:r>
            <a:r>
              <a:rPr lang="en-AU" b="0" dirty="0"/>
              <a:t>: Clearly defining the criteria for success ensures that the scope of your work is clearly defined and understood. Otherwise, if this isn’t defined – your work will never end which will result in mismatched expectations.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AU" b="1" dirty="0"/>
              <a:t>Scope of Solution Space: </a:t>
            </a:r>
            <a:r>
              <a:rPr lang="en-AU" b="0" dirty="0"/>
              <a:t>Scoping out the solution space ensures that the business initiative is SPECIFIC for a certain segment or area. This prevents solutions that have been developed being scaled and applied for all other business units that the solution may not be responsible or scalable for.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AU" b="1" dirty="0"/>
              <a:t>Constraints within Solution Space: </a:t>
            </a:r>
            <a:r>
              <a:rPr lang="en-AU" b="0" dirty="0"/>
              <a:t>Looking forward, what are the foreseeable problems we are likely to encounter? Could this be stakeholder resistance? Could this be we don’t have access to the right data? 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AU" b="1" dirty="0"/>
              <a:t>Stakeholders to provide key insight: </a:t>
            </a:r>
            <a:r>
              <a:rPr lang="en-AU" b="0" dirty="0"/>
              <a:t>Who are the people I need to speak to, to get the answers I need for my data analysis?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AU" b="1" dirty="0"/>
              <a:t>What key data sources are required</a:t>
            </a:r>
            <a:r>
              <a:rPr lang="en-AU" b="0" dirty="0"/>
              <a:t>?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AU" b="0" dirty="0"/>
              <a:t>Based off my discussions with the key stakeholders – can we clearly list out all the data sources we need so we can make a highly targeted request as opposed to a scatter-gun approach where we ask for a bit of everything?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1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174945" y="234863"/>
            <a:ext cx="8794113" cy="29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298444" y="37255"/>
            <a:ext cx="670614" cy="12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6"/>
              <a:buFont typeface="Arial"/>
              <a:buNone/>
            </a:pPr>
            <a:endParaRPr sz="81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2343099" y="2570857"/>
            <a:ext cx="4389768" cy="125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81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40"/>
              <a:buFont typeface="Arial"/>
              <a:buChar char="▪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293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58"/>
              <a:buFont typeface="Arial"/>
              <a:buChar char="–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293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58"/>
              <a:buFont typeface="Arial"/>
              <a:buChar char="▫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080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80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080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080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080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174945" y="234863"/>
            <a:ext cx="8794113" cy="29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"/>
          <p:cNvSpPr/>
          <p:nvPr/>
        </p:nvSpPr>
        <p:spPr>
          <a:xfrm>
            <a:off x="137949" y="1576013"/>
            <a:ext cx="4344156" cy="4681063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endParaRPr sz="142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87388" y="1576013"/>
            <a:ext cx="4344156" cy="4681063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endParaRPr sz="142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218936" y="1618127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spcFirstLastPara="1" wrap="square" lIns="47575" tIns="47575" rIns="47575" bIns="47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28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668375" y="1618127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spcFirstLastPara="1" wrap="square" lIns="47575" tIns="47575" rIns="47575" bIns="47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01195" y="1650181"/>
            <a:ext cx="3597454" cy="2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050634" y="1650181"/>
            <a:ext cx="3597454" cy="2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Constraints within solution space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4668375" y="3207096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spcFirstLastPara="1" wrap="square" lIns="47575" tIns="47575" rIns="47575" bIns="47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218936" y="3207096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spcFirstLastPara="1" wrap="square" lIns="47575" tIns="47575" rIns="47575" bIns="47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601195" y="3239152"/>
            <a:ext cx="3597454" cy="2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Criteria for success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5050634" y="3239152"/>
            <a:ext cx="3597454" cy="2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Stakeholders to provide key insight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218936" y="4797685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spcFirstLastPara="1" wrap="square" lIns="47575" tIns="47575" rIns="47575" bIns="47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4668375" y="4797685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spcFirstLastPara="1" wrap="square" lIns="47575" tIns="47575" rIns="47575" bIns="47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601195" y="4831972"/>
            <a:ext cx="3597454" cy="219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Scope of solution space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5050634" y="4829741"/>
            <a:ext cx="3597454" cy="2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>
                <a:solidFill>
                  <a:schemeClr val="dk1"/>
                </a:solidFill>
              </a:rPr>
              <a:t>Key</a:t>
            </a:r>
            <a:r>
              <a:rPr lang="en-AU" sz="142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data sources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143108" y="1964976"/>
            <a:ext cx="4324418" cy="1245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7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Logistics Co is a firm that delivers shipments across the country. However, as the company grows, the returns on items have growth as well. We need to find a strategy to reduce this. </a:t>
            </a:r>
            <a:endParaRPr dirty="0"/>
          </a:p>
        </p:txBody>
      </p:sp>
      <p:sp>
        <p:nvSpPr>
          <p:cNvPr id="35" name="Google Shape;35;p1"/>
          <p:cNvSpPr txBox="1"/>
          <p:nvPr/>
        </p:nvSpPr>
        <p:spPr>
          <a:xfrm>
            <a:off x="143108" y="3538874"/>
            <a:ext cx="4324418" cy="141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71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Success for this project=Finding a strategy to reduce the number of returned items from standard class at least by 25% over the next 6 months from now.</a:t>
            </a:r>
            <a:endParaRPr sz="1071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"/>
          <p:cNvSpPr txBox="1"/>
          <p:nvPr/>
        </p:nvSpPr>
        <p:spPr>
          <a:xfrm>
            <a:off x="186842" y="5184805"/>
            <a:ext cx="4324418" cy="751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71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 why the people return the </a:t>
            </a:r>
            <a:r>
              <a:rPr lang="en-AU" sz="1071" b="1" dirty="0"/>
              <a:t>standard class items more often compared to other higher tier classes.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"/>
          <p:cNvSpPr txBox="1"/>
          <p:nvPr/>
        </p:nvSpPr>
        <p:spPr>
          <a:xfrm>
            <a:off x="4558232" y="1963919"/>
            <a:ext cx="4324418" cy="1081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70" b="1" dirty="0"/>
              <a:t>Client surveys could not be doable since will require logistics and therefore more investment.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7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Timeframe is very tight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70" b="1" dirty="0"/>
              <a:t>Missing data and data quality is not completely accurate to reach the most representative solution</a:t>
            </a:r>
            <a:endParaRPr sz="107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4590928" y="5085174"/>
            <a:ext cx="4324418" cy="1081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7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Shipments database from previous months to find inconsistencies, then clean the data and compare it to the one sent by Chris Hui. </a:t>
            </a:r>
            <a:endParaRPr sz="107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6633337" y="6524418"/>
            <a:ext cx="432048" cy="205317"/>
          </a:xfrm>
          <a:prstGeom prst="chevron">
            <a:avLst>
              <a:gd name="adj" fmla="val 50000"/>
            </a:avLst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AU" sz="12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7028512" y="6513711"/>
            <a:ext cx="432048" cy="216024"/>
          </a:xfrm>
          <a:prstGeom prst="chevron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AU" sz="12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7452320" y="6503004"/>
            <a:ext cx="432048" cy="216024"/>
          </a:xfrm>
          <a:prstGeom prst="chevron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AU" sz="12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7846662" y="6508081"/>
            <a:ext cx="432048" cy="216024"/>
          </a:xfrm>
          <a:prstGeom prst="chevron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AU" sz="12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8245692" y="6503004"/>
            <a:ext cx="432048" cy="216024"/>
          </a:xfrm>
          <a:prstGeom prst="chevron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AU" sz="12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8099130" y="707128"/>
            <a:ext cx="432048" cy="205317"/>
          </a:xfrm>
          <a:prstGeom prst="chevron">
            <a:avLst>
              <a:gd name="adj" fmla="val 50000"/>
            </a:avLst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AU" sz="12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121750" y="116631"/>
            <a:ext cx="7724912" cy="1137079"/>
          </a:xfrm>
          <a:prstGeom prst="wedgeRectCallout">
            <a:avLst>
              <a:gd name="adj1" fmla="val 53513"/>
              <a:gd name="adj2" fmla="val 6588"/>
            </a:avLst>
          </a:prstGeom>
          <a:solidFill>
            <a:srgbClr val="FEF2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"/>
          <p:cNvSpPr txBox="1">
            <a:spLocks noGrp="1"/>
          </p:cNvSpPr>
          <p:nvPr>
            <p:ph type="title"/>
          </p:nvPr>
        </p:nvSpPr>
        <p:spPr>
          <a:xfrm>
            <a:off x="184140" y="189590"/>
            <a:ext cx="879359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AU" sz="2000">
                <a:solidFill>
                  <a:srgbClr val="2974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Problem Statement Worksheet (Hypothesis Formation)</a:t>
            </a:r>
            <a:endParaRPr/>
          </a:p>
        </p:txBody>
      </p:sp>
      <p:sp>
        <p:nvSpPr>
          <p:cNvPr id="47" name="Google Shape;47;p1"/>
          <p:cNvSpPr txBox="1"/>
          <p:nvPr/>
        </p:nvSpPr>
        <p:spPr>
          <a:xfrm>
            <a:off x="4607126" y="3547600"/>
            <a:ext cx="4324418" cy="1081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71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Manager. Chris Hui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"/>
          <p:cNvSpPr txBox="1"/>
          <p:nvPr/>
        </p:nvSpPr>
        <p:spPr>
          <a:xfrm>
            <a:off x="184140" y="540901"/>
            <a:ext cx="858464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AU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can Logistics Co reduce the number of returned items by at least 25% over the next 6 months by focusing on where the largest number of returned items are occurring despite the missing data and the data quality issues. </a:t>
            </a: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ynergy_CF_YNR002">
  <a:themeElements>
    <a:clrScheme name="Current">
      <a:dk1>
        <a:srgbClr val="002C46"/>
      </a:dk1>
      <a:lt1>
        <a:srgbClr val="FFFFFF"/>
      </a:lt1>
      <a:dk2>
        <a:srgbClr val="FBC14E"/>
      </a:dk2>
      <a:lt2>
        <a:srgbClr val="879C16"/>
      </a:lt2>
      <a:accent1>
        <a:srgbClr val="99AABE"/>
      </a:accent1>
      <a:accent2>
        <a:srgbClr val="406085"/>
      </a:accent2>
      <a:accent3>
        <a:srgbClr val="002C46"/>
      </a:accent3>
      <a:accent4>
        <a:srgbClr val="FBC14E"/>
      </a:accent4>
      <a:accent5>
        <a:srgbClr val="379BBD"/>
      </a:accent5>
      <a:accent6>
        <a:srgbClr val="808080"/>
      </a:accent6>
      <a:hlink>
        <a:srgbClr val="002C46"/>
      </a:hlink>
      <a:folHlink>
        <a:srgbClr val="FBC14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525</Words>
  <Application>Microsoft Macintosh PowerPoint</Application>
  <PresentationFormat>On-screen Show (4:3)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Quattrocento Sans</vt:lpstr>
      <vt:lpstr>Synergy_CF_YNR002</vt:lpstr>
      <vt:lpstr>Problem Statement Worksheet (Hypothesis Formation)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Christopher H</dc:creator>
  <cp:lastModifiedBy>Ariel Sebastian Farelas Lazaro</cp:lastModifiedBy>
  <cp:revision>1</cp:revision>
  <dcterms:modified xsi:type="dcterms:W3CDTF">2025-08-11T02:40:42Z</dcterms:modified>
</cp:coreProperties>
</file>