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391" r:id="rId2"/>
    <p:sldId id="267" r:id="rId3"/>
    <p:sldId id="393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5B"/>
    <a:srgbClr val="29748E"/>
    <a:srgbClr val="EE226E"/>
    <a:srgbClr val="BDBDBD"/>
    <a:srgbClr val="00C0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7" autoAdjust="0"/>
    <p:restoredTop sz="89934" autoAdjust="0"/>
  </p:normalViewPr>
  <p:slideViewPr>
    <p:cSldViewPr snapToGrid="0">
      <p:cViewPr varScale="1">
        <p:scale>
          <a:sx n="143" d="100"/>
          <a:sy n="143" d="100"/>
        </p:scale>
        <p:origin x="2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3CA47-F6EE-4269-87AD-87F5AEE46F5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78406-E899-4FEE-9A66-3B65095E422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3155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78406-E899-4FEE-9A66-3B65095E422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9633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BFDFB-4250-4591-8F0D-895B7AD37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23937-B7C7-467A-BA83-77A705DD8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95F04-5EE5-483B-A262-859F7A1A1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1C9B-B280-4EDA-9B6F-9E69993FCB4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EB039-59DE-4748-AABA-5AAFDF4D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F0EEB-3362-42E4-BE99-83E8F9E5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44E23-8D5E-4B20-814C-3B4936BE65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451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58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58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3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3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3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3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3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27028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7BB8BDAB-CFC6-4A72-93AB-45C55F5E566B}"/>
              </a:ext>
            </a:extLst>
          </p:cNvPr>
          <p:cNvSpPr txBox="1"/>
          <p:nvPr/>
        </p:nvSpPr>
        <p:spPr>
          <a:xfrm>
            <a:off x="641661" y="508946"/>
            <a:ext cx="81231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have the following problem statement – how would you create an Issue Tree for Logistics Co.?</a:t>
            </a:r>
          </a:p>
          <a:p>
            <a:endParaRPr lang="en-AU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69E757-9AB8-4617-BCB2-18DF6BB315A0}"/>
              </a:ext>
            </a:extLst>
          </p:cNvPr>
          <p:cNvSpPr/>
          <p:nvPr/>
        </p:nvSpPr>
        <p:spPr>
          <a:xfrm>
            <a:off x="439018" y="1263689"/>
            <a:ext cx="8123108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AU" sz="1400" b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can we </a:t>
            </a:r>
            <a:r>
              <a:rPr lang="en-AU" sz="1400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reduce the number of returned shipment items </a:t>
            </a:r>
            <a:r>
              <a:rPr lang="en-AU" sz="1400" b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 </a:t>
            </a:r>
            <a:r>
              <a:rPr lang="en-AU" sz="1400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 least 25% (184) </a:t>
            </a:r>
            <a:r>
              <a:rPr lang="en-AU" sz="1400" b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through </a:t>
            </a:r>
            <a:r>
              <a:rPr lang="en-AU" sz="1400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reductions in either Premium or Non-Premium shipping modes  costs </a:t>
            </a:r>
            <a:r>
              <a:rPr lang="en-AU" sz="1400" b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 </a:t>
            </a:r>
            <a:r>
              <a:rPr lang="en-AU" sz="1400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31</a:t>
            </a:r>
            <a:r>
              <a:rPr lang="en-AU" sz="1400" b="1" baseline="300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</a:t>
            </a:r>
            <a:r>
              <a:rPr lang="en-AU" sz="1400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December 2022?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725C11-424B-45E0-8037-3FF5AC9CE071}"/>
              </a:ext>
            </a:extLst>
          </p:cNvPr>
          <p:cNvSpPr/>
          <p:nvPr/>
        </p:nvSpPr>
        <p:spPr>
          <a:xfrm>
            <a:off x="242089" y="492867"/>
            <a:ext cx="8659822" cy="6216770"/>
          </a:xfrm>
          <a:prstGeom prst="rect">
            <a:avLst/>
          </a:prstGeom>
          <a:noFill/>
          <a:ln w="19050">
            <a:solidFill>
              <a:srgbClr val="00C0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297A-39C4-4A4D-AEA3-09D7B0A92BE8}"/>
              </a:ext>
            </a:extLst>
          </p:cNvPr>
          <p:cNvSpPr txBox="1"/>
          <p:nvPr/>
        </p:nvSpPr>
        <p:spPr>
          <a:xfrm>
            <a:off x="161200" y="91710"/>
            <a:ext cx="459946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b="1" dirty="0">
                <a:solidFill>
                  <a:srgbClr val="EE22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Driver Tree Practice for Logistics Co.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CF0A3-837E-48D3-96A0-C97C7EBDBBCA}"/>
              </a:ext>
            </a:extLst>
          </p:cNvPr>
          <p:cNvSpPr txBox="1"/>
          <p:nvPr/>
        </p:nvSpPr>
        <p:spPr>
          <a:xfrm>
            <a:off x="641661" y="1885667"/>
            <a:ext cx="81231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AU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Previously you helped build out an Issue Tree that showcases how the different issues are all connected using the opposite words technique.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driver trees are a useful tool to help prioritize which issues should be tackled as a priority through quantifying which issues have the largest strategic business value</a:t>
            </a:r>
            <a:endParaRPr lang="en-AU" sz="105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05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industry, not all issues are equally prioritized; value driver trees help focus where our attention should be placed.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the table of values in the following slides, assign values to each of your issues to help identify which issue should be our immediate priority. Good luck!</a:t>
            </a:r>
            <a:endParaRPr lang="en-AU" sz="105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30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7BB8BDAB-CFC6-4A72-93AB-45C55F5E566B}"/>
              </a:ext>
            </a:extLst>
          </p:cNvPr>
          <p:cNvSpPr txBox="1"/>
          <p:nvPr/>
        </p:nvSpPr>
        <p:spPr>
          <a:xfrm>
            <a:off x="242089" y="508946"/>
            <a:ext cx="865982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previous exercise, you’ve crafted your issue tree. We now have a series of enquiries we can take to help size up our analysis. </a:t>
            </a:r>
          </a:p>
          <a:p>
            <a:endParaRPr lang="en-AU" sz="11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11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69E757-9AB8-4617-BCB2-18DF6BB315A0}"/>
              </a:ext>
            </a:extLst>
          </p:cNvPr>
          <p:cNvSpPr/>
          <p:nvPr/>
        </p:nvSpPr>
        <p:spPr>
          <a:xfrm>
            <a:off x="510446" y="1275049"/>
            <a:ext cx="8123108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AU" sz="1400" b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can we </a:t>
            </a:r>
            <a:r>
              <a:rPr lang="en-AU" sz="1400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reduce the number of returned shipment items </a:t>
            </a:r>
            <a:r>
              <a:rPr lang="en-AU" sz="1400" b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 </a:t>
            </a:r>
            <a:r>
              <a:rPr lang="en-AU" sz="1400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 least 25% (184) </a:t>
            </a:r>
            <a:r>
              <a:rPr lang="en-AU" sz="1400" b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through </a:t>
            </a:r>
            <a:r>
              <a:rPr lang="en-AU" sz="1400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reductions in either Premium or Non-Premium shipping modes  costs </a:t>
            </a:r>
            <a:r>
              <a:rPr lang="en-AU" sz="1400" b="1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 </a:t>
            </a:r>
            <a:r>
              <a:rPr lang="en-AU" sz="1400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31</a:t>
            </a:r>
            <a:r>
              <a:rPr lang="en-AU" sz="1400" b="1" baseline="300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</a:t>
            </a:r>
            <a:r>
              <a:rPr lang="en-AU" sz="1400" b="1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December 2022?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725C11-424B-45E0-8037-3FF5AC9CE071}"/>
              </a:ext>
            </a:extLst>
          </p:cNvPr>
          <p:cNvSpPr/>
          <p:nvPr/>
        </p:nvSpPr>
        <p:spPr>
          <a:xfrm>
            <a:off x="242089" y="492867"/>
            <a:ext cx="8659822" cy="6216770"/>
          </a:xfrm>
          <a:prstGeom prst="rect">
            <a:avLst/>
          </a:prstGeom>
          <a:noFill/>
          <a:ln w="19050">
            <a:solidFill>
              <a:srgbClr val="00C0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297A-39C4-4A4D-AEA3-09D7B0A92BE8}"/>
              </a:ext>
            </a:extLst>
          </p:cNvPr>
          <p:cNvSpPr txBox="1"/>
          <p:nvPr/>
        </p:nvSpPr>
        <p:spPr>
          <a:xfrm>
            <a:off x="161200" y="91710"/>
            <a:ext cx="459946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b="1" dirty="0">
                <a:solidFill>
                  <a:srgbClr val="EE22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Driver Tree Practice for Logistics Co.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41E86-5438-A927-398C-4162D9C201D7}"/>
              </a:ext>
            </a:extLst>
          </p:cNvPr>
          <p:cNvSpPr txBox="1"/>
          <p:nvPr/>
        </p:nvSpPr>
        <p:spPr>
          <a:xfrm>
            <a:off x="242089" y="2042328"/>
            <a:ext cx="8659822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It’s now time to populate our issue tree so we can definitively focus on the </a:t>
            </a:r>
            <a:r>
              <a:rPr lang="en-AU" sz="115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issues </a:t>
            </a:r>
            <a:r>
              <a:rPr lang="en-AU" sz="11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contribute the most towards returned items!</a:t>
            </a:r>
          </a:p>
          <a:p>
            <a:endParaRPr lang="en-AU" sz="11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1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Below is a table that summarizes some initial statistics that you, and the team, have pulled together for your analysis based off the issue tree that has been outlined. </a:t>
            </a:r>
          </a:p>
          <a:p>
            <a:endParaRPr lang="en-AU" sz="11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1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this data to fill in the blanks in your value driver tree so you’ll know which areas you should focus your attention on the most for your detailed analysis!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13F2BD-59D9-F3B4-609C-62BA335A5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53" y="3672915"/>
            <a:ext cx="4322005" cy="27372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3B4EF3D-CD25-8E8B-087E-939C07BED74D}"/>
              </a:ext>
            </a:extLst>
          </p:cNvPr>
          <p:cNvSpPr txBox="1"/>
          <p:nvPr/>
        </p:nvSpPr>
        <p:spPr>
          <a:xfrm>
            <a:off x="5412419" y="3503254"/>
            <a:ext cx="3441725" cy="3131627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00705B"/>
                </a:solidFill>
              </a:rPr>
              <a:t>How to interpret this table</a:t>
            </a:r>
          </a:p>
          <a:p>
            <a:endParaRPr lang="en-A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150" dirty="0">
                <a:solidFill>
                  <a:schemeClr val="accent6"/>
                </a:solidFill>
              </a:rPr>
              <a:t>When analyzing the data here, note this is grouped together by category and sub-category.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150" dirty="0">
              <a:solidFill>
                <a:schemeClr val="accent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150" dirty="0">
                <a:solidFill>
                  <a:schemeClr val="accent6"/>
                </a:solidFill>
              </a:rPr>
              <a:t>For example, </a:t>
            </a:r>
            <a:r>
              <a:rPr lang="en-AU" sz="1150" b="1" dirty="0">
                <a:solidFill>
                  <a:srgbClr val="00705B"/>
                </a:solidFill>
              </a:rPr>
              <a:t>Corporate Packages</a:t>
            </a:r>
            <a:r>
              <a:rPr lang="en-AU" sz="1150" dirty="0">
                <a:solidFill>
                  <a:schemeClr val="accent6"/>
                </a:solidFill>
              </a:rPr>
              <a:t>, composed of 374 returned packages, it itself made up of: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AU" sz="1150" dirty="0">
              <a:solidFill>
                <a:schemeClr val="accent6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AU" sz="1150" b="1" dirty="0">
                <a:solidFill>
                  <a:srgbClr val="EE226E"/>
                </a:solidFill>
              </a:rPr>
              <a:t>305 Returned Packages coded to  Office Furniture</a:t>
            </a:r>
          </a:p>
          <a:p>
            <a:pPr lvl="1"/>
            <a:endParaRPr lang="en-AU" sz="1150" b="1" dirty="0">
              <a:solidFill>
                <a:srgbClr val="EE226E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AU" sz="1150" b="1" dirty="0">
                <a:solidFill>
                  <a:srgbClr val="29748E"/>
                </a:solidFill>
              </a:rPr>
              <a:t>The 305, is itself composed of 297 Returned Packages from Fully Assembled, and 8 Self-Assembled</a:t>
            </a:r>
          </a:p>
          <a:p>
            <a:endParaRPr lang="en-AU" sz="1200" dirty="0"/>
          </a:p>
          <a:p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2505743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69E757-9AB8-4617-BCB2-18DF6BB315A0}"/>
              </a:ext>
            </a:extLst>
          </p:cNvPr>
          <p:cNvSpPr/>
          <p:nvPr/>
        </p:nvSpPr>
        <p:spPr>
          <a:xfrm>
            <a:off x="445842" y="3431894"/>
            <a:ext cx="1687758" cy="954107"/>
          </a:xfrm>
          <a:prstGeom prst="rect">
            <a:avLst/>
          </a:prstGeom>
          <a:solidFill>
            <a:srgbClr val="00705B"/>
          </a:solidFill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can we reduce the number of returned shipment items by at least 25% (184) through reductions in either Premium or Non-Premium shipping mode returns by 31st December 2022?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725C11-424B-45E0-8037-3FF5AC9CE071}"/>
              </a:ext>
            </a:extLst>
          </p:cNvPr>
          <p:cNvSpPr/>
          <p:nvPr/>
        </p:nvSpPr>
        <p:spPr>
          <a:xfrm>
            <a:off x="242089" y="492867"/>
            <a:ext cx="8659822" cy="6216770"/>
          </a:xfrm>
          <a:prstGeom prst="rect">
            <a:avLst/>
          </a:prstGeom>
          <a:noFill/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297A-39C4-4A4D-AEA3-09D7B0A92BE8}"/>
              </a:ext>
            </a:extLst>
          </p:cNvPr>
          <p:cNvSpPr txBox="1"/>
          <p:nvPr/>
        </p:nvSpPr>
        <p:spPr>
          <a:xfrm>
            <a:off x="161200" y="91710"/>
            <a:ext cx="459946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50" b="1" dirty="0">
                <a:solidFill>
                  <a:srgbClr val="EE22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Driver Tree Practice for Logistics Co.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99B678-CD6C-447E-8D72-4FEAB43BAB1D}"/>
              </a:ext>
            </a:extLst>
          </p:cNvPr>
          <p:cNvSpPr/>
          <p:nvPr/>
        </p:nvSpPr>
        <p:spPr>
          <a:xfrm>
            <a:off x="2586038" y="2903530"/>
            <a:ext cx="923925" cy="349931"/>
          </a:xfrm>
          <a:prstGeom prst="rect">
            <a:avLst/>
          </a:prstGeom>
          <a:solidFill>
            <a:srgbClr val="00705B"/>
          </a:solidFill>
          <a:ln>
            <a:solidFill>
              <a:srgbClr val="0070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/>
              <a:t>Corporate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3C3776-EBBE-4FD0-85F2-756B5A0B8D56}"/>
              </a:ext>
            </a:extLst>
          </p:cNvPr>
          <p:cNvSpPr/>
          <p:nvPr/>
        </p:nvSpPr>
        <p:spPr>
          <a:xfrm>
            <a:off x="2586038" y="5406833"/>
            <a:ext cx="923925" cy="349931"/>
          </a:xfrm>
          <a:prstGeom prst="rect">
            <a:avLst/>
          </a:prstGeom>
          <a:solidFill>
            <a:srgbClr val="00705B"/>
          </a:solidFill>
          <a:ln>
            <a:solidFill>
              <a:srgbClr val="0070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800" b="1" dirty="0"/>
              <a:t>Non-Corporate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C7D3E4D4-D42F-43E3-8C89-7AC949D64252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2133600" y="3078496"/>
            <a:ext cx="452438" cy="83045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5683762-9015-47AC-8385-872557F7FCE5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2133600" y="3908948"/>
            <a:ext cx="452438" cy="167285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DA0BBF1-64B3-4216-9AB0-39D1D27A4D33}"/>
              </a:ext>
            </a:extLst>
          </p:cNvPr>
          <p:cNvSpPr/>
          <p:nvPr/>
        </p:nvSpPr>
        <p:spPr>
          <a:xfrm>
            <a:off x="3976688" y="2219328"/>
            <a:ext cx="1028700" cy="333375"/>
          </a:xfrm>
          <a:prstGeom prst="rect">
            <a:avLst/>
          </a:prstGeom>
          <a:solidFill>
            <a:srgbClr val="EE226E"/>
          </a:solidFill>
          <a:ln>
            <a:solidFill>
              <a:srgbClr val="EE22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700" b="1" dirty="0"/>
              <a:t>Office Furniture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9A6BCD-12FA-4E61-AF46-0EE7353CE7D2}"/>
              </a:ext>
            </a:extLst>
          </p:cNvPr>
          <p:cNvSpPr/>
          <p:nvPr/>
        </p:nvSpPr>
        <p:spPr>
          <a:xfrm>
            <a:off x="3976688" y="3360068"/>
            <a:ext cx="1028700" cy="333375"/>
          </a:xfrm>
          <a:prstGeom prst="rect">
            <a:avLst/>
          </a:prstGeom>
          <a:solidFill>
            <a:srgbClr val="EE226E"/>
          </a:solidFill>
          <a:ln>
            <a:solidFill>
              <a:srgbClr val="EE22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700" b="1" dirty="0"/>
              <a:t>Office Technology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8153048-B457-4B43-BED5-892116D5A2D8}"/>
              </a:ext>
            </a:extLst>
          </p:cNvPr>
          <p:cNvCxnSpPr>
            <a:stCxn id="10" idx="3"/>
            <a:endCxn id="18" idx="1"/>
          </p:cNvCxnSpPr>
          <p:nvPr/>
        </p:nvCxnSpPr>
        <p:spPr>
          <a:xfrm flipV="1">
            <a:off x="3509963" y="2386016"/>
            <a:ext cx="466725" cy="69248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069FCA16-BC7A-4800-A566-1281F5D71230}"/>
              </a:ext>
            </a:extLst>
          </p:cNvPr>
          <p:cNvCxnSpPr>
            <a:stCxn id="10" idx="3"/>
            <a:endCxn id="22" idx="1"/>
          </p:cNvCxnSpPr>
          <p:nvPr/>
        </p:nvCxnSpPr>
        <p:spPr>
          <a:xfrm>
            <a:off x="3509963" y="3078496"/>
            <a:ext cx="466725" cy="4482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3FEBB0B-D1CF-4C38-9CFD-65C4E8EEC2A8}"/>
              </a:ext>
            </a:extLst>
          </p:cNvPr>
          <p:cNvSpPr/>
          <p:nvPr/>
        </p:nvSpPr>
        <p:spPr>
          <a:xfrm>
            <a:off x="5381626" y="1811134"/>
            <a:ext cx="1028700" cy="33337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700" b="1" dirty="0"/>
              <a:t>Fully Assembled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0DE54F-5E2E-48C1-856C-6DE30CD6AA19}"/>
              </a:ext>
            </a:extLst>
          </p:cNvPr>
          <p:cNvSpPr/>
          <p:nvPr/>
        </p:nvSpPr>
        <p:spPr>
          <a:xfrm>
            <a:off x="5381626" y="2523855"/>
            <a:ext cx="1028700" cy="33337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700" b="1" dirty="0"/>
              <a:t>Self-Assembled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85188A4-7376-4430-AADF-5AA1326B88C3}"/>
              </a:ext>
            </a:extLst>
          </p:cNvPr>
          <p:cNvCxnSpPr>
            <a:stCxn id="18" idx="3"/>
            <a:endCxn id="28" idx="1"/>
          </p:cNvCxnSpPr>
          <p:nvPr/>
        </p:nvCxnSpPr>
        <p:spPr>
          <a:xfrm flipV="1">
            <a:off x="5005388" y="1977822"/>
            <a:ext cx="376238" cy="40819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9DD0710-FBBE-4FA0-90B0-E91C6E0CB6D8}"/>
              </a:ext>
            </a:extLst>
          </p:cNvPr>
          <p:cNvCxnSpPr>
            <a:stCxn id="18" idx="3"/>
            <a:endCxn id="29" idx="1"/>
          </p:cNvCxnSpPr>
          <p:nvPr/>
        </p:nvCxnSpPr>
        <p:spPr>
          <a:xfrm>
            <a:off x="5005388" y="2386016"/>
            <a:ext cx="376238" cy="30452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CE070461-FEF6-42E7-94D6-C93595F7B245}"/>
              </a:ext>
            </a:extLst>
          </p:cNvPr>
          <p:cNvSpPr/>
          <p:nvPr/>
        </p:nvSpPr>
        <p:spPr>
          <a:xfrm>
            <a:off x="5381626" y="3094390"/>
            <a:ext cx="1028700" cy="33337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700" b="1" dirty="0"/>
              <a:t>Handheld Technology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B5E055A-FA74-48D9-BCEA-28E580BBA9C3}"/>
              </a:ext>
            </a:extLst>
          </p:cNvPr>
          <p:cNvSpPr/>
          <p:nvPr/>
        </p:nvSpPr>
        <p:spPr>
          <a:xfrm>
            <a:off x="5385495" y="3730563"/>
            <a:ext cx="1028700" cy="33337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700" b="1" dirty="0"/>
              <a:t>Non-Handheld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F84F6BED-27B4-4C4A-99E0-39A0D3C663FE}"/>
              </a:ext>
            </a:extLst>
          </p:cNvPr>
          <p:cNvCxnSpPr>
            <a:stCxn id="22" idx="3"/>
            <a:endCxn id="38" idx="1"/>
          </p:cNvCxnSpPr>
          <p:nvPr/>
        </p:nvCxnSpPr>
        <p:spPr>
          <a:xfrm flipV="1">
            <a:off x="5005388" y="3261078"/>
            <a:ext cx="376238" cy="26567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C68554C4-6C69-40CD-BBA7-73F90DD765F3}"/>
              </a:ext>
            </a:extLst>
          </p:cNvPr>
          <p:cNvCxnSpPr>
            <a:stCxn id="22" idx="3"/>
            <a:endCxn id="39" idx="1"/>
          </p:cNvCxnSpPr>
          <p:nvPr/>
        </p:nvCxnSpPr>
        <p:spPr>
          <a:xfrm>
            <a:off x="5005388" y="3526756"/>
            <a:ext cx="380107" cy="37049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B4358EC7-D132-40D4-A0F0-2EF0474D444E}"/>
              </a:ext>
            </a:extLst>
          </p:cNvPr>
          <p:cNvSpPr/>
          <p:nvPr/>
        </p:nvSpPr>
        <p:spPr>
          <a:xfrm>
            <a:off x="3962401" y="5083665"/>
            <a:ext cx="1042987" cy="333375"/>
          </a:xfrm>
          <a:prstGeom prst="rect">
            <a:avLst/>
          </a:prstGeom>
          <a:solidFill>
            <a:srgbClr val="EE226E"/>
          </a:solidFill>
          <a:ln>
            <a:solidFill>
              <a:srgbClr val="EE22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700" b="1" dirty="0">
                <a:latin typeface="+mj-lt"/>
              </a:rPr>
              <a:t>Perishable Goods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8EAB6F2-BA55-42BD-8DC2-DE6F12AAB474}"/>
              </a:ext>
            </a:extLst>
          </p:cNvPr>
          <p:cNvSpPr/>
          <p:nvPr/>
        </p:nvSpPr>
        <p:spPr>
          <a:xfrm>
            <a:off x="3962400" y="5823127"/>
            <a:ext cx="1042987" cy="333375"/>
          </a:xfrm>
          <a:prstGeom prst="rect">
            <a:avLst/>
          </a:prstGeom>
          <a:solidFill>
            <a:srgbClr val="EE226E"/>
          </a:solidFill>
          <a:ln>
            <a:solidFill>
              <a:srgbClr val="EE22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700" b="1" dirty="0">
                <a:latin typeface="+mj-lt"/>
              </a:rPr>
              <a:t>Non-Perishable Goods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2298FFB-765A-40E3-82B1-A57D3DD3BCA1}"/>
              </a:ext>
            </a:extLst>
          </p:cNvPr>
          <p:cNvCxnSpPr>
            <a:stCxn id="12" idx="3"/>
            <a:endCxn id="57" idx="1"/>
          </p:cNvCxnSpPr>
          <p:nvPr/>
        </p:nvCxnSpPr>
        <p:spPr>
          <a:xfrm flipV="1">
            <a:off x="3509963" y="5250353"/>
            <a:ext cx="452438" cy="33144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4F02151-BC18-4426-BE5C-857253CE40B6}"/>
              </a:ext>
            </a:extLst>
          </p:cNvPr>
          <p:cNvCxnSpPr>
            <a:stCxn id="12" idx="3"/>
            <a:endCxn id="59" idx="1"/>
          </p:cNvCxnSpPr>
          <p:nvPr/>
        </p:nvCxnSpPr>
        <p:spPr>
          <a:xfrm>
            <a:off x="3509963" y="5581799"/>
            <a:ext cx="452437" cy="40801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7949CB5-DAB8-B111-F567-6D8747735470}"/>
              </a:ext>
            </a:extLst>
          </p:cNvPr>
          <p:cNvSpPr/>
          <p:nvPr/>
        </p:nvSpPr>
        <p:spPr>
          <a:xfrm>
            <a:off x="5413321" y="4732738"/>
            <a:ext cx="1042987" cy="33337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700" b="1" dirty="0">
                <a:latin typeface="+mj-lt"/>
              </a:rPr>
              <a:t>Long Life Goods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D23289-08FF-CDF3-D2CE-88BFFE838146}"/>
              </a:ext>
            </a:extLst>
          </p:cNvPr>
          <p:cNvSpPr/>
          <p:nvPr/>
        </p:nvSpPr>
        <p:spPr>
          <a:xfrm>
            <a:off x="5413321" y="5418576"/>
            <a:ext cx="1042987" cy="33337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700" b="1" dirty="0">
                <a:latin typeface="+mj-lt"/>
              </a:rPr>
              <a:t>Short Life Goods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DD306AA-937C-165B-D362-CBF4599C7C3C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5031641" y="4899426"/>
            <a:ext cx="381680" cy="35246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EB41C67-9561-3E27-4CC1-A06279947F6B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031641" y="5251889"/>
            <a:ext cx="381680" cy="33337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94CF6D0-3A69-1B99-82F7-94375DB2FAA1}"/>
              </a:ext>
            </a:extLst>
          </p:cNvPr>
          <p:cNvSpPr txBox="1"/>
          <p:nvPr/>
        </p:nvSpPr>
        <p:spPr>
          <a:xfrm>
            <a:off x="242090" y="505461"/>
            <a:ext cx="85322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05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Fill in the blanks with the relevant value for each issue that have been provided to you by your team. </a:t>
            </a:r>
            <a:r>
              <a:rPr lang="en-AU" sz="10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an analyst, it’s important that you’re comfortable structuring an analytical approach to business problems and quantifying the value associated with issues.</a:t>
            </a:r>
          </a:p>
          <a:p>
            <a:endParaRPr lang="en-AU" sz="105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28EC93-138A-69F3-D840-8D4CB3287F3D}"/>
              </a:ext>
            </a:extLst>
          </p:cNvPr>
          <p:cNvSpPr txBox="1"/>
          <p:nvPr/>
        </p:nvSpPr>
        <p:spPr>
          <a:xfrm>
            <a:off x="2671485" y="1293878"/>
            <a:ext cx="1182381" cy="215444"/>
          </a:xfrm>
          <a:prstGeom prst="rect">
            <a:avLst/>
          </a:prstGeom>
          <a:solidFill>
            <a:srgbClr val="00705B"/>
          </a:solidFill>
          <a:ln>
            <a:solidFill>
              <a:srgbClr val="0070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8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dirty="0"/>
              <a:t>Customer Type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C4543-80DE-C406-3BD2-874327E2E06E}"/>
              </a:ext>
            </a:extLst>
          </p:cNvPr>
          <p:cNvSpPr txBox="1"/>
          <p:nvPr/>
        </p:nvSpPr>
        <p:spPr>
          <a:xfrm>
            <a:off x="4027818" y="1293878"/>
            <a:ext cx="1182381" cy="215444"/>
          </a:xfrm>
          <a:prstGeom prst="rect">
            <a:avLst/>
          </a:prstGeom>
          <a:solidFill>
            <a:srgbClr val="EE226E"/>
          </a:solidFill>
          <a:ln>
            <a:solidFill>
              <a:srgbClr val="EE22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8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dirty="0"/>
              <a:t>Primary Product Category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F6D95-6C8D-2437-8A67-2B0B3D9A11B7}"/>
              </a:ext>
            </a:extLst>
          </p:cNvPr>
          <p:cNvSpPr txBox="1"/>
          <p:nvPr/>
        </p:nvSpPr>
        <p:spPr>
          <a:xfrm>
            <a:off x="5384151" y="1289924"/>
            <a:ext cx="1182381" cy="2154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8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dirty="0"/>
              <a:t>Secondary Product Category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FBF0D-256D-49C2-D9A1-884007E0CDCA}"/>
              </a:ext>
            </a:extLst>
          </p:cNvPr>
          <p:cNvSpPr/>
          <p:nvPr/>
        </p:nvSpPr>
        <p:spPr>
          <a:xfrm>
            <a:off x="2854671" y="3311615"/>
            <a:ext cx="452438" cy="24447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rgbClr val="00705B"/>
                </a:solidFill>
              </a:rPr>
              <a:t>374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2ED1D7-8884-49D9-4F7C-EC077818D3D4}"/>
              </a:ext>
            </a:extLst>
          </p:cNvPr>
          <p:cNvSpPr/>
          <p:nvPr/>
        </p:nvSpPr>
        <p:spPr>
          <a:xfrm>
            <a:off x="2845992" y="5823127"/>
            <a:ext cx="452438" cy="24447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rgbClr val="00705B"/>
                </a:solidFill>
              </a:rPr>
              <a:t>426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BCF9BF-7342-E746-E102-E551FE28064A}"/>
              </a:ext>
            </a:extLst>
          </p:cNvPr>
          <p:cNvSpPr/>
          <p:nvPr/>
        </p:nvSpPr>
        <p:spPr>
          <a:xfrm>
            <a:off x="4308226" y="2610020"/>
            <a:ext cx="452438" cy="24447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rgbClr val="00705B"/>
                </a:solidFill>
              </a:rPr>
              <a:t>305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09B840-DA31-032D-0D09-670FECBB0409}"/>
              </a:ext>
            </a:extLst>
          </p:cNvPr>
          <p:cNvSpPr/>
          <p:nvPr/>
        </p:nvSpPr>
        <p:spPr>
          <a:xfrm>
            <a:off x="4308226" y="3738609"/>
            <a:ext cx="452438" cy="24447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rgbClr val="00705B"/>
                </a:solidFill>
              </a:rPr>
              <a:t>69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6F0955-0284-507B-22CC-86ADAC22704E}"/>
              </a:ext>
            </a:extLst>
          </p:cNvPr>
          <p:cNvSpPr/>
          <p:nvPr/>
        </p:nvSpPr>
        <p:spPr>
          <a:xfrm>
            <a:off x="4293177" y="5457991"/>
            <a:ext cx="452438" cy="24447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rgbClr val="00705B"/>
                </a:solidFill>
              </a:rPr>
              <a:t>339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3AD12E-76BC-140F-AE92-6BCCEDB57045}"/>
              </a:ext>
            </a:extLst>
          </p:cNvPr>
          <p:cNvSpPr/>
          <p:nvPr/>
        </p:nvSpPr>
        <p:spPr>
          <a:xfrm>
            <a:off x="4330168" y="6188597"/>
            <a:ext cx="452438" cy="24447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rgbClr val="00705B"/>
                </a:solidFill>
              </a:rPr>
              <a:t>87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06BE34-9957-D160-59EF-5A2DECE59DB3}"/>
              </a:ext>
            </a:extLst>
          </p:cNvPr>
          <p:cNvSpPr/>
          <p:nvPr/>
        </p:nvSpPr>
        <p:spPr>
          <a:xfrm>
            <a:off x="5708595" y="2180392"/>
            <a:ext cx="452438" cy="15768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rgbClr val="00705B"/>
                </a:solidFill>
              </a:rPr>
              <a:t>297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CCD5AA-2FCD-B157-DC5F-992DB86893BB}"/>
              </a:ext>
            </a:extLst>
          </p:cNvPr>
          <p:cNvSpPr/>
          <p:nvPr/>
        </p:nvSpPr>
        <p:spPr>
          <a:xfrm>
            <a:off x="5708595" y="2895075"/>
            <a:ext cx="452438" cy="15768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rgbClr val="00705B"/>
                </a:solidFill>
              </a:rPr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FBFD9A-8BFE-467A-3F18-1652B7D05973}"/>
              </a:ext>
            </a:extLst>
          </p:cNvPr>
          <p:cNvSpPr/>
          <p:nvPr/>
        </p:nvSpPr>
        <p:spPr>
          <a:xfrm>
            <a:off x="5726459" y="3490020"/>
            <a:ext cx="452438" cy="15768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rgbClr val="00705B"/>
                </a:solidFill>
              </a:rPr>
              <a:t>38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4597F7-971D-4057-1B46-FA31C33143E7}"/>
              </a:ext>
            </a:extLst>
          </p:cNvPr>
          <p:cNvSpPr/>
          <p:nvPr/>
        </p:nvSpPr>
        <p:spPr>
          <a:xfrm>
            <a:off x="5726459" y="4134743"/>
            <a:ext cx="452438" cy="15768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rgbClr val="00705B"/>
                </a:solidFill>
              </a:rPr>
              <a:t>31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FB6BF1-7156-F647-72B9-7BBFF5826589}"/>
              </a:ext>
            </a:extLst>
          </p:cNvPr>
          <p:cNvSpPr/>
          <p:nvPr/>
        </p:nvSpPr>
        <p:spPr>
          <a:xfrm>
            <a:off x="5708595" y="5145586"/>
            <a:ext cx="452438" cy="15768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rgbClr val="00705B"/>
                </a:solidFill>
              </a:rPr>
              <a:t>331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768FE8-8F64-A239-77DB-4B74CBF57EA0}"/>
              </a:ext>
            </a:extLst>
          </p:cNvPr>
          <p:cNvSpPr/>
          <p:nvPr/>
        </p:nvSpPr>
        <p:spPr>
          <a:xfrm>
            <a:off x="5726459" y="5839794"/>
            <a:ext cx="452438" cy="15768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00" dirty="0">
                <a:solidFill>
                  <a:srgbClr val="00705B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16755369"/>
      </p:ext>
    </p:extLst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9236</TotalTime>
  <Words>511</Words>
  <Application>Microsoft Macintosh PowerPoint</Application>
  <PresentationFormat>On-screen Show (4:3)</PresentationFormat>
  <Paragraphs>61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Segoe UI</vt:lpstr>
      <vt:lpstr>Synergy_CF_YNR002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Driver Tree Template</dc:title>
  <dc:creator>Hui, Chris</dc:creator>
  <cp:lastModifiedBy>Ariel Sebastian Farelas Lazaro</cp:lastModifiedBy>
  <cp:revision>65</cp:revision>
  <dcterms:created xsi:type="dcterms:W3CDTF">2019-05-15T15:57:18Z</dcterms:created>
  <dcterms:modified xsi:type="dcterms:W3CDTF">2025-08-12T23:35:33Z</dcterms:modified>
</cp:coreProperties>
</file>