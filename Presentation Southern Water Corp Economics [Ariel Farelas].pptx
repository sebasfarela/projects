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4.xml" ContentType="application/vnd.openxmlformats-officedocument.presentationml.notesSlide+xml"/>
  <Override PartName="/ppt/charts/chart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0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1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8961438" cy="67214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jLRIrpBBH2KsDvlaQt8H+J/vw/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9886D5-2E62-7147-9A0C-AB3589BE98C8}" v="31" dt="2025-09-04T03:19:24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1"/>
    <p:restoredTop sz="94635"/>
  </p:normalViewPr>
  <p:slideViewPr>
    <p:cSldViewPr snapToGrid="0">
      <p:cViewPr varScale="1">
        <p:scale>
          <a:sx n="154" d="100"/>
          <a:sy n="154" d="100"/>
        </p:scale>
        <p:origin x="2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Sebastian Farelas Lazaro" userId="1a9187d6-15d9-4228-a7e1-8dd89972ed52" providerId="ADAL" clId="{FA2E4CBD-115D-55B4-B72B-BC8AC780125D}"/>
    <pc:docChg chg="undo custSel delSld modSld">
      <pc:chgData name="Ariel Sebastian Farelas Lazaro" userId="1a9187d6-15d9-4228-a7e1-8dd89972ed52" providerId="ADAL" clId="{FA2E4CBD-115D-55B4-B72B-BC8AC780125D}" dt="2025-09-04T03:21:12.251" v="196" actId="20577"/>
      <pc:docMkLst>
        <pc:docMk/>
      </pc:docMkLst>
      <pc:sldChg chg="del">
        <pc:chgData name="Ariel Sebastian Farelas Lazaro" userId="1a9187d6-15d9-4228-a7e1-8dd89972ed52" providerId="ADAL" clId="{FA2E4CBD-115D-55B4-B72B-BC8AC780125D}" dt="2025-09-04T02:49:57.629" v="59" actId="2696"/>
        <pc:sldMkLst>
          <pc:docMk/>
          <pc:sldMk cId="0" sldId="256"/>
        </pc:sldMkLst>
      </pc:sldChg>
      <pc:sldChg chg="addSp delSp modSp mod">
        <pc:chgData name="Ariel Sebastian Farelas Lazaro" userId="1a9187d6-15d9-4228-a7e1-8dd89972ed52" providerId="ADAL" clId="{FA2E4CBD-115D-55B4-B72B-BC8AC780125D}" dt="2025-09-04T02:49:47.708" v="58"/>
        <pc:sldMkLst>
          <pc:docMk/>
          <pc:sldMk cId="0" sldId="257"/>
        </pc:sldMkLst>
        <pc:spChg chg="mod">
          <ac:chgData name="Ariel Sebastian Farelas Lazaro" userId="1a9187d6-15d9-4228-a7e1-8dd89972ed52" providerId="ADAL" clId="{FA2E4CBD-115D-55B4-B72B-BC8AC780125D}" dt="2025-09-04T02:45:25.973" v="29" actId="20577"/>
          <ac:spMkLst>
            <pc:docMk/>
            <pc:sldMk cId="0" sldId="257"/>
            <ac:spMk id="40" creationId="{00000000-0000-0000-0000-000000000000}"/>
          </ac:spMkLst>
        </pc:spChg>
        <pc:graphicFrameChg chg="add mod">
          <ac:chgData name="Ariel Sebastian Farelas Lazaro" userId="1a9187d6-15d9-4228-a7e1-8dd89972ed52" providerId="ADAL" clId="{FA2E4CBD-115D-55B4-B72B-BC8AC780125D}" dt="2025-09-04T02:48:12.652" v="49"/>
          <ac:graphicFrameMkLst>
            <pc:docMk/>
            <pc:sldMk cId="0" sldId="257"/>
            <ac:graphicFrameMk id="3" creationId="{DA1D679E-CEC2-7F1B-C2C5-D20167CA2AB0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2:48:20.585" v="50"/>
          <ac:graphicFrameMkLst>
            <pc:docMk/>
            <pc:sldMk cId="0" sldId="257"/>
            <ac:graphicFrameMk id="4" creationId="{C7FC9EE6-FDD9-D6F1-4623-3E8E086D3686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2:49:47.708" v="58"/>
          <ac:graphicFrameMkLst>
            <pc:docMk/>
            <pc:sldMk cId="0" sldId="257"/>
            <ac:graphicFrameMk id="5" creationId="{B04AC735-9DD9-D07B-D5C3-E4B44DA92DBB}"/>
          </ac:graphicFrameMkLst>
        </pc:graphicFrameChg>
        <pc:picChg chg="add del mod">
          <ac:chgData name="Ariel Sebastian Farelas Lazaro" userId="1a9187d6-15d9-4228-a7e1-8dd89972ed52" providerId="ADAL" clId="{FA2E4CBD-115D-55B4-B72B-BC8AC780125D}" dt="2025-09-04T02:48:42.880" v="51" actId="478"/>
          <ac:picMkLst>
            <pc:docMk/>
            <pc:sldMk cId="0" sldId="257"/>
            <ac:picMk id="2" creationId="{00000000-0008-0000-0500-000002000000}"/>
          </ac:picMkLst>
        </pc:picChg>
        <pc:picChg chg="del">
          <ac:chgData name="Ariel Sebastian Farelas Lazaro" userId="1a9187d6-15d9-4228-a7e1-8dd89972ed52" providerId="ADAL" clId="{FA2E4CBD-115D-55B4-B72B-BC8AC780125D}" dt="2025-09-04T02:45:55.243" v="30" actId="478"/>
          <ac:picMkLst>
            <pc:docMk/>
            <pc:sldMk cId="0" sldId="257"/>
            <ac:picMk id="43" creationId="{00000000-0000-0000-0000-000000000000}"/>
          </ac:picMkLst>
        </pc:picChg>
      </pc:sldChg>
      <pc:sldChg chg="addSp delSp modSp mod">
        <pc:chgData name="Ariel Sebastian Farelas Lazaro" userId="1a9187d6-15d9-4228-a7e1-8dd89972ed52" providerId="ADAL" clId="{FA2E4CBD-115D-55B4-B72B-BC8AC780125D}" dt="2025-09-04T02:54:36.310" v="113" actId="20577"/>
        <pc:sldMkLst>
          <pc:docMk/>
          <pc:sldMk cId="0" sldId="258"/>
        </pc:sldMkLst>
        <pc:spChg chg="mod">
          <ac:chgData name="Ariel Sebastian Farelas Lazaro" userId="1a9187d6-15d9-4228-a7e1-8dd89972ed52" providerId="ADAL" clId="{FA2E4CBD-115D-55B4-B72B-BC8AC780125D}" dt="2025-09-04T02:54:36.310" v="113" actId="20577"/>
          <ac:spMkLst>
            <pc:docMk/>
            <pc:sldMk cId="0" sldId="258"/>
            <ac:spMk id="48" creationId="{00000000-0000-0000-0000-000000000000}"/>
          </ac:spMkLst>
        </pc:spChg>
        <pc:graphicFrameChg chg="add mod">
          <ac:chgData name="Ariel Sebastian Farelas Lazaro" userId="1a9187d6-15d9-4228-a7e1-8dd89972ed52" providerId="ADAL" clId="{FA2E4CBD-115D-55B4-B72B-BC8AC780125D}" dt="2025-09-04T02:53:00.638" v="71" actId="1076"/>
          <ac:graphicFrameMkLst>
            <pc:docMk/>
            <pc:sldMk cId="0" sldId="258"/>
            <ac:graphicFrameMk id="2" creationId="{7D58EFF0-6283-4A1F-9051-059946DE0F38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2:53:29.646" v="80" actId="404"/>
          <ac:graphicFrameMkLst>
            <pc:docMk/>
            <pc:sldMk cId="0" sldId="258"/>
            <ac:graphicFrameMk id="3" creationId="{2AF7C822-F78D-3973-CD1D-2C78C13BE6FC}"/>
          </ac:graphicFrameMkLst>
        </pc:graphicFrameChg>
        <pc:picChg chg="del">
          <ac:chgData name="Ariel Sebastian Farelas Lazaro" userId="1a9187d6-15d9-4228-a7e1-8dd89972ed52" providerId="ADAL" clId="{FA2E4CBD-115D-55B4-B72B-BC8AC780125D}" dt="2025-09-04T02:52:53.696" v="66" actId="478"/>
          <ac:picMkLst>
            <pc:docMk/>
            <pc:sldMk cId="0" sldId="258"/>
            <ac:picMk id="51" creationId="{00000000-0000-0000-0000-000000000000}"/>
          </ac:picMkLst>
        </pc:picChg>
      </pc:sldChg>
      <pc:sldChg chg="addSp modSp mod">
        <pc:chgData name="Ariel Sebastian Farelas Lazaro" userId="1a9187d6-15d9-4228-a7e1-8dd89972ed52" providerId="ADAL" clId="{FA2E4CBD-115D-55B4-B72B-BC8AC780125D}" dt="2025-09-04T02:59:45.473" v="153" actId="14100"/>
        <pc:sldMkLst>
          <pc:docMk/>
          <pc:sldMk cId="0" sldId="259"/>
        </pc:sldMkLst>
        <pc:spChg chg="mod">
          <ac:chgData name="Ariel Sebastian Farelas Lazaro" userId="1a9187d6-15d9-4228-a7e1-8dd89972ed52" providerId="ADAL" clId="{FA2E4CBD-115D-55B4-B72B-BC8AC780125D}" dt="2025-09-04T02:56:48.208" v="132" actId="20577"/>
          <ac:spMkLst>
            <pc:docMk/>
            <pc:sldMk cId="0" sldId="259"/>
            <ac:spMk id="56" creationId="{00000000-0000-0000-0000-000000000000}"/>
          </ac:spMkLst>
        </pc:spChg>
        <pc:graphicFrameChg chg="add mod">
          <ac:chgData name="Ariel Sebastian Farelas Lazaro" userId="1a9187d6-15d9-4228-a7e1-8dd89972ed52" providerId="ADAL" clId="{FA2E4CBD-115D-55B4-B72B-BC8AC780125D}" dt="2025-09-04T02:59:31.673" v="151" actId="14100"/>
          <ac:graphicFrameMkLst>
            <pc:docMk/>
            <pc:sldMk cId="0" sldId="259"/>
            <ac:graphicFrameMk id="2" creationId="{00000000-0008-0000-0400-000096F19024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2:59:37.298" v="152" actId="14100"/>
          <ac:graphicFrameMkLst>
            <pc:docMk/>
            <pc:sldMk cId="0" sldId="259"/>
            <ac:graphicFrameMk id="3" creationId="{00000000-0008-0000-0400-00006E76575E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2:59:45.473" v="153" actId="14100"/>
          <ac:graphicFrameMkLst>
            <pc:docMk/>
            <pc:sldMk cId="0" sldId="259"/>
            <ac:graphicFrameMk id="4" creationId="{00000000-0008-0000-0400-0000FA48C001}"/>
          </ac:graphicFrameMkLst>
        </pc:graphicFrameChg>
      </pc:sldChg>
      <pc:sldChg chg="addSp modSp mod">
        <pc:chgData name="Ariel Sebastian Farelas Lazaro" userId="1a9187d6-15d9-4228-a7e1-8dd89972ed52" providerId="ADAL" clId="{FA2E4CBD-115D-55B4-B72B-BC8AC780125D}" dt="2025-09-04T03:21:12.251" v="196" actId="20577"/>
        <pc:sldMkLst>
          <pc:docMk/>
          <pc:sldMk cId="0" sldId="260"/>
        </pc:sldMkLst>
        <pc:spChg chg="mod">
          <ac:chgData name="Ariel Sebastian Farelas Lazaro" userId="1a9187d6-15d9-4228-a7e1-8dd89972ed52" providerId="ADAL" clId="{FA2E4CBD-115D-55B4-B72B-BC8AC780125D}" dt="2025-09-04T03:21:12.251" v="196" actId="20577"/>
          <ac:spMkLst>
            <pc:docMk/>
            <pc:sldMk cId="0" sldId="260"/>
            <ac:spMk id="63" creationId="{00000000-0000-0000-0000-000000000000}"/>
          </ac:spMkLst>
        </pc:spChg>
        <pc:graphicFrameChg chg="add mod">
          <ac:chgData name="Ariel Sebastian Farelas Lazaro" userId="1a9187d6-15d9-4228-a7e1-8dd89972ed52" providerId="ADAL" clId="{FA2E4CBD-115D-55B4-B72B-BC8AC780125D}" dt="2025-09-04T03:18:59.869" v="168" actId="404"/>
          <ac:graphicFrameMkLst>
            <pc:docMk/>
            <pc:sldMk cId="0" sldId="260"/>
            <ac:graphicFrameMk id="2" creationId="{FBF5C4F9-06DB-E1DC-6343-6E4373C7E506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3:19:14.358" v="173" actId="403"/>
          <ac:graphicFrameMkLst>
            <pc:docMk/>
            <pc:sldMk cId="0" sldId="260"/>
            <ac:graphicFrameMk id="3" creationId="{4F12E454-1DB6-83EE-E083-E45BB614BF2C}"/>
          </ac:graphicFrameMkLst>
        </pc:graphicFrameChg>
        <pc:graphicFrameChg chg="add mod">
          <ac:chgData name="Ariel Sebastian Farelas Lazaro" userId="1a9187d6-15d9-4228-a7e1-8dd89972ed52" providerId="ADAL" clId="{FA2E4CBD-115D-55B4-B72B-BC8AC780125D}" dt="2025-09-04T03:19:24.336" v="175" actId="404"/>
          <ac:graphicFrameMkLst>
            <pc:docMk/>
            <pc:sldMk cId="0" sldId="260"/>
            <ac:graphicFrameMk id="4" creationId="{3CABBED4-1736-4748-A182-E6582D17E75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correoipn-my.sharepoint.com/personal/afarelasl1500_alumno_ipn_mx/Documents/SpringBoard%20Data%20Analytics/Case%20Studies/Southern%20Water%20Corp%20Economics%20Case%20Study%20MCU%20Student%20Facin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Market Water Demand (Mega-Litres)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'What-If Analysis'!$E$13:$P$13</c:f>
              <c:numCache>
                <c:formatCode>mmm\-yy</c:formatCode>
                <c:ptCount val="12"/>
                <c:pt idx="0">
                  <c:v>41821</c:v>
                </c:pt>
                <c:pt idx="1">
                  <c:v>41852</c:v>
                </c:pt>
                <c:pt idx="2">
                  <c:v>41883</c:v>
                </c:pt>
                <c:pt idx="3">
                  <c:v>41913</c:v>
                </c:pt>
                <c:pt idx="4">
                  <c:v>41944</c:v>
                </c:pt>
                <c:pt idx="5">
                  <c:v>41974</c:v>
                </c:pt>
                <c:pt idx="6">
                  <c:v>42005</c:v>
                </c:pt>
                <c:pt idx="7">
                  <c:v>42036</c:v>
                </c:pt>
                <c:pt idx="8">
                  <c:v>42064</c:v>
                </c:pt>
                <c:pt idx="9">
                  <c:v>42095</c:v>
                </c:pt>
                <c:pt idx="10">
                  <c:v>42125</c:v>
                </c:pt>
                <c:pt idx="11">
                  <c:v>42156</c:v>
                </c:pt>
              </c:numCache>
            </c:numRef>
          </c:cat>
          <c:val>
            <c:numRef>
              <c:f>'What-If Analysis'!$E$16:$P$16</c:f>
              <c:numCache>
                <c:formatCode>#,##0.00</c:formatCode>
                <c:ptCount val="12"/>
                <c:pt idx="0">
                  <c:v>2283.0502472527673</c:v>
                </c:pt>
                <c:pt idx="1">
                  <c:v>2201.0592458815067</c:v>
                </c:pt>
                <c:pt idx="2">
                  <c:v>2153.3431850899528</c:v>
                </c:pt>
                <c:pt idx="3">
                  <c:v>2098.9913812617792</c:v>
                </c:pt>
                <c:pt idx="4">
                  <c:v>2200.9293289926659</c:v>
                </c:pt>
                <c:pt idx="5">
                  <c:v>2312.1995397611418</c:v>
                </c:pt>
                <c:pt idx="6">
                  <c:v>2298.1901589653967</c:v>
                </c:pt>
                <c:pt idx="7">
                  <c:v>2406.0918962111036</c:v>
                </c:pt>
                <c:pt idx="8">
                  <c:v>2127.8145432709766</c:v>
                </c:pt>
                <c:pt idx="9">
                  <c:v>2185.7997542263706</c:v>
                </c:pt>
                <c:pt idx="10">
                  <c:v>2145.7837188661065</c:v>
                </c:pt>
                <c:pt idx="11">
                  <c:v>2229.7496611442612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6D-E24E-9E7E-8C47D0D97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7"/>
        <c:overlap val="-66"/>
        <c:axId val="836535295"/>
        <c:axId val="836537007"/>
      </c:barChart>
      <c:dateAx>
        <c:axId val="836535295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6537007"/>
        <c:crosses val="autoZero"/>
        <c:auto val="1"/>
        <c:lblOffset val="100"/>
        <c:baseTimeUnit val="months"/>
      </c:dateAx>
      <c:valAx>
        <c:axId val="836537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65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Water Balancing Market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'What-If Analysis'!$E$13:$P$13</c:f>
              <c:numCache>
                <c:formatCode>mmm\-yy</c:formatCode>
                <c:ptCount val="12"/>
                <c:pt idx="0">
                  <c:v>41821</c:v>
                </c:pt>
                <c:pt idx="1">
                  <c:v>41852</c:v>
                </c:pt>
                <c:pt idx="2">
                  <c:v>41883</c:v>
                </c:pt>
                <c:pt idx="3">
                  <c:v>41913</c:v>
                </c:pt>
                <c:pt idx="4">
                  <c:v>41944</c:v>
                </c:pt>
                <c:pt idx="5">
                  <c:v>41974</c:v>
                </c:pt>
                <c:pt idx="6">
                  <c:v>42005</c:v>
                </c:pt>
                <c:pt idx="7">
                  <c:v>42036</c:v>
                </c:pt>
                <c:pt idx="8">
                  <c:v>42064</c:v>
                </c:pt>
                <c:pt idx="9">
                  <c:v>42095</c:v>
                </c:pt>
                <c:pt idx="10">
                  <c:v>42125</c:v>
                </c:pt>
                <c:pt idx="11">
                  <c:v>42156</c:v>
                </c:pt>
              </c:numCache>
            </c:numRef>
          </c:cat>
          <c:val>
            <c:numRef>
              <c:f>'What-If Analysis'!$E$15:$P$15</c:f>
              <c:numCache>
                <c:formatCode>"$"#,##0.00;[Red]\-"$"#,##0.00</c:formatCode>
                <c:ptCount val="12"/>
                <c:pt idx="0">
                  <c:v>76.602720430107496</c:v>
                </c:pt>
                <c:pt idx="1">
                  <c:v>74.932540098566292</c:v>
                </c:pt>
                <c:pt idx="2">
                  <c:v>74.066319823232305</c:v>
                </c:pt>
                <c:pt idx="3">
                  <c:v>75.093148943932377</c:v>
                </c:pt>
                <c:pt idx="4">
                  <c:v>73.700956254509322</c:v>
                </c:pt>
                <c:pt idx="5">
                  <c:v>74.376656830400748</c:v>
                </c:pt>
                <c:pt idx="6">
                  <c:v>86.391757235371969</c:v>
                </c:pt>
                <c:pt idx="7">
                  <c:v>86.829490475868141</c:v>
                </c:pt>
                <c:pt idx="8">
                  <c:v>81.49989122823844</c:v>
                </c:pt>
                <c:pt idx="9">
                  <c:v>72.569232168710826</c:v>
                </c:pt>
                <c:pt idx="10">
                  <c:v>71.259354341223244</c:v>
                </c:pt>
                <c:pt idx="11">
                  <c:v>72.156510799663252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4A-324E-A9FC-210DD5893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8735344"/>
        <c:axId val="358737072"/>
      </c:lineChart>
      <c:dateAx>
        <c:axId val="35873534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8737072"/>
        <c:crosses val="autoZero"/>
        <c:auto val="1"/>
        <c:lblOffset val="100"/>
        <c:baseTimeUnit val="months"/>
      </c:dateAx>
      <c:valAx>
        <c:axId val="358737072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873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Which Quarter has the least Revenue</a:t>
            </a:r>
            <a:r>
              <a:rPr lang="en-US" baseline="0"/>
              <a:t> Reduction Opportunities?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90-134C-A77D-D9F36D79FF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'What-If Analysis'!$D$66:$D$69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'What-If Analysis'!$Q$66:$Q$69</c:f>
              <c:numCache>
                <c:formatCode>"$"#,##0.00;[Red]\-"$"#,##0.00</c:formatCode>
                <c:ptCount val="4"/>
                <c:pt idx="0">
                  <c:v>141675660.03799999</c:v>
                </c:pt>
                <c:pt idx="1">
                  <c:v>153195448.35699999</c:v>
                </c:pt>
                <c:pt idx="2">
                  <c:v>154187083.64099997</c:v>
                </c:pt>
                <c:pt idx="3">
                  <c:v>157707855.47099999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0-134C-A77D-D9F36D79F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3543055"/>
        <c:axId val="1233544767"/>
      </c:barChart>
      <c:catAx>
        <c:axId val="1233543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544767"/>
        <c:crosses val="autoZero"/>
        <c:auto val="1"/>
        <c:lblAlgn val="ctr"/>
        <c:lblOffset val="100"/>
        <c:noMultiLvlLbl val="0"/>
      </c:catAx>
      <c:valAx>
        <c:axId val="1233544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54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Cost to Produce vs WBMP Market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Average Desalination Costs to Produce ($/ML)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'Economic Cost Analysis'!$A$109:$A$111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'Economic Cost Analysis'!$B$109:$B$111</c:f>
              <c:numCache>
                <c:formatCode>"$"#,##0.00;[Red]\-"$"#,##0.00\ "$/ML"</c:formatCode>
                <c:ptCount val="3"/>
                <c:pt idx="0">
                  <c:v>25.001374005209875</c:v>
                </c:pt>
                <c:pt idx="1">
                  <c:v>54.231506516209812</c:v>
                </c:pt>
                <c:pt idx="2">
                  <c:v>35.804189198254953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8-BF42-A565-BA7AA31441C1}"/>
            </c:ext>
          </c:extLst>
        </c:ser>
        <c:ser>
          <c:idx val="1"/>
          <c:order val="1"/>
          <c:tx>
            <c:v>Overall Average WBMP Market Price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'Economic Cost Analysis'!$A$109:$A$111</c:f>
              <c:strCache>
                <c:ptCount val="3"/>
                <c:pt idx="0">
                  <c:v>Kootha</c:v>
                </c:pt>
                <c:pt idx="1">
                  <c:v>Surjek</c:v>
                </c:pt>
                <c:pt idx="2">
                  <c:v>Jutik</c:v>
                </c:pt>
              </c:strCache>
            </c:strRef>
          </c:cat>
          <c:val>
            <c:numRef>
              <c:f>'Economic Cost Analysis'!$C$109:$C$111</c:f>
              <c:numCache>
                <c:formatCode>"$"#,##0.00;[Red]\-"$"#,##0.00</c:formatCode>
                <c:ptCount val="3"/>
                <c:pt idx="0">
                  <c:v>76.577683416577656</c:v>
                </c:pt>
                <c:pt idx="1">
                  <c:v>76.577683416577656</c:v>
                </c:pt>
                <c:pt idx="2">
                  <c:v>76.577683416577656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8-BF42-A565-BA7AA3144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7601728"/>
        <c:axId val="658008224"/>
      </c:barChart>
      <c:catAx>
        <c:axId val="65760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8008224"/>
        <c:crosses val="autoZero"/>
        <c:auto val="1"/>
        <c:lblAlgn val="ctr"/>
        <c:lblOffset val="100"/>
        <c:noMultiLvlLbl val="0"/>
      </c:catAx>
      <c:valAx>
        <c:axId val="65800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;[Red]\-&quot;$&quot;#,##0.00\ &quot;$/ML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60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Aggregated Cost to Produce</a:t>
            </a:r>
            <a:r>
              <a:rPr lang="en-US" baseline="0"/>
              <a:t> vs Kootha, Surjek and Jutik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Kootha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'Economic Cost Analysis'!$G$54:$R$54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'Economic Cost Analysis'!$G$25:$R$25</c:f>
              <c:numCache>
                <c:formatCode>"$"#,##0.00;[Red]\-"$"#,##0.00\ "$/ML"</c:formatCode>
                <c:ptCount val="12"/>
                <c:pt idx="0">
                  <c:v>19.008554460403097</c:v>
                </c:pt>
                <c:pt idx="1">
                  <c:v>25.492172623052561</c:v>
                </c:pt>
                <c:pt idx="2">
                  <c:v>20.246430814356369</c:v>
                </c:pt>
                <c:pt idx="3">
                  <c:v>18.538208897820557</c:v>
                </c:pt>
                <c:pt idx="4">
                  <c:v>37.173188734592117</c:v>
                </c:pt>
                <c:pt idx="5">
                  <c:v>18.926571259334377</c:v>
                </c:pt>
                <c:pt idx="6">
                  <c:v>28.088710165040506</c:v>
                </c:pt>
                <c:pt idx="7">
                  <c:v>27.869870996564565</c:v>
                </c:pt>
                <c:pt idx="8">
                  <c:v>23.038875551690033</c:v>
                </c:pt>
                <c:pt idx="9">
                  <c:v>25.83514265328515</c:v>
                </c:pt>
                <c:pt idx="10">
                  <c:v>27.720966236714666</c:v>
                </c:pt>
                <c:pt idx="11">
                  <c:v>37.542526065045898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9B-6747-B9D2-C8C9D72EC6F2}"/>
            </c:ext>
          </c:extLst>
        </c:ser>
        <c:ser>
          <c:idx val="1"/>
          <c:order val="1"/>
          <c:tx>
            <c:v>Surjek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'Economic Cost Analysis'!$G$54:$R$54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'Economic Cost Analysis'!$G$36:$R$36</c:f>
              <c:numCache>
                <c:formatCode>"$"#,##0.00;[Red]\-"$"#,##0.00\ "$/ML"</c:formatCode>
                <c:ptCount val="12"/>
                <c:pt idx="0">
                  <c:v>52.749704483604205</c:v>
                </c:pt>
                <c:pt idx="1">
                  <c:v>59.863878813385597</c:v>
                </c:pt>
                <c:pt idx="2">
                  <c:v>63.762690282929732</c:v>
                </c:pt>
                <c:pt idx="3">
                  <c:v>78.188472724753353</c:v>
                </c:pt>
                <c:pt idx="4">
                  <c:v>86.296565119062237</c:v>
                </c:pt>
                <c:pt idx="5">
                  <c:v>53.948353573134469</c:v>
                </c:pt>
                <c:pt idx="6">
                  <c:v>48.540531907011328</c:v>
                </c:pt>
                <c:pt idx="7">
                  <c:v>53.6634853464152</c:v>
                </c:pt>
                <c:pt idx="8">
                  <c:v>40.836500744441324</c:v>
                </c:pt>
                <c:pt idx="9">
                  <c:v>45.840777989347593</c:v>
                </c:pt>
                <c:pt idx="10">
                  <c:v>52.15056777763202</c:v>
                </c:pt>
                <c:pt idx="11">
                  <c:v>32.611103369040954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B-6747-B9D2-C8C9D72EC6F2}"/>
            </c:ext>
          </c:extLst>
        </c:ser>
        <c:ser>
          <c:idx val="2"/>
          <c:order val="2"/>
          <c:tx>
            <c:v>Jutik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'Economic Cost Analysis'!$G$54:$R$54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'Economic Cost Analysis'!$G$47:$R$47</c:f>
              <c:numCache>
                <c:formatCode>"$"#,##0.00;[Red]\-"$"#,##0.00\ "$/ML"</c:formatCode>
                <c:ptCount val="12"/>
                <c:pt idx="0">
                  <c:v>32.644395721309699</c:v>
                </c:pt>
                <c:pt idx="1">
                  <c:v>31.479124229144556</c:v>
                </c:pt>
                <c:pt idx="2">
                  <c:v>43.716430376785929</c:v>
                </c:pt>
                <c:pt idx="3">
                  <c:v>42.437461047529588</c:v>
                </c:pt>
                <c:pt idx="4">
                  <c:v>30.832306822249631</c:v>
                </c:pt>
                <c:pt idx="5">
                  <c:v>40.056607121314855</c:v>
                </c:pt>
                <c:pt idx="6">
                  <c:v>35.252643432800426</c:v>
                </c:pt>
                <c:pt idx="7">
                  <c:v>34.40970474928254</c:v>
                </c:pt>
                <c:pt idx="8">
                  <c:v>37.625793747462467</c:v>
                </c:pt>
                <c:pt idx="9">
                  <c:v>28.473377116074253</c:v>
                </c:pt>
                <c:pt idx="10">
                  <c:v>33.597819136852863</c:v>
                </c:pt>
                <c:pt idx="11">
                  <c:v>43.016148904686304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9B-6747-B9D2-C8C9D72EC6F2}"/>
            </c:ext>
          </c:extLst>
        </c:ser>
        <c:ser>
          <c:idx val="3"/>
          <c:order val="3"/>
          <c:tx>
            <c:v>Average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'Economic Cost Analysis'!$G$54:$R$54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'Economic Cost Analysis'!$G$65:$R$65</c:f>
              <c:numCache>
                <c:formatCode>"$"#,##0.00;[Red]\-"$"#,##0.00</c:formatCode>
                <c:ptCount val="12"/>
                <c:pt idx="0">
                  <c:v>35.4895180180268</c:v>
                </c:pt>
                <c:pt idx="1">
                  <c:v>40.083392414844859</c:v>
                </c:pt>
                <c:pt idx="2">
                  <c:v>43.723249193160825</c:v>
                </c:pt>
                <c:pt idx="3">
                  <c:v>48.886636356341938</c:v>
                </c:pt>
                <c:pt idx="4">
                  <c:v>56.088102230227392</c:v>
                </c:pt>
                <c:pt idx="5">
                  <c:v>39.044842053719009</c:v>
                </c:pt>
                <c:pt idx="6">
                  <c:v>38.918514174055339</c:v>
                </c:pt>
                <c:pt idx="7">
                  <c:v>41.543319627670591</c:v>
                </c:pt>
                <c:pt idx="8">
                  <c:v>35.585926820374347</c:v>
                </c:pt>
                <c:pt idx="9">
                  <c:v>35.928208360416363</c:v>
                </c:pt>
                <c:pt idx="10">
                  <c:v>41.013913758286826</c:v>
                </c:pt>
                <c:pt idx="11">
                  <c:v>37.418278653587279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B-6747-B9D2-C8C9D72EC6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5881007"/>
        <c:axId val="816251759"/>
      </c:lineChart>
      <c:dateAx>
        <c:axId val="81588100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6251759"/>
        <c:crosses val="autoZero"/>
        <c:auto val="1"/>
        <c:lblOffset val="100"/>
        <c:baseTimeUnit val="months"/>
      </c:dateAx>
      <c:valAx>
        <c:axId val="816251759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;[Red]\-&quot;$&quot;#,##0.00\ &quot;$/ML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881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lvl="0"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rPr lang="en-US" sz="1400" b="0" i="0">
                <a:solidFill>
                  <a:srgbClr val="757575"/>
                </a:solidFill>
                <a:latin typeface="Calibri"/>
              </a:rPr>
              <a:t>Kootha Scatter Plot (Cost to Produce vs. Volume of Water Produced)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>
              <a:noFill/>
            </a:ln>
          </c:spPr>
          <c:xVal>
            <c:numRef>
              <c:f>'Economic Cost Analysis'!$G$24:$R$24</c:f>
              <c:numCache>
                <c:formatCode>#,##0.00</c:formatCode>
                <c:ptCount val="12"/>
                <c:pt idx="0">
                  <c:v>181933.291</c:v>
                </c:pt>
                <c:pt idx="1">
                  <c:v>187443.943</c:v>
                </c:pt>
                <c:pt idx="2">
                  <c:v>184773.65699999998</c:v>
                </c:pt>
                <c:pt idx="3">
                  <c:v>191541.09299999999</c:v>
                </c:pt>
                <c:pt idx="4">
                  <c:v>98096.062000000005</c:v>
                </c:pt>
                <c:pt idx="5">
                  <c:v>185306.853</c:v>
                </c:pt>
                <c:pt idx="6">
                  <c:v>186901.43900000001</c:v>
                </c:pt>
                <c:pt idx="7">
                  <c:v>158586.76500000001</c:v>
                </c:pt>
                <c:pt idx="8">
                  <c:v>191403.67599999998</c:v>
                </c:pt>
                <c:pt idx="9">
                  <c:v>171057.864</c:v>
                </c:pt>
                <c:pt idx="10">
                  <c:v>169286.99900000001</c:v>
                </c:pt>
                <c:pt idx="11">
                  <c:v>142508.717</c:v>
                </c:pt>
              </c:numCache>
            </c:numRef>
          </c:xVal>
          <c:yVal>
            <c:numRef>
              <c:f>'Economic Cost Analysis'!$G$25:$R$25</c:f>
              <c:numCache>
                <c:formatCode>"$"#,##0.00;[Red]\-"$"#,##0.00\ "$/ML"</c:formatCode>
                <c:ptCount val="12"/>
                <c:pt idx="0">
                  <c:v>19.008554460403097</c:v>
                </c:pt>
                <c:pt idx="1">
                  <c:v>25.492172623052561</c:v>
                </c:pt>
                <c:pt idx="2">
                  <c:v>20.246430814356369</c:v>
                </c:pt>
                <c:pt idx="3">
                  <c:v>18.538208897820557</c:v>
                </c:pt>
                <c:pt idx="4">
                  <c:v>37.173188734592117</c:v>
                </c:pt>
                <c:pt idx="5">
                  <c:v>18.926571259334377</c:v>
                </c:pt>
                <c:pt idx="6">
                  <c:v>28.088710165040506</c:v>
                </c:pt>
                <c:pt idx="7">
                  <c:v>27.869870996564565</c:v>
                </c:pt>
                <c:pt idx="8">
                  <c:v>23.038875551690033</c:v>
                </c:pt>
                <c:pt idx="9">
                  <c:v>25.83514265328515</c:v>
                </c:pt>
                <c:pt idx="10">
                  <c:v>27.720966236714666</c:v>
                </c:pt>
                <c:pt idx="11">
                  <c:v>37.542526065045898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76B-C14E-A051-47A8DEB28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0201817"/>
        <c:axId val="1917058652"/>
      </c:scatterChart>
      <c:valAx>
        <c:axId val="1550201817"/>
        <c:scaling>
          <c:orientation val="minMax"/>
        </c:scaling>
        <c:delete val="0"/>
        <c:axPos val="b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sz="900" b="0" i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1917058652"/>
        <c:crosses val="autoZero"/>
        <c:crossBetween val="midCat"/>
      </c:valAx>
      <c:valAx>
        <c:axId val="1917058652"/>
        <c:scaling>
          <c:orientation val="minMax"/>
        </c:scaling>
        <c:delete val="0"/>
        <c:axPos val="l"/>
        <c:numFmt formatCode="&quot;$&quot;#,##0.00;[Red]\-&quot;$&quot;#,##0.00\ &quot;$/ML&quot;" sourceLinked="1"/>
        <c:majorTickMark val="cross"/>
        <c:minorTickMark val="cross"/>
        <c:tickLblPos val="nextTo"/>
        <c:spPr>
          <a:ln>
            <a:noFill/>
          </a:ln>
        </c:spPr>
        <c:crossAx val="1550201817"/>
        <c:crosses val="autoZero"/>
        <c:crossBetween val="midCat"/>
      </c:valAx>
    </c:plotArea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lvl="0"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rPr lang="en-US" sz="1400" b="0" i="0">
                <a:solidFill>
                  <a:srgbClr val="757575"/>
                </a:solidFill>
                <a:latin typeface="Calibri"/>
              </a:rPr>
              <a:t>Surjek Scatter Plot (Cost to Produce vs. Volume of Water Produced)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>
              <a:noFill/>
            </a:ln>
          </c:spPr>
          <c:xVal>
            <c:numRef>
              <c:f>'Economic Cost Analysis'!$G$35:$R$35</c:f>
              <c:numCache>
                <c:formatCode>#,##0.00</c:formatCode>
                <c:ptCount val="12"/>
                <c:pt idx="0">
                  <c:v>214968.99900000001</c:v>
                </c:pt>
                <c:pt idx="1">
                  <c:v>228199.05100000001</c:v>
                </c:pt>
                <c:pt idx="2">
                  <c:v>216536.467</c:v>
                </c:pt>
                <c:pt idx="3">
                  <c:v>236760.27600000001</c:v>
                </c:pt>
                <c:pt idx="4">
                  <c:v>232052.864</c:v>
                </c:pt>
                <c:pt idx="5">
                  <c:v>240210.16</c:v>
                </c:pt>
                <c:pt idx="6">
                  <c:v>288160.549</c:v>
                </c:pt>
                <c:pt idx="7">
                  <c:v>306884.52399999998</c:v>
                </c:pt>
                <c:pt idx="8">
                  <c:v>367651.00600000005</c:v>
                </c:pt>
                <c:pt idx="9">
                  <c:v>351990.16599999997</c:v>
                </c:pt>
                <c:pt idx="10">
                  <c:v>362822</c:v>
                </c:pt>
                <c:pt idx="11">
                  <c:v>260312.3</c:v>
                </c:pt>
              </c:numCache>
            </c:numRef>
          </c:xVal>
          <c:yVal>
            <c:numRef>
              <c:f>'Economic Cost Analysis'!$G$36:$R$36</c:f>
              <c:numCache>
                <c:formatCode>"$"#,##0.00;[Red]\-"$"#,##0.00\ "$/ML"</c:formatCode>
                <c:ptCount val="12"/>
                <c:pt idx="0">
                  <c:v>52.749704483604205</c:v>
                </c:pt>
                <c:pt idx="1">
                  <c:v>59.863878813385597</c:v>
                </c:pt>
                <c:pt idx="2">
                  <c:v>63.762690282929732</c:v>
                </c:pt>
                <c:pt idx="3">
                  <c:v>78.188472724753353</c:v>
                </c:pt>
                <c:pt idx="4">
                  <c:v>86.296565119062237</c:v>
                </c:pt>
                <c:pt idx="5">
                  <c:v>53.948353573134469</c:v>
                </c:pt>
                <c:pt idx="6">
                  <c:v>48.540531907011328</c:v>
                </c:pt>
                <c:pt idx="7">
                  <c:v>53.6634853464152</c:v>
                </c:pt>
                <c:pt idx="8">
                  <c:v>40.836500744441324</c:v>
                </c:pt>
                <c:pt idx="9">
                  <c:v>45.840777989347593</c:v>
                </c:pt>
                <c:pt idx="10">
                  <c:v>52.15056777763202</c:v>
                </c:pt>
                <c:pt idx="11">
                  <c:v>32.611103369040954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28C-834C-95FF-D0CAA69B3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9232527"/>
        <c:axId val="1693238504"/>
      </c:scatterChart>
      <c:valAx>
        <c:axId val="1749232527"/>
        <c:scaling>
          <c:orientation val="minMax"/>
        </c:scaling>
        <c:delete val="0"/>
        <c:axPos val="b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sz="900" b="0" i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1693238504"/>
        <c:crosses val="autoZero"/>
        <c:crossBetween val="midCat"/>
      </c:valAx>
      <c:valAx>
        <c:axId val="1693238504"/>
        <c:scaling>
          <c:orientation val="minMax"/>
        </c:scaling>
        <c:delete val="0"/>
        <c:axPos val="l"/>
        <c:numFmt formatCode="&quot;$&quot;#,##0.00;[Red]\-&quot;$&quot;#,##0.00\ &quot;$/ML&quot;" sourceLinked="1"/>
        <c:majorTickMark val="cross"/>
        <c:minorTickMark val="cross"/>
        <c:tickLblPos val="nextTo"/>
        <c:spPr>
          <a:ln>
            <a:noFill/>
          </a:ln>
        </c:spPr>
        <c:crossAx val="1749232527"/>
        <c:crosses val="autoZero"/>
        <c:crossBetween val="midCat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lvl="0"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rPr lang="en-US" sz="1400" b="0" i="0">
                <a:solidFill>
                  <a:srgbClr val="757575"/>
                </a:solidFill>
                <a:latin typeface="Calibri"/>
              </a:rPr>
              <a:t>Jutik Scatter Plot (Cost to Produce vs. Volume of Water Produced)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>
              <a:noFill/>
            </a:ln>
          </c:spPr>
          <c:xVal>
            <c:numRef>
              <c:f>'Economic Cost Analysis'!$G$46:$R$46</c:f>
              <c:numCache>
                <c:formatCode>#,##0.00</c:formatCode>
                <c:ptCount val="12"/>
                <c:pt idx="0">
                  <c:v>250241.99099999998</c:v>
                </c:pt>
                <c:pt idx="1">
                  <c:v>206740.70300000001</c:v>
                </c:pt>
                <c:pt idx="2">
                  <c:v>201235.46099999995</c:v>
                </c:pt>
                <c:pt idx="3">
                  <c:v>174369.56599999999</c:v>
                </c:pt>
                <c:pt idx="4">
                  <c:v>204091.05</c:v>
                </c:pt>
                <c:pt idx="5">
                  <c:v>146356.666</c:v>
                </c:pt>
                <c:pt idx="6">
                  <c:v>204202.49700000003</c:v>
                </c:pt>
                <c:pt idx="7">
                  <c:v>217430.19900000002</c:v>
                </c:pt>
                <c:pt idx="8">
                  <c:v>230982.2</c:v>
                </c:pt>
                <c:pt idx="9">
                  <c:v>236441.136</c:v>
                </c:pt>
                <c:pt idx="10">
                  <c:v>241407.36899999998</c:v>
                </c:pt>
                <c:pt idx="11">
                  <c:v>220380.334</c:v>
                </c:pt>
              </c:numCache>
            </c:numRef>
          </c:xVal>
          <c:yVal>
            <c:numRef>
              <c:f>'Economic Cost Analysis'!$G$47:$R$47</c:f>
              <c:numCache>
                <c:formatCode>"$"#,##0.00;[Red]\-"$"#,##0.00\ "$/ML"</c:formatCode>
                <c:ptCount val="12"/>
                <c:pt idx="0">
                  <c:v>32.644395721309699</c:v>
                </c:pt>
                <c:pt idx="1">
                  <c:v>31.479124229144556</c:v>
                </c:pt>
                <c:pt idx="2">
                  <c:v>43.716430376785929</c:v>
                </c:pt>
                <c:pt idx="3">
                  <c:v>42.437461047529588</c:v>
                </c:pt>
                <c:pt idx="4">
                  <c:v>30.832306822249631</c:v>
                </c:pt>
                <c:pt idx="5">
                  <c:v>40.056607121314855</c:v>
                </c:pt>
                <c:pt idx="6">
                  <c:v>35.252643432800426</c:v>
                </c:pt>
                <c:pt idx="7">
                  <c:v>34.40970474928254</c:v>
                </c:pt>
                <c:pt idx="8">
                  <c:v>37.625793747462467</c:v>
                </c:pt>
                <c:pt idx="9">
                  <c:v>28.473377116074253</c:v>
                </c:pt>
                <c:pt idx="10">
                  <c:v>33.597819136852863</c:v>
                </c:pt>
                <c:pt idx="11">
                  <c:v>43.016148904686304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E49-A84E-97B8-021573843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4507374"/>
        <c:axId val="1369889910"/>
      </c:scatterChart>
      <c:valAx>
        <c:axId val="1164507374"/>
        <c:scaling>
          <c:orientation val="minMax"/>
        </c:scaling>
        <c:delete val="0"/>
        <c:axPos val="b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sz="900" b="0" i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1369889910"/>
        <c:crosses val="autoZero"/>
        <c:crossBetween val="midCat"/>
      </c:valAx>
      <c:valAx>
        <c:axId val="1369889910"/>
        <c:scaling>
          <c:orientation val="minMax"/>
        </c:scaling>
        <c:delete val="0"/>
        <c:axPos val="l"/>
        <c:numFmt formatCode="&quot;$&quot;#,##0.00;[Red]\-&quot;$&quot;#,##0.00\ &quot;$/ML&quot;" sourceLinked="1"/>
        <c:majorTickMark val="cross"/>
        <c:minorTickMark val="cross"/>
        <c:tickLblPos val="nextTo"/>
        <c:spPr>
          <a:ln>
            <a:noFill/>
          </a:ln>
        </c:spPr>
        <c:crossAx val="1164507374"/>
        <c:crosses val="autoZero"/>
        <c:crossBetween val="midCat"/>
      </c:valAx>
    </c:plotArea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Overall (Hard Water + Soft Water)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'Economic Market Analysis'!$C$15:$N$15</c:f>
              <c:numCache>
                <c:formatCode>0.00</c:formatCode>
                <c:ptCount val="12"/>
                <c:pt idx="0">
                  <c:v>2298.1901589653971</c:v>
                </c:pt>
                <c:pt idx="1">
                  <c:v>2406.0918962111036</c:v>
                </c:pt>
                <c:pt idx="2">
                  <c:v>2127.8145432709762</c:v>
                </c:pt>
                <c:pt idx="3">
                  <c:v>2185.7997542263711</c:v>
                </c:pt>
                <c:pt idx="4">
                  <c:v>2145.783718866106</c:v>
                </c:pt>
                <c:pt idx="5">
                  <c:v>2229.7496611442612</c:v>
                </c:pt>
                <c:pt idx="6">
                  <c:v>2283.0502472527678</c:v>
                </c:pt>
                <c:pt idx="7">
                  <c:v>2201.0592458815063</c:v>
                </c:pt>
                <c:pt idx="8">
                  <c:v>2153.3431850899542</c:v>
                </c:pt>
                <c:pt idx="9">
                  <c:v>2098.9913812617797</c:v>
                </c:pt>
                <c:pt idx="10">
                  <c:v>2200.9293289926663</c:v>
                </c:pt>
                <c:pt idx="11">
                  <c:v>2312.1995397611431</c:v>
                </c:pt>
              </c:numCache>
            </c:numRef>
          </c:xVal>
          <c:yVal>
            <c:numRef>
              <c:f>'Economic Market Analysis'!$C$16:$N$16</c:f>
              <c:numCache>
                <c:formatCode>_("$"* #,##0.00_);_("$"* \(#,##0.00\);_("$"* "-"??_);_(@_)</c:formatCode>
                <c:ptCount val="12"/>
                <c:pt idx="0">
                  <c:v>86.391757235371955</c:v>
                </c:pt>
                <c:pt idx="1">
                  <c:v>86.829490475868127</c:v>
                </c:pt>
                <c:pt idx="2">
                  <c:v>81.499891228238411</c:v>
                </c:pt>
                <c:pt idx="3">
                  <c:v>72.569232168710869</c:v>
                </c:pt>
                <c:pt idx="4">
                  <c:v>71.259354341223258</c:v>
                </c:pt>
                <c:pt idx="5">
                  <c:v>72.156510799663266</c:v>
                </c:pt>
                <c:pt idx="6">
                  <c:v>76.60272043010751</c:v>
                </c:pt>
                <c:pt idx="7">
                  <c:v>74.932540098566264</c:v>
                </c:pt>
                <c:pt idx="8">
                  <c:v>74.066319823232277</c:v>
                </c:pt>
                <c:pt idx="9">
                  <c:v>75.093148943932391</c:v>
                </c:pt>
                <c:pt idx="10">
                  <c:v>73.700956254509322</c:v>
                </c:pt>
                <c:pt idx="11">
                  <c:v>74.376656830400734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1D5-4C44-AEED-05F3878DD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7186911"/>
        <c:axId val="2007188623"/>
      </c:scatterChart>
      <c:valAx>
        <c:axId val="20071869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188623"/>
        <c:crosses val="autoZero"/>
        <c:crossBetween val="midCat"/>
      </c:valAx>
      <c:valAx>
        <c:axId val="2007188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1869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Hard Water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'Economic Market Analysis'!$C$18:$N$18</c:f>
              <c:numCache>
                <c:formatCode>0.00</c:formatCode>
                <c:ptCount val="12"/>
                <c:pt idx="0">
                  <c:v>2391.3758824827114</c:v>
                </c:pt>
                <c:pt idx="1">
                  <c:v>2533.2689003303749</c:v>
                </c:pt>
                <c:pt idx="2">
                  <c:v>2203.7442618771042</c:v>
                </c:pt>
                <c:pt idx="3">
                  <c:v>2349.5141185681864</c:v>
                </c:pt>
                <c:pt idx="4">
                  <c:v>2243.584512119523</c:v>
                </c:pt>
                <c:pt idx="5">
                  <c:v>2359.3149577593058</c:v>
                </c:pt>
                <c:pt idx="6">
                  <c:v>2443.2652008227428</c:v>
                </c:pt>
                <c:pt idx="7">
                  <c:v>2300.8485926974759</c:v>
                </c:pt>
                <c:pt idx="8">
                  <c:v>2261.3424374589526</c:v>
                </c:pt>
                <c:pt idx="9">
                  <c:v>2188.7956099697999</c:v>
                </c:pt>
                <c:pt idx="10">
                  <c:v>2303.4374718156046</c:v>
                </c:pt>
                <c:pt idx="11">
                  <c:v>2443.6005061474129</c:v>
                </c:pt>
              </c:numCache>
            </c:numRef>
          </c:xVal>
          <c:yVal>
            <c:numRef>
              <c:f>'Economic Market Analysis'!$C$19:$N$19</c:f>
              <c:numCache>
                <c:formatCode>_("$"* #,##0.00_);_("$"* \(#,##0.00\);_("$"* "-"??_);_(@_)</c:formatCode>
                <c:ptCount val="12"/>
                <c:pt idx="0">
                  <c:v>110.48381542382315</c:v>
                </c:pt>
                <c:pt idx="1">
                  <c:v>110.62720422979757</c:v>
                </c:pt>
                <c:pt idx="2">
                  <c:v>110.55818806730868</c:v>
                </c:pt>
                <c:pt idx="3">
                  <c:v>93.17518584656078</c:v>
                </c:pt>
                <c:pt idx="4">
                  <c:v>93.408910429176501</c:v>
                </c:pt>
                <c:pt idx="5">
                  <c:v>92.851211447811423</c:v>
                </c:pt>
                <c:pt idx="6">
                  <c:v>92.809567652329747</c:v>
                </c:pt>
                <c:pt idx="7">
                  <c:v>93.14548020527856</c:v>
                </c:pt>
                <c:pt idx="8">
                  <c:v>92.989220833333306</c:v>
                </c:pt>
                <c:pt idx="9">
                  <c:v>92.823577188940064</c:v>
                </c:pt>
                <c:pt idx="10">
                  <c:v>93.029854347041791</c:v>
                </c:pt>
                <c:pt idx="11">
                  <c:v>93.232935483870918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4C-F94B-A26C-EE801DE22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7126239"/>
        <c:axId val="2008013599"/>
      </c:scatterChart>
      <c:valAx>
        <c:axId val="20071262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8013599"/>
        <c:crosses val="autoZero"/>
        <c:crossBetween val="midCat"/>
      </c:valAx>
      <c:valAx>
        <c:axId val="200801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1262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Soft Water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'Economic Market Analysis'!$C$21:$N$21</c:f>
              <c:numCache>
                <c:formatCode>0.00</c:formatCode>
                <c:ptCount val="12"/>
                <c:pt idx="0">
                  <c:v>2205.0044354480824</c:v>
                </c:pt>
                <c:pt idx="1">
                  <c:v>2278.9148920918328</c:v>
                </c:pt>
                <c:pt idx="2">
                  <c:v>2051.8848246648477</c:v>
                </c:pt>
                <c:pt idx="3">
                  <c:v>2022.0853898845555</c:v>
                </c:pt>
                <c:pt idx="4">
                  <c:v>2047.9829256126895</c:v>
                </c:pt>
                <c:pt idx="5">
                  <c:v>2100.1843645292161</c:v>
                </c:pt>
                <c:pt idx="6">
                  <c:v>2122.8352936827923</c:v>
                </c:pt>
                <c:pt idx="7">
                  <c:v>2101.2698990655363</c:v>
                </c:pt>
                <c:pt idx="8">
                  <c:v>2045.3439327209553</c:v>
                </c:pt>
                <c:pt idx="9">
                  <c:v>2009.1871525537595</c:v>
                </c:pt>
                <c:pt idx="10">
                  <c:v>2098.4211861697281</c:v>
                </c:pt>
                <c:pt idx="11">
                  <c:v>2180.7985733748733</c:v>
                </c:pt>
              </c:numCache>
            </c:numRef>
          </c:xVal>
          <c:yVal>
            <c:numRef>
              <c:f>'Economic Market Analysis'!$C$22:$N$22</c:f>
              <c:numCache>
                <c:formatCode>_("$"* #,##0.00_);_("$"* \(#,##0.00\);_("$"* "-"??_);_(@_)</c:formatCode>
                <c:ptCount val="12"/>
                <c:pt idx="0">
                  <c:v>62.299699046920772</c:v>
                </c:pt>
                <c:pt idx="1">
                  <c:v>63.031776721938691</c:v>
                </c:pt>
                <c:pt idx="2">
                  <c:v>52.441594389168138</c:v>
                </c:pt>
                <c:pt idx="3">
                  <c:v>51.963278490860944</c:v>
                </c:pt>
                <c:pt idx="4">
                  <c:v>49.10979825327</c:v>
                </c:pt>
                <c:pt idx="5">
                  <c:v>51.461810151515095</c:v>
                </c:pt>
                <c:pt idx="6">
                  <c:v>60.395873207885266</c:v>
                </c:pt>
                <c:pt idx="7">
                  <c:v>56.719599991853968</c:v>
                </c:pt>
                <c:pt idx="8">
                  <c:v>55.143418813131255</c:v>
                </c:pt>
                <c:pt idx="9">
                  <c:v>57.362720698924704</c:v>
                </c:pt>
                <c:pt idx="10">
                  <c:v>54.372058161976852</c:v>
                </c:pt>
                <c:pt idx="11">
                  <c:v>55.520378176930556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64D-4945-993C-92A3C4474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7126239"/>
        <c:axId val="2008013599"/>
      </c:scatterChart>
      <c:valAx>
        <c:axId val="20071262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8013599"/>
        <c:crosses val="autoZero"/>
        <c:crossBetween val="midCat"/>
      </c:valAx>
      <c:valAx>
        <c:axId val="200801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1262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3188" y="1143000"/>
            <a:ext cx="4111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143000"/>
            <a:ext cx="4111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143000"/>
            <a:ext cx="4111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143000"/>
            <a:ext cx="4111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143000"/>
            <a:ext cx="4111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171451" y="185145"/>
            <a:ext cx="86185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/>
          <p:nvPr/>
        </p:nvSpPr>
        <p:spPr>
          <a:xfrm>
            <a:off x="8132763" y="36513"/>
            <a:ext cx="657225" cy="12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8"/>
          <p:cNvSpPr txBox="1">
            <a:spLocks noGrp="1"/>
          </p:cNvSpPr>
          <p:nvPr>
            <p:ph type="ctrTitle"/>
          </p:nvPr>
        </p:nvSpPr>
        <p:spPr>
          <a:xfrm>
            <a:off x="4030876" y="650494"/>
            <a:ext cx="476971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ubTitle" idx="1"/>
          </p:nvPr>
        </p:nvSpPr>
        <p:spPr>
          <a:xfrm>
            <a:off x="4030876" y="1887470"/>
            <a:ext cx="47697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250"/>
              <a:buChar char="▪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60"/>
              <a:buChar char="–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60"/>
              <a:buChar char="▫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/>
          <p:nvPr/>
        </p:nvSpPr>
        <p:spPr>
          <a:xfrm>
            <a:off x="3175" y="6233824"/>
            <a:ext cx="8958263" cy="4876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"/>
          <p:cNvSpPr/>
          <p:nvPr/>
        </p:nvSpPr>
        <p:spPr>
          <a:xfrm>
            <a:off x="0" y="6187568"/>
            <a:ext cx="896143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8132763" y="36513"/>
            <a:ext cx="657225" cy="12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2329657" y="2317778"/>
            <a:ext cx="430212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171451" y="185145"/>
            <a:ext cx="86185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/>
          <p:nvPr/>
        </p:nvSpPr>
        <p:spPr>
          <a:xfrm>
            <a:off x="8664954" y="6462552"/>
            <a:ext cx="12503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"/>
          <p:cNvSpPr/>
          <p:nvPr/>
        </p:nvSpPr>
        <p:spPr>
          <a:xfrm>
            <a:off x="0" y="6674787"/>
            <a:ext cx="8961438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>
            <a:spLocks noGrp="1"/>
          </p:cNvSpPr>
          <p:nvPr>
            <p:ph type="title"/>
          </p:nvPr>
        </p:nvSpPr>
        <p:spPr>
          <a:xfrm>
            <a:off x="171451" y="185145"/>
            <a:ext cx="87375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/>
              <a:t>With an estimated 22% reduction in </a:t>
            </a:r>
            <a:r>
              <a:rPr lang="en-AU" sz="1200" b="1" dirty="0" err="1"/>
              <a:t>Surjek’s</a:t>
            </a:r>
            <a:r>
              <a:rPr lang="en-AU" sz="1200" b="1" dirty="0"/>
              <a:t> Revenues ($44 M) due to the Maintenance Outage, Quarter 4 presents the best balance of revenue-loss mitigation with respect to market pricing, as opposed to Quarter 1 which represents the highest demand (2,273 GL) and Water Balancing Market Prices ($84.84).</a:t>
            </a:r>
            <a:endParaRPr sz="1200" b="1" dirty="0"/>
          </a:p>
        </p:txBody>
      </p:sp>
      <p:cxnSp>
        <p:nvCxnSpPr>
          <p:cNvPr id="41" name="Google Shape;41;p2"/>
          <p:cNvCxnSpPr/>
          <p:nvPr/>
        </p:nvCxnSpPr>
        <p:spPr>
          <a:xfrm>
            <a:off x="171451" y="894698"/>
            <a:ext cx="8439149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2"/>
          <p:cNvSpPr/>
          <p:nvPr/>
        </p:nvSpPr>
        <p:spPr>
          <a:xfrm>
            <a:off x="303213" y="1238975"/>
            <a:ext cx="830738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 this slide, we would like you to show the following:</a:t>
            </a:r>
            <a:br>
              <a:rPr lang="en-AU" sz="1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1) Using a column-chart, please show the quarterly revenue (Q1,Q2,Q3,Q4).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2) Using a </a:t>
            </a:r>
            <a:r>
              <a:rPr lang="en-AU" sz="1200" b="1">
                <a:solidFill>
                  <a:srgbClr val="595959"/>
                </a:solidFill>
              </a:rPr>
              <a:t>line chart</a:t>
            </a:r>
            <a:r>
              <a:rPr lang="en-AU" sz="1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create a chart </a:t>
            </a:r>
            <a:r>
              <a:rPr lang="en-AU" sz="1200" b="1">
                <a:solidFill>
                  <a:srgbClr val="595959"/>
                </a:solidFill>
              </a:rPr>
              <a:t>that</a:t>
            </a:r>
            <a:r>
              <a:rPr lang="en-AU" sz="1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shows the 12-Monthly Water Market Demand and Average Water Balancing Price(s) using the data from the Water Data Repository Table.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00705B"/>
                </a:solidFill>
                <a:latin typeface="Arial"/>
                <a:ea typeface="Arial"/>
                <a:cs typeface="Arial"/>
                <a:sym typeface="Arial"/>
              </a:rPr>
              <a:t>Hint: Use the Charts you’ve created in Q8 and Q10 in the What-If Analysis Tab. </a:t>
            </a: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A1D679E-CEC2-7F1B-C2C5-D20167CA2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5431827"/>
              </p:ext>
            </p:extLst>
          </p:nvPr>
        </p:nvGraphicFramePr>
        <p:xfrm>
          <a:off x="4220715" y="2623970"/>
          <a:ext cx="4075387" cy="2014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7FC9EE6-FDD9-D6F1-4623-3E8E086D36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0351689"/>
              </p:ext>
            </p:extLst>
          </p:nvPr>
        </p:nvGraphicFramePr>
        <p:xfrm>
          <a:off x="4540250" y="4475056"/>
          <a:ext cx="3443620" cy="2014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4AC735-9DD9-D07B-D5C3-E4B44DA92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126132"/>
              </p:ext>
            </p:extLst>
          </p:nvPr>
        </p:nvGraphicFramePr>
        <p:xfrm>
          <a:off x="0" y="3205148"/>
          <a:ext cx="4228018" cy="253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171451" y="185145"/>
            <a:ext cx="87375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/>
              <a:t>Of the three Desalination Plants, all three remain profitable at current market prices by a </a:t>
            </a:r>
            <a:r>
              <a:rPr lang="en-AU" sz="1200" b="1" dirty="0" err="1"/>
              <a:t>favorable</a:t>
            </a:r>
            <a:r>
              <a:rPr lang="en-AU" sz="1200" b="1" dirty="0"/>
              <a:t> margin; Clearly </a:t>
            </a:r>
            <a:r>
              <a:rPr lang="en-AU" sz="1200" b="1" dirty="0" err="1"/>
              <a:t>Kootha</a:t>
            </a:r>
            <a:r>
              <a:rPr lang="en-AU" sz="1200" b="1" dirty="0"/>
              <a:t> is the most cost-effective $25/ML) followed by Jutik ($35.80/ML) and lastly </a:t>
            </a:r>
            <a:r>
              <a:rPr lang="en-AU" sz="1200" b="1" dirty="0" err="1"/>
              <a:t>Surjek</a:t>
            </a:r>
            <a:r>
              <a:rPr lang="en-AU" sz="1200" b="1" dirty="0"/>
              <a:t> ($54.23/ML) which is consistent across the July-2013 to June-2014 period. </a:t>
            </a:r>
            <a:endParaRPr sz="1200" b="1" dirty="0"/>
          </a:p>
        </p:txBody>
      </p:sp>
      <p:cxnSp>
        <p:nvCxnSpPr>
          <p:cNvPr id="49" name="Google Shape;49;p3"/>
          <p:cNvCxnSpPr/>
          <p:nvPr/>
        </p:nvCxnSpPr>
        <p:spPr>
          <a:xfrm>
            <a:off x="171451" y="894698"/>
            <a:ext cx="8439149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3"/>
          <p:cNvSpPr/>
          <p:nvPr/>
        </p:nvSpPr>
        <p:spPr>
          <a:xfrm>
            <a:off x="303213" y="1238975"/>
            <a:ext cx="8307387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 this slide, we would like you to show the following:</a:t>
            </a:r>
            <a:b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1) Using a column-chart, please show the Overall Cost to Produce for Kootha, Surjek and Jutik compared against the Overall Desalination Cost to Produce ($/ML). This is the macro view.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2) Using a line-chart, trend the monthly Cost to Produce for: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Kootha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Sujrek</a:t>
            </a: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Jutik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Kootha + Surjek + Jutik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070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00705B"/>
                </a:solidFill>
                <a:latin typeface="Arial"/>
                <a:ea typeface="Arial"/>
                <a:cs typeface="Arial"/>
                <a:sym typeface="Arial"/>
              </a:rPr>
              <a:t>Hint: Please use the charts you’ve created for the Economic Cost Analysis Tab, Q5 and Q7.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D58EFF0-6283-4A1F-9051-059946DE0F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1854632"/>
              </p:ext>
            </p:extLst>
          </p:nvPr>
        </p:nvGraphicFramePr>
        <p:xfrm>
          <a:off x="242433" y="3547299"/>
          <a:ext cx="3773819" cy="2484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AF7C822-F78D-3973-CD1D-2C78C13BE6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5621391"/>
              </p:ext>
            </p:extLst>
          </p:nvPr>
        </p:nvGraphicFramePr>
        <p:xfrm>
          <a:off x="3893200" y="3635280"/>
          <a:ext cx="5068238" cy="2308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>
            <a:spLocks noGrp="1"/>
          </p:cNvSpPr>
          <p:nvPr>
            <p:ph type="title"/>
          </p:nvPr>
        </p:nvSpPr>
        <p:spPr>
          <a:xfrm>
            <a:off x="171451" y="185145"/>
            <a:ext cx="87375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/>
              <a:t>Contrasting the Cost to Produce against the Volume of Water Produced highlights clear </a:t>
            </a:r>
            <a:r>
              <a:rPr lang="en-AU" sz="1200" b="1" i="1" dirty="0"/>
              <a:t>&lt;economies of scale&gt;</a:t>
            </a:r>
            <a:r>
              <a:rPr lang="en-AU" sz="1200" b="1" dirty="0"/>
              <a:t> with costs rapidly dwindling across all plants as volume surges, with this being particularly noticeable across the </a:t>
            </a:r>
            <a:r>
              <a:rPr lang="en-AU" sz="1200" b="1" dirty="0" err="1"/>
              <a:t>Kootha</a:t>
            </a:r>
            <a:r>
              <a:rPr lang="en-AU" sz="1200" b="1" dirty="0"/>
              <a:t> and </a:t>
            </a:r>
            <a:r>
              <a:rPr lang="en-AU" sz="1200" b="1" dirty="0" err="1"/>
              <a:t>Surjek</a:t>
            </a:r>
            <a:r>
              <a:rPr lang="en-AU" sz="1200" b="1" dirty="0"/>
              <a:t> Plants with costs dropping as much as 50%.  </a:t>
            </a:r>
            <a:endParaRPr sz="1200" b="1" dirty="0"/>
          </a:p>
        </p:txBody>
      </p:sp>
      <p:cxnSp>
        <p:nvCxnSpPr>
          <p:cNvPr id="57" name="Google Shape;57;p4"/>
          <p:cNvCxnSpPr/>
          <p:nvPr/>
        </p:nvCxnSpPr>
        <p:spPr>
          <a:xfrm>
            <a:off x="171451" y="940918"/>
            <a:ext cx="8439149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4"/>
          <p:cNvSpPr/>
          <p:nvPr/>
        </p:nvSpPr>
        <p:spPr>
          <a:xfrm>
            <a:off x="171451" y="1092137"/>
            <a:ext cx="8307387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third slide we want to show is our overall conclusion regarding the economic relationship between price and quantities for each of the three plants.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 this slide, we would like you to show the following:</a:t>
            </a:r>
            <a:b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1) Create three scatter plots showing the Cost to Produce vs. the Quantity of Water Produced for each Desalination </a:t>
            </a:r>
            <a:r>
              <a:rPr lang="en-AU" sz="1200" b="1">
                <a:solidFill>
                  <a:srgbClr val="595959"/>
                </a:solidFill>
              </a:rPr>
              <a:t>p</a:t>
            </a: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Remember, we are comparing each point using a </a:t>
            </a:r>
            <a:r>
              <a:rPr lang="en-AU" sz="1200" b="1" u="sng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scatter-plot graphic</a:t>
            </a: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00705B"/>
                </a:solidFill>
                <a:latin typeface="Arial"/>
                <a:ea typeface="Arial"/>
                <a:cs typeface="Arial"/>
                <a:sym typeface="Arial"/>
              </a:rPr>
              <a:t>Hint: Reference the scatter plots you created in the Economic Cost Analysis Tab, Q6. </a:t>
            </a: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400-000096F190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497512"/>
              </p:ext>
            </p:extLst>
          </p:nvPr>
        </p:nvGraphicFramePr>
        <p:xfrm>
          <a:off x="1" y="3182347"/>
          <a:ext cx="3063400" cy="2836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400-00006E7657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0688913"/>
              </p:ext>
            </p:extLst>
          </p:nvPr>
        </p:nvGraphicFramePr>
        <p:xfrm>
          <a:off x="3063400" y="3182347"/>
          <a:ext cx="3063400" cy="2836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400-0000FA48C0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9027250"/>
              </p:ext>
            </p:extLst>
          </p:nvPr>
        </p:nvGraphicFramePr>
        <p:xfrm>
          <a:off x="6126800" y="3182346"/>
          <a:ext cx="2834639" cy="283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171451" y="185145"/>
            <a:ext cx="8737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1" dirty="0"/>
              <a:t>Drilling down further from a product perspective reveals two different patterns of elasticity where</a:t>
            </a:r>
            <a:br>
              <a:rPr lang="en-AU" sz="1400" b="1" dirty="0"/>
            </a:br>
            <a:r>
              <a:rPr lang="en-AU" sz="1400" b="1" dirty="0"/>
              <a:t>&lt;Soft Water&gt; tends to be relatively price inelastic with an average </a:t>
            </a:r>
            <a:r>
              <a:rPr lang="en-AU" sz="1400" b="1" dirty="0" err="1"/>
              <a:t>EoD</a:t>
            </a:r>
            <a:r>
              <a:rPr lang="en-AU" sz="1400" b="1" dirty="0"/>
              <a:t> of 0.92, while &lt;Hard Water&gt; is more representative of an elastic relationship with an average </a:t>
            </a:r>
            <a:r>
              <a:rPr lang="en-AU" sz="1400" b="1" dirty="0" err="1"/>
              <a:t>EoD</a:t>
            </a:r>
            <a:r>
              <a:rPr lang="en-AU" sz="1400" b="1" dirty="0"/>
              <a:t> </a:t>
            </a:r>
            <a:r>
              <a:rPr lang="en-AU" sz="1400" b="1"/>
              <a:t>of 41.</a:t>
            </a:r>
            <a:endParaRPr sz="1400" b="1" dirty="0"/>
          </a:p>
        </p:txBody>
      </p:sp>
      <p:cxnSp>
        <p:nvCxnSpPr>
          <p:cNvPr id="64" name="Google Shape;64;p5"/>
          <p:cNvCxnSpPr/>
          <p:nvPr/>
        </p:nvCxnSpPr>
        <p:spPr>
          <a:xfrm>
            <a:off x="171451" y="940918"/>
            <a:ext cx="8439149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5"/>
          <p:cNvSpPr/>
          <p:nvPr/>
        </p:nvSpPr>
        <p:spPr>
          <a:xfrm>
            <a:off x="171451" y="1238975"/>
            <a:ext cx="843914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fourth slide we want to show is our overall conclusion regarding the economic principles of elasticity for our individual water products at a macro</a:t>
            </a:r>
            <a:r>
              <a:rPr lang="en-AU" sz="1200" b="1">
                <a:solidFill>
                  <a:srgbClr val="595959"/>
                </a:solidFill>
              </a:rPr>
              <a:t> </a:t>
            </a: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 this slide, we would like you to show the following: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A) Create three scatter plots that show the Water Balancing Market Price  vs. the Volume of Water Demanded (I.e. Soft Water, Hard Water, Soft + Hard Water)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>
                <a:solidFill>
                  <a:srgbClr val="00705B"/>
                </a:solidFill>
                <a:latin typeface="Arial"/>
                <a:ea typeface="Arial"/>
                <a:cs typeface="Arial"/>
                <a:sym typeface="Arial"/>
              </a:rPr>
              <a:t>Hint: Use the scatterplots you’ve created for the Economic Market Analysis, Q2.</a:t>
            </a: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BF5C4F9-06DB-E1DC-6343-6E4373C7E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5768749"/>
              </p:ext>
            </p:extLst>
          </p:nvPr>
        </p:nvGraphicFramePr>
        <p:xfrm>
          <a:off x="158750" y="2897187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12E454-1DB6-83EE-E083-E45BB614BF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104424"/>
              </p:ext>
            </p:extLst>
          </p:nvPr>
        </p:nvGraphicFramePr>
        <p:xfrm>
          <a:off x="3746486" y="2897187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CABBED4-1736-4748-A182-E6582D17E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402884"/>
              </p:ext>
            </p:extLst>
          </p:nvPr>
        </p:nvGraphicFramePr>
        <p:xfrm>
          <a:off x="2123310" y="4725987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Synergy_CF_YNR013">
  <a:themeElements>
    <a:clrScheme name="Current">
      <a:dk1>
        <a:srgbClr val="000000"/>
      </a:dk1>
      <a:lt1>
        <a:srgbClr val="FFFFFF"/>
      </a:lt1>
      <a:dk2>
        <a:srgbClr val="FBC14E"/>
      </a:dk2>
      <a:lt2>
        <a:srgbClr val="FFFFFF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662</Words>
  <Application>Microsoft Macintosh PowerPoint</Application>
  <PresentationFormat>Custom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Noto Sans Symbols</vt:lpstr>
      <vt:lpstr>1_Synergy_CF_YNR013</vt:lpstr>
      <vt:lpstr>With an estimated 22% reduction in Surjek’s Revenues ($44 M) due to the Maintenance Outage, Quarter 4 presents the best balance of revenue-loss mitigation with respect to market pricing, as opposed to Quarter 1 which represents the highest demand (2,273 GL) and Water Balancing Market Prices ($84.84).</vt:lpstr>
      <vt:lpstr>Of the three Desalination Plants, all three remain profitable at current market prices by a favorable margin; Clearly Kootha is the most cost-effective $25/ML) followed by Jutik ($35.80/ML) and lastly Surjek ($54.23/ML) which is consistent across the July-2013 to June-2014 period. </vt:lpstr>
      <vt:lpstr>Contrasting the Cost to Produce against the Volume of Water Produced highlights clear &lt;economies of scale&gt; with costs rapidly dwindling across all plants as volume surges, with this being particularly noticeable across the Kootha and Surjek Plants with costs dropping as much as 50%.  </vt:lpstr>
      <vt:lpstr>Drilling down further from a product perspective reveals two different patterns of elasticity where &lt;Soft Water&gt; tends to be relatively price inelastic with an average EoD of 0.92, while &lt;Hard Water&gt; is more representative of an elastic relationship with an average EoD of 41.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Ariel Sebastian Farelas Lazaro</cp:lastModifiedBy>
  <cp:revision>1</cp:revision>
  <dcterms:created xsi:type="dcterms:W3CDTF">2020-04-12T13:23:13Z</dcterms:created>
  <dcterms:modified xsi:type="dcterms:W3CDTF">2025-09-04T03:21:14Z</dcterms:modified>
</cp:coreProperties>
</file>