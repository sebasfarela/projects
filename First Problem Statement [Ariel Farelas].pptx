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7" roundtripDataSignature="AMtx7mjdo7FECp685JsX7/4pIVeoAktj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/>
    <p:restoredTop sz="72898"/>
  </p:normalViewPr>
  <p:slideViewPr>
    <p:cSldViewPr snapToGrid="0">
      <p:cViewPr varScale="1">
        <p:scale>
          <a:sx n="114" d="100"/>
          <a:sy n="114" d="100"/>
        </p:scale>
        <p:origin x="35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el Sebastian Farelas Lazaro" userId="1a9187d6-15d9-4228-a7e1-8dd89972ed52" providerId="ADAL" clId="{D188A430-B509-DE49-AF7B-BA333590FEE8}"/>
    <pc:docChg chg="undo custSel delSld modSld">
      <pc:chgData name="Ariel Sebastian Farelas Lazaro" userId="1a9187d6-15d9-4228-a7e1-8dd89972ed52" providerId="ADAL" clId="{D188A430-B509-DE49-AF7B-BA333590FEE8}" dt="2025-08-11T00:34:03.938" v="1627" actId="20577"/>
      <pc:docMkLst>
        <pc:docMk/>
      </pc:docMkLst>
      <pc:sldChg chg="del">
        <pc:chgData name="Ariel Sebastian Farelas Lazaro" userId="1a9187d6-15d9-4228-a7e1-8dd89972ed52" providerId="ADAL" clId="{D188A430-B509-DE49-AF7B-BA333590FEE8}" dt="2025-08-11T00:33:47.041" v="1624" actId="2696"/>
        <pc:sldMkLst>
          <pc:docMk/>
          <pc:sldMk cId="0" sldId="256"/>
        </pc:sldMkLst>
      </pc:sldChg>
      <pc:sldChg chg="modSp mod">
        <pc:chgData name="Ariel Sebastian Farelas Lazaro" userId="1a9187d6-15d9-4228-a7e1-8dd89972ed52" providerId="ADAL" clId="{D188A430-B509-DE49-AF7B-BA333590FEE8}" dt="2025-08-11T00:34:03.938" v="1627" actId="20577"/>
        <pc:sldMkLst>
          <pc:docMk/>
          <pc:sldMk cId="2706669158" sldId="257"/>
        </pc:sldMkLst>
        <pc:spChg chg="mod">
          <ac:chgData name="Ariel Sebastian Farelas Lazaro" userId="1a9187d6-15d9-4228-a7e1-8dd89972ed52" providerId="ADAL" clId="{D188A430-B509-DE49-AF7B-BA333590FEE8}" dt="2025-08-11T00:06:28.618" v="596" actId="20577"/>
          <ac:spMkLst>
            <pc:docMk/>
            <pc:sldMk cId="2706669158" sldId="257"/>
            <ac:spMk id="34" creationId="{75A2B5A9-D49D-FD8B-C4D4-E6CF41D75D1A}"/>
          </ac:spMkLst>
        </pc:spChg>
        <pc:spChg chg="mod">
          <ac:chgData name="Ariel Sebastian Farelas Lazaro" userId="1a9187d6-15d9-4228-a7e1-8dd89972ed52" providerId="ADAL" clId="{D188A430-B509-DE49-AF7B-BA333590FEE8}" dt="2025-08-11T00:10:46.276" v="794" actId="20577"/>
          <ac:spMkLst>
            <pc:docMk/>
            <pc:sldMk cId="2706669158" sldId="257"/>
            <ac:spMk id="35" creationId="{1E1FC122-B870-960E-002F-6E68154C9002}"/>
          </ac:spMkLst>
        </pc:spChg>
        <pc:spChg chg="mod">
          <ac:chgData name="Ariel Sebastian Farelas Lazaro" userId="1a9187d6-15d9-4228-a7e1-8dd89972ed52" providerId="ADAL" clId="{D188A430-B509-DE49-AF7B-BA333590FEE8}" dt="2025-08-11T00:20:51.123" v="950" actId="403"/>
          <ac:spMkLst>
            <pc:docMk/>
            <pc:sldMk cId="2706669158" sldId="257"/>
            <ac:spMk id="36" creationId="{F4F7436C-81FF-6092-7BE2-DDD295E34F60}"/>
          </ac:spMkLst>
        </pc:spChg>
        <pc:spChg chg="mod">
          <ac:chgData name="Ariel Sebastian Farelas Lazaro" userId="1a9187d6-15d9-4228-a7e1-8dd89972ed52" providerId="ADAL" clId="{D188A430-B509-DE49-AF7B-BA333590FEE8}" dt="2025-08-11T00:34:03.938" v="1627" actId="20577"/>
          <ac:spMkLst>
            <pc:docMk/>
            <pc:sldMk cId="2706669158" sldId="257"/>
            <ac:spMk id="37" creationId="{518F988C-E173-9B0D-2BE8-770204315C47}"/>
          </ac:spMkLst>
        </pc:spChg>
        <pc:spChg chg="mod">
          <ac:chgData name="Ariel Sebastian Farelas Lazaro" userId="1a9187d6-15d9-4228-a7e1-8dd89972ed52" providerId="ADAL" clId="{D188A430-B509-DE49-AF7B-BA333590FEE8}" dt="2025-08-11T00:33:33.045" v="1623" actId="20577"/>
          <ac:spMkLst>
            <pc:docMk/>
            <pc:sldMk cId="2706669158" sldId="257"/>
            <ac:spMk id="38" creationId="{D9AC4756-B327-9DD5-6526-1461C8A3AE9E}"/>
          </ac:spMkLst>
        </pc:spChg>
        <pc:spChg chg="mod">
          <ac:chgData name="Ariel Sebastian Farelas Lazaro" userId="1a9187d6-15d9-4228-a7e1-8dd89972ed52" providerId="ADAL" clId="{D188A430-B509-DE49-AF7B-BA333590FEE8}" dt="2025-08-11T00:28:34.460" v="1453" actId="403"/>
          <ac:spMkLst>
            <pc:docMk/>
            <pc:sldMk cId="2706669158" sldId="257"/>
            <ac:spMk id="47" creationId="{E6907AE0-2B33-A8F2-99E7-CFFE049A23DD}"/>
          </ac:spMkLst>
        </pc:spChg>
        <pc:spChg chg="mod">
          <ac:chgData name="Ariel Sebastian Farelas Lazaro" userId="1a9187d6-15d9-4228-a7e1-8dd89972ed52" providerId="ADAL" clId="{D188A430-B509-DE49-AF7B-BA333590FEE8}" dt="2025-08-10T23:49:00.587" v="327" actId="20577"/>
          <ac:spMkLst>
            <pc:docMk/>
            <pc:sldMk cId="2706669158" sldId="257"/>
            <ac:spMk id="48" creationId="{3E5FAED2-B2E6-F948-D4EF-2030C5AA95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>
          <a:extLst>
            <a:ext uri="{FF2B5EF4-FFF2-40B4-BE49-F238E27FC236}">
              <a16:creationId xmlns:a16="http://schemas.microsoft.com/office/drawing/2014/main" id="{57E13F9A-B2F4-602D-E3AA-5DBFA77B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>
            <a:extLst>
              <a:ext uri="{FF2B5EF4-FFF2-40B4-BE49-F238E27FC236}">
                <a16:creationId xmlns:a16="http://schemas.microsoft.com/office/drawing/2014/main" id="{ACA14016-FFBB-E3D1-7366-D20491F0AB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042320" y="9493393"/>
            <a:ext cx="169918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AU" sz="1800" b="0" i="0" u="none" strike="noStrike" cap="none">
                <a:solidFill>
                  <a:srgbClr val="000000"/>
                </a:solidFill>
              </a:rPr>
              <a:t>1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7" name="Google Shape;17;p1:notes">
            <a:extLst>
              <a:ext uri="{FF2B5EF4-FFF2-40B4-BE49-F238E27FC236}">
                <a16:creationId xmlns:a16="http://schemas.microsoft.com/office/drawing/2014/main" id="{1A057558-4024-A81D-38D1-4E2825E7B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2319338" y="1265238"/>
            <a:ext cx="11201401" cy="8401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>
            <a:extLst>
              <a:ext uri="{FF2B5EF4-FFF2-40B4-BE49-F238E27FC236}">
                <a16:creationId xmlns:a16="http://schemas.microsoft.com/office/drawing/2014/main" id="{0AF9250B-9304-5F53-CCE7-88B55D7A0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9535" y="605318"/>
            <a:ext cx="54707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 dirty="0"/>
              <a:t>Hypothesis: </a:t>
            </a:r>
            <a:r>
              <a:rPr lang="en-AU" sz="12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Hypothesis with an emphasis on SMART principles. </a:t>
            </a:r>
            <a:r>
              <a:rPr lang="en-AU" sz="1200" b="1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AU" sz="1200" b="1" i="1" dirty="0"/>
              <a:t>S – Specific, M – Measurable, A – Achievable, R – Realistic, T – Timebound). </a:t>
            </a:r>
            <a:r>
              <a:rPr lang="en-AU" sz="1200" b="0" i="0" dirty="0"/>
              <a:t>If you cannot do this, you </a:t>
            </a:r>
            <a:r>
              <a:rPr lang="en-AU" sz="1200" b="1" i="0" dirty="0"/>
              <a:t>do not</a:t>
            </a:r>
            <a:r>
              <a:rPr lang="en-AU" sz="1200" b="0" i="0" dirty="0"/>
              <a:t> have a good grasp on the business problem.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b="1" dirty="0"/>
              <a:t>Context: </a:t>
            </a:r>
            <a:r>
              <a:rPr lang="en-AU" sz="1200" dirty="0"/>
              <a:t>With context, we have </a:t>
            </a:r>
            <a:r>
              <a:rPr lang="en-AU" sz="1200" b="1" u="sng" dirty="0"/>
              <a:t>clearly identified the problem at hand </a:t>
            </a:r>
            <a:r>
              <a:rPr lang="en-AU" sz="1200" dirty="0"/>
              <a:t>and have elucidated on how our initiative may solve this problem, alongside the commercial implications this will have on the business.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Criteria for Success</a:t>
            </a:r>
            <a:r>
              <a:rPr lang="en-AU" b="0" dirty="0"/>
              <a:t>: Clearly defining the criteria for success ensures that the scope of your work is clearly defined and understood. Otherwise, if this isn’t defined – your work will never end which will result in mismatched expectations.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Scope of Solution Space: </a:t>
            </a:r>
            <a:r>
              <a:rPr lang="en-AU" b="0" dirty="0"/>
              <a:t>Scoping out the solution space ensures that the business initiative is SPECIFIC for a certain segment or area. This prevents solutions that have been developed being scaled and applied for all other business units that the solution may not be responsible or scalable for.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Constraints within Solution Space: </a:t>
            </a:r>
            <a:r>
              <a:rPr lang="en-AU" b="0" dirty="0"/>
              <a:t>Looking forward, what are the foreseeable problems we are likely to encounter? Could this be stakeholder resistance? Could this be we don’t have access to the right data?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Stakeholders to provide key insight: </a:t>
            </a:r>
            <a:r>
              <a:rPr lang="en-AU" b="0" dirty="0"/>
              <a:t>Who are the people I need to speak to, to get the answers I need for my data analysis?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1" dirty="0"/>
              <a:t>What key data sources are required</a:t>
            </a:r>
            <a:r>
              <a:rPr lang="en-AU" b="0" dirty="0"/>
              <a:t>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b="0" dirty="0"/>
              <a:t>Based off my discussions with the key stakeholders – can we clearly list out all the data sources we need so we can make a highly targeted request as opposed to a scatter-gun approach where we ask for a bit of everything?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785514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298444" y="37255"/>
            <a:ext cx="670614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6"/>
              <a:buFont typeface="Arial"/>
              <a:buNone/>
            </a:pPr>
            <a:endParaRPr sz="81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2343099" y="2570857"/>
            <a:ext cx="4389768" cy="125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40"/>
              <a:buFont typeface="Arial"/>
              <a:buChar char="▪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–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93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58"/>
              <a:buFont typeface="Arial"/>
              <a:buChar char="▫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8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080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2"/>
              <a:buFont typeface="Arial"/>
              <a:buChar char="-"/>
              <a:defRPr sz="16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74945" y="234863"/>
            <a:ext cx="8794113" cy="29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39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>
          <a:extLst>
            <a:ext uri="{FF2B5EF4-FFF2-40B4-BE49-F238E27FC236}">
              <a16:creationId xmlns:a16="http://schemas.microsoft.com/office/drawing/2014/main" id="{585DA6AD-331C-5A0D-26CA-72A744F1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>
            <a:extLst>
              <a:ext uri="{FF2B5EF4-FFF2-40B4-BE49-F238E27FC236}">
                <a16:creationId xmlns:a16="http://schemas.microsoft.com/office/drawing/2014/main" id="{3E86E6AA-67D4-CDDF-E545-D3C4D2F1BCBB}"/>
              </a:ext>
            </a:extLst>
          </p:cNvPr>
          <p:cNvSpPr/>
          <p:nvPr/>
        </p:nvSpPr>
        <p:spPr>
          <a:xfrm>
            <a:off x="137949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>
            <a:extLst>
              <a:ext uri="{FF2B5EF4-FFF2-40B4-BE49-F238E27FC236}">
                <a16:creationId xmlns:a16="http://schemas.microsoft.com/office/drawing/2014/main" id="{ABF17ECE-FAD6-4E36-3AD2-69EE3AF5F2B2}"/>
              </a:ext>
            </a:extLst>
          </p:cNvPr>
          <p:cNvSpPr/>
          <p:nvPr/>
        </p:nvSpPr>
        <p:spPr>
          <a:xfrm>
            <a:off x="4587388" y="1576013"/>
            <a:ext cx="4344156" cy="468106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endParaRPr sz="1428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>
            <a:extLst>
              <a:ext uri="{FF2B5EF4-FFF2-40B4-BE49-F238E27FC236}">
                <a16:creationId xmlns:a16="http://schemas.microsoft.com/office/drawing/2014/main" id="{954039BE-FC74-031C-45D8-91F62D7640D0}"/>
              </a:ext>
            </a:extLst>
          </p:cNvPr>
          <p:cNvSpPr/>
          <p:nvPr/>
        </p:nvSpPr>
        <p:spPr>
          <a:xfrm>
            <a:off x="218936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2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>
            <a:extLst>
              <a:ext uri="{FF2B5EF4-FFF2-40B4-BE49-F238E27FC236}">
                <a16:creationId xmlns:a16="http://schemas.microsoft.com/office/drawing/2014/main" id="{1845DDF3-D3F0-2169-7151-1FCF4ADEE3F4}"/>
              </a:ext>
            </a:extLst>
          </p:cNvPr>
          <p:cNvSpPr/>
          <p:nvPr/>
        </p:nvSpPr>
        <p:spPr>
          <a:xfrm>
            <a:off x="4668375" y="1618127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>
            <a:extLst>
              <a:ext uri="{FF2B5EF4-FFF2-40B4-BE49-F238E27FC236}">
                <a16:creationId xmlns:a16="http://schemas.microsoft.com/office/drawing/2014/main" id="{777AC79A-F504-7379-E38E-C6E7B8D2FFAC}"/>
              </a:ext>
            </a:extLst>
          </p:cNvPr>
          <p:cNvSpPr/>
          <p:nvPr/>
        </p:nvSpPr>
        <p:spPr>
          <a:xfrm>
            <a:off x="601195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>
            <a:extLst>
              <a:ext uri="{FF2B5EF4-FFF2-40B4-BE49-F238E27FC236}">
                <a16:creationId xmlns:a16="http://schemas.microsoft.com/office/drawing/2014/main" id="{980BFAF2-46F0-8167-99FF-23A7FEB83922}"/>
              </a:ext>
            </a:extLst>
          </p:cNvPr>
          <p:cNvSpPr/>
          <p:nvPr/>
        </p:nvSpPr>
        <p:spPr>
          <a:xfrm>
            <a:off x="5050634" y="165018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Constraints within solution space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>
            <a:extLst>
              <a:ext uri="{FF2B5EF4-FFF2-40B4-BE49-F238E27FC236}">
                <a16:creationId xmlns:a16="http://schemas.microsoft.com/office/drawing/2014/main" id="{33905AF2-8546-7917-F6F2-91B795D64220}"/>
              </a:ext>
            </a:extLst>
          </p:cNvPr>
          <p:cNvSpPr/>
          <p:nvPr/>
        </p:nvSpPr>
        <p:spPr>
          <a:xfrm>
            <a:off x="4668375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>
            <a:extLst>
              <a:ext uri="{FF2B5EF4-FFF2-40B4-BE49-F238E27FC236}">
                <a16:creationId xmlns:a16="http://schemas.microsoft.com/office/drawing/2014/main" id="{F0720C4B-5073-6B86-E1E9-EAEDAC535F34}"/>
              </a:ext>
            </a:extLst>
          </p:cNvPr>
          <p:cNvSpPr/>
          <p:nvPr/>
        </p:nvSpPr>
        <p:spPr>
          <a:xfrm>
            <a:off x="218936" y="3207096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>
            <a:extLst>
              <a:ext uri="{FF2B5EF4-FFF2-40B4-BE49-F238E27FC236}">
                <a16:creationId xmlns:a16="http://schemas.microsoft.com/office/drawing/2014/main" id="{473AC789-AA5C-91B7-09CA-ACF43B17E86C}"/>
              </a:ext>
            </a:extLst>
          </p:cNvPr>
          <p:cNvSpPr/>
          <p:nvPr/>
        </p:nvSpPr>
        <p:spPr>
          <a:xfrm>
            <a:off x="601195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Criteria for success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>
            <a:extLst>
              <a:ext uri="{FF2B5EF4-FFF2-40B4-BE49-F238E27FC236}">
                <a16:creationId xmlns:a16="http://schemas.microsoft.com/office/drawing/2014/main" id="{108386F5-EFB8-B00F-17BE-BBDE31505F46}"/>
              </a:ext>
            </a:extLst>
          </p:cNvPr>
          <p:cNvSpPr/>
          <p:nvPr/>
        </p:nvSpPr>
        <p:spPr>
          <a:xfrm>
            <a:off x="5050634" y="3239152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Stakeholders to provide key insight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>
            <a:extLst>
              <a:ext uri="{FF2B5EF4-FFF2-40B4-BE49-F238E27FC236}">
                <a16:creationId xmlns:a16="http://schemas.microsoft.com/office/drawing/2014/main" id="{28212F35-9CAE-E7C7-C00D-CE7EEB395903}"/>
              </a:ext>
            </a:extLst>
          </p:cNvPr>
          <p:cNvSpPr/>
          <p:nvPr/>
        </p:nvSpPr>
        <p:spPr>
          <a:xfrm>
            <a:off x="218936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>
            <a:extLst>
              <a:ext uri="{FF2B5EF4-FFF2-40B4-BE49-F238E27FC236}">
                <a16:creationId xmlns:a16="http://schemas.microsoft.com/office/drawing/2014/main" id="{AE1F63E2-79CF-3FB5-D41D-5FD46C78F459}"/>
              </a:ext>
            </a:extLst>
          </p:cNvPr>
          <p:cNvSpPr/>
          <p:nvPr/>
        </p:nvSpPr>
        <p:spPr>
          <a:xfrm>
            <a:off x="4668375" y="4797685"/>
            <a:ext cx="288315" cy="288315"/>
          </a:xfrm>
          <a:prstGeom prst="rect">
            <a:avLst/>
          </a:prstGeom>
          <a:solidFill>
            <a:srgbClr val="F1A205"/>
          </a:solidFill>
          <a:ln>
            <a:noFill/>
          </a:ln>
        </p:spPr>
        <p:txBody>
          <a:bodyPr spcFirstLastPara="1" wrap="square" lIns="47575" tIns="47575" rIns="47575" bIns="47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>
            <a:extLst>
              <a:ext uri="{FF2B5EF4-FFF2-40B4-BE49-F238E27FC236}">
                <a16:creationId xmlns:a16="http://schemas.microsoft.com/office/drawing/2014/main" id="{5CABF713-382A-9B6D-4BF1-0CA4AF7BC64C}"/>
              </a:ext>
            </a:extLst>
          </p:cNvPr>
          <p:cNvSpPr/>
          <p:nvPr/>
        </p:nvSpPr>
        <p:spPr>
          <a:xfrm>
            <a:off x="601195" y="4831972"/>
            <a:ext cx="3597454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of solution space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>
            <a:extLst>
              <a:ext uri="{FF2B5EF4-FFF2-40B4-BE49-F238E27FC236}">
                <a16:creationId xmlns:a16="http://schemas.microsoft.com/office/drawing/2014/main" id="{86303625-4254-9EF5-BE0E-CBE71C06BA71}"/>
              </a:ext>
            </a:extLst>
          </p:cNvPr>
          <p:cNvSpPr/>
          <p:nvPr/>
        </p:nvSpPr>
        <p:spPr>
          <a:xfrm>
            <a:off x="5050634" y="4829741"/>
            <a:ext cx="3597454" cy="2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lang="en-AU" sz="1428">
                <a:solidFill>
                  <a:schemeClr val="dk1"/>
                </a:solidFill>
              </a:rPr>
              <a:t>Key</a:t>
            </a:r>
            <a:r>
              <a:rPr lang="en-AU" sz="142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sources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>
            <a:extLst>
              <a:ext uri="{FF2B5EF4-FFF2-40B4-BE49-F238E27FC236}">
                <a16:creationId xmlns:a16="http://schemas.microsoft.com/office/drawing/2014/main" id="{75A2B5A9-D49D-FD8B-C4D4-E6CF41D75D1A}"/>
              </a:ext>
            </a:extLst>
          </p:cNvPr>
          <p:cNvSpPr txBox="1"/>
          <p:nvPr/>
        </p:nvSpPr>
        <p:spPr>
          <a:xfrm>
            <a:off x="143108" y="1964976"/>
            <a:ext cx="4324418" cy="124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Chemical Y is one of the latest and more important chemicals to hinder steel corrosion due to the groundbreaking technological meaning, but X Labs USA has released many other meaningful chemicals to hinder corrosion on other metals.</a:t>
            </a:r>
            <a:endParaRPr dirty="0"/>
          </a:p>
        </p:txBody>
      </p:sp>
      <p:sp>
        <p:nvSpPr>
          <p:cNvPr id="35" name="Google Shape;35;p1">
            <a:extLst>
              <a:ext uri="{FF2B5EF4-FFF2-40B4-BE49-F238E27FC236}">
                <a16:creationId xmlns:a16="http://schemas.microsoft.com/office/drawing/2014/main" id="{1E1FC122-B870-960E-002F-6E68154C9002}"/>
              </a:ext>
            </a:extLst>
          </p:cNvPr>
          <p:cNvSpPr txBox="1"/>
          <p:nvPr/>
        </p:nvSpPr>
        <p:spPr>
          <a:xfrm>
            <a:off x="143108" y="3538874"/>
            <a:ext cx="4324418" cy="141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for this project: Define a clear and concise set of actions that will increase the X Labs USA revenue for at least 15% in the next 2 years by selling Chemical Y</a:t>
            </a:r>
            <a:endParaRPr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>
            <a:extLst>
              <a:ext uri="{FF2B5EF4-FFF2-40B4-BE49-F238E27FC236}">
                <a16:creationId xmlns:a16="http://schemas.microsoft.com/office/drawing/2014/main" id="{F4F7436C-81FF-6092-7BE2-DDD295E34F60}"/>
              </a:ext>
            </a:extLst>
          </p:cNvPr>
          <p:cNvSpPr txBox="1"/>
          <p:nvPr/>
        </p:nvSpPr>
        <p:spPr>
          <a:xfrm>
            <a:off x="186842" y="5184804"/>
            <a:ext cx="4324418" cy="1023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Increase the production of Chemical Y is a priority due to the high demand of the product by Government agencies. 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>
            <a:extLst>
              <a:ext uri="{FF2B5EF4-FFF2-40B4-BE49-F238E27FC236}">
                <a16:creationId xmlns:a16="http://schemas.microsoft.com/office/drawing/2014/main" id="{518F988C-E173-9B0D-2BE8-770204315C47}"/>
              </a:ext>
            </a:extLst>
          </p:cNvPr>
          <p:cNvSpPr txBox="1"/>
          <p:nvPr/>
        </p:nvSpPr>
        <p:spPr>
          <a:xfrm>
            <a:off x="4558232" y="1963919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no enough space in the X Labs USA facility to increase the current production of Chemical 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The Government clients get impatient with long production timelines from </a:t>
            </a:r>
            <a:r>
              <a:rPr lang="en-AU"/>
              <a:t>X Labs </a:t>
            </a:r>
            <a:r>
              <a:rPr lang="en-AU" dirty="0"/>
              <a:t>USA, which could mean clients can cancel the orders anytime.</a:t>
            </a:r>
            <a:endParaRPr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>
            <a:extLst>
              <a:ext uri="{FF2B5EF4-FFF2-40B4-BE49-F238E27FC236}">
                <a16:creationId xmlns:a16="http://schemas.microsoft.com/office/drawing/2014/main" id="{D9AC4756-B327-9DD5-6526-1461C8A3AE9E}"/>
              </a:ext>
            </a:extLst>
          </p:cNvPr>
          <p:cNvSpPr txBox="1"/>
          <p:nvPr/>
        </p:nvSpPr>
        <p:spPr>
          <a:xfrm>
            <a:off x="4590928" y="5085174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AU" sz="107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Facility Space </a:t>
            </a:r>
            <a:r>
              <a:rPr lang="en-AU" dirty="0"/>
              <a:t>M</a:t>
            </a:r>
            <a:r>
              <a:rPr lang="en-AU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anagement, </a:t>
            </a:r>
            <a:r>
              <a:rPr lang="en-AU" dirty="0"/>
              <a:t>General m</a:t>
            </a:r>
            <a:r>
              <a:rPr lang="en-AU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onthly production of chemicals matrices, Lead time clients will allow to expect the shipments</a:t>
            </a:r>
            <a:endParaRPr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>
            <a:extLst>
              <a:ext uri="{FF2B5EF4-FFF2-40B4-BE49-F238E27FC236}">
                <a16:creationId xmlns:a16="http://schemas.microsoft.com/office/drawing/2014/main" id="{EB451BCE-ABBF-CA73-D185-89E22708C93B}"/>
              </a:ext>
            </a:extLst>
          </p:cNvPr>
          <p:cNvSpPr/>
          <p:nvPr/>
        </p:nvSpPr>
        <p:spPr>
          <a:xfrm>
            <a:off x="6633337" y="652441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>
            <a:extLst>
              <a:ext uri="{FF2B5EF4-FFF2-40B4-BE49-F238E27FC236}">
                <a16:creationId xmlns:a16="http://schemas.microsoft.com/office/drawing/2014/main" id="{3FEDAF1B-319D-18BB-69A4-399D3DF77061}"/>
              </a:ext>
            </a:extLst>
          </p:cNvPr>
          <p:cNvSpPr/>
          <p:nvPr/>
        </p:nvSpPr>
        <p:spPr>
          <a:xfrm>
            <a:off x="7028512" y="651371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>
            <a:extLst>
              <a:ext uri="{FF2B5EF4-FFF2-40B4-BE49-F238E27FC236}">
                <a16:creationId xmlns:a16="http://schemas.microsoft.com/office/drawing/2014/main" id="{193897FE-A0D0-DC4F-7375-BBFB30F54DA0}"/>
              </a:ext>
            </a:extLst>
          </p:cNvPr>
          <p:cNvSpPr/>
          <p:nvPr/>
        </p:nvSpPr>
        <p:spPr>
          <a:xfrm>
            <a:off x="7452320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>
            <a:extLst>
              <a:ext uri="{FF2B5EF4-FFF2-40B4-BE49-F238E27FC236}">
                <a16:creationId xmlns:a16="http://schemas.microsoft.com/office/drawing/2014/main" id="{3DF3DABA-EDBF-9535-DA9C-E751B06FC5FC}"/>
              </a:ext>
            </a:extLst>
          </p:cNvPr>
          <p:cNvSpPr/>
          <p:nvPr/>
        </p:nvSpPr>
        <p:spPr>
          <a:xfrm>
            <a:off x="7846662" y="6508081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>
            <a:extLst>
              <a:ext uri="{FF2B5EF4-FFF2-40B4-BE49-F238E27FC236}">
                <a16:creationId xmlns:a16="http://schemas.microsoft.com/office/drawing/2014/main" id="{076D9064-3BE9-FBD2-5E4A-85FBBE6F1D97}"/>
              </a:ext>
            </a:extLst>
          </p:cNvPr>
          <p:cNvSpPr/>
          <p:nvPr/>
        </p:nvSpPr>
        <p:spPr>
          <a:xfrm>
            <a:off x="8245692" y="6503004"/>
            <a:ext cx="432048" cy="216024"/>
          </a:xfrm>
          <a:prstGeom prst="chevron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>
            <a:extLst>
              <a:ext uri="{FF2B5EF4-FFF2-40B4-BE49-F238E27FC236}">
                <a16:creationId xmlns:a16="http://schemas.microsoft.com/office/drawing/2014/main" id="{4532A2F5-1D3B-5603-F932-926B549E3E99}"/>
              </a:ext>
            </a:extLst>
          </p:cNvPr>
          <p:cNvSpPr/>
          <p:nvPr/>
        </p:nvSpPr>
        <p:spPr>
          <a:xfrm>
            <a:off x="8099130" y="707128"/>
            <a:ext cx="432048" cy="205317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AU" sz="1200" b="1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>
            <a:extLst>
              <a:ext uri="{FF2B5EF4-FFF2-40B4-BE49-F238E27FC236}">
                <a16:creationId xmlns:a16="http://schemas.microsoft.com/office/drawing/2014/main" id="{BE6D85D2-2DC5-71EA-859C-0C9DF1D77BB9}"/>
              </a:ext>
            </a:extLst>
          </p:cNvPr>
          <p:cNvSpPr/>
          <p:nvPr/>
        </p:nvSpPr>
        <p:spPr>
          <a:xfrm>
            <a:off x="121750" y="116631"/>
            <a:ext cx="7724912" cy="1137079"/>
          </a:xfrm>
          <a:prstGeom prst="wedgeRectCallout">
            <a:avLst>
              <a:gd name="adj1" fmla="val 53513"/>
              <a:gd name="adj2" fmla="val 6588"/>
            </a:avLst>
          </a:prstGeom>
          <a:solidFill>
            <a:srgbClr val="FEF2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>
            <a:extLst>
              <a:ext uri="{FF2B5EF4-FFF2-40B4-BE49-F238E27FC236}">
                <a16:creationId xmlns:a16="http://schemas.microsoft.com/office/drawing/2014/main" id="{FE0A0698-988C-2200-32FA-1BADE4AD1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40" y="189590"/>
            <a:ext cx="87935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AU" sz="2000">
                <a:solidFill>
                  <a:srgbClr val="2974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 Worksheet (Hypothesis Formation)</a:t>
            </a:r>
            <a:endParaRPr/>
          </a:p>
        </p:txBody>
      </p:sp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E6907AE0-2B33-A8F2-99E7-CFFE049A23DD}"/>
              </a:ext>
            </a:extLst>
          </p:cNvPr>
          <p:cNvSpPr txBox="1"/>
          <p:nvPr/>
        </p:nvSpPr>
        <p:spPr>
          <a:xfrm>
            <a:off x="4607126" y="3547600"/>
            <a:ext cx="4324418" cy="108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CEO, Vice President of Internal Operations and the Corrosion Group Director</a:t>
            </a:r>
            <a:endParaRPr sz="20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>
            <a:extLst>
              <a:ext uri="{FF2B5EF4-FFF2-40B4-BE49-F238E27FC236}">
                <a16:creationId xmlns:a16="http://schemas.microsoft.com/office/drawing/2014/main" id="{3E5FAED2-B2E6-F948-D4EF-2030C5AA9581}"/>
              </a:ext>
            </a:extLst>
          </p:cNvPr>
          <p:cNvSpPr txBox="1"/>
          <p:nvPr/>
        </p:nvSpPr>
        <p:spPr>
          <a:xfrm>
            <a:off x="184140" y="540901"/>
            <a:ext cx="8584648" cy="76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AU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can X Labs USA increase general revenue from ”Chemical Y” for at least 15% in the next 2 years by increasing the production and outreach without affecting the production of the other brand products with more time on the market?  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6669158"/>
      </p:ext>
    </p:extLst>
  </p:cSld>
  <p:clrMapOvr>
    <a:masterClrMapping/>
  </p:clrMapOvr>
</p:sld>
</file>

<file path=ppt/theme/theme1.xml><?xml version="1.0" encoding="utf-8"?>
<a:theme xmlns:a="http://schemas.openxmlformats.org/drawingml/2006/main" name="Synergy_CF_YNR002">
  <a:themeElements>
    <a:clrScheme name="Current">
      <a:dk1>
        <a:srgbClr val="002C46"/>
      </a:dk1>
      <a:lt1>
        <a:srgbClr val="FFFFFF"/>
      </a:lt1>
      <a:dk2>
        <a:srgbClr val="FBC14E"/>
      </a:dk2>
      <a:lt2>
        <a:srgbClr val="879C16"/>
      </a:lt2>
      <a:accent1>
        <a:srgbClr val="99AABE"/>
      </a:accent1>
      <a:accent2>
        <a:srgbClr val="406085"/>
      </a:accent2>
      <a:accent3>
        <a:srgbClr val="002C46"/>
      </a:accent3>
      <a:accent4>
        <a:srgbClr val="FBC14E"/>
      </a:accent4>
      <a:accent5>
        <a:srgbClr val="379BBD"/>
      </a:accent5>
      <a:accent6>
        <a:srgbClr val="808080"/>
      </a:accent6>
      <a:hlink>
        <a:srgbClr val="002C46"/>
      </a:hlink>
      <a:folHlink>
        <a:srgbClr val="FBC1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550</Words>
  <Application>Microsoft Macintosh PowerPoint</Application>
  <PresentationFormat>On-screen Show (4:3)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Quattrocento Sans</vt:lpstr>
      <vt:lpstr>Synergy_CF_YNR002</vt:lpstr>
      <vt:lpstr>Problem Statement Worksheet (Hypothesis Formation)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H</dc:creator>
  <cp:lastModifiedBy>Ariel Sebastian Farelas Lazaro</cp:lastModifiedBy>
  <cp:revision>1</cp:revision>
  <dcterms:modified xsi:type="dcterms:W3CDTF">2025-08-11T00:34:07Z</dcterms:modified>
</cp:coreProperties>
</file>