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8"/>
  </p:notesMasterIdLst>
  <p:sldIdLst>
    <p:sldId id="397" r:id="rId2"/>
    <p:sldId id="399" r:id="rId3"/>
    <p:sldId id="392" r:id="rId4"/>
    <p:sldId id="395" r:id="rId5"/>
    <p:sldId id="396" r:id="rId6"/>
    <p:sldId id="391" r:id="rId7"/>
  </p:sldIdLst>
  <p:sldSz cx="8961438" cy="67214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6B8"/>
    <a:srgbClr val="002C46"/>
    <a:srgbClr val="FDDA95"/>
    <a:srgbClr val="FFFFFF"/>
    <a:srgbClr val="FBC14E"/>
    <a:srgbClr val="EBEEF2"/>
    <a:srgbClr val="AABFD6"/>
    <a:srgbClr val="8497B0"/>
    <a:srgbClr val="657E9D"/>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4C31A4-40F2-2947-B27E-9A6145B8FDD1}" v="33" dt="2025-08-28T02:35:06.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9" autoAdjust="0"/>
    <p:restoredTop sz="92783" autoAdjust="0"/>
  </p:normalViewPr>
  <p:slideViewPr>
    <p:cSldViewPr snapToGrid="0">
      <p:cViewPr varScale="1">
        <p:scale>
          <a:sx n="127" d="100"/>
          <a:sy n="127" d="100"/>
        </p:scale>
        <p:origin x="15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el Sebastian Farelas Lazaro" userId="1a9187d6-15d9-4228-a7e1-8dd89972ed52" providerId="ADAL" clId="{FA2E4CBD-115D-55B4-B72B-BC8AC780125D}"/>
    <pc:docChg chg="undo custSel modSld">
      <pc:chgData name="Ariel Sebastian Farelas Lazaro" userId="1a9187d6-15d9-4228-a7e1-8dd89972ed52" providerId="ADAL" clId="{FA2E4CBD-115D-55B4-B72B-BC8AC780125D}" dt="2025-08-28T02:37:41.941" v="414" actId="20577"/>
      <pc:docMkLst>
        <pc:docMk/>
      </pc:docMkLst>
      <pc:sldChg chg="addSp modSp mod">
        <pc:chgData name="Ariel Sebastian Farelas Lazaro" userId="1a9187d6-15d9-4228-a7e1-8dd89972ed52" providerId="ADAL" clId="{FA2E4CBD-115D-55B4-B72B-BC8AC780125D}" dt="2025-08-28T02:37:41.941" v="414" actId="20577"/>
        <pc:sldMkLst>
          <pc:docMk/>
          <pc:sldMk cId="44480560" sldId="391"/>
        </pc:sldMkLst>
        <pc:spChg chg="mod">
          <ac:chgData name="Ariel Sebastian Farelas Lazaro" userId="1a9187d6-15d9-4228-a7e1-8dd89972ed52" providerId="ADAL" clId="{FA2E4CBD-115D-55B4-B72B-BC8AC780125D}" dt="2025-08-28T02:37:41.941" v="414" actId="20577"/>
          <ac:spMkLst>
            <pc:docMk/>
            <pc:sldMk cId="44480560" sldId="391"/>
            <ac:spMk id="2" creationId="{F0E37C96-13BD-4F0C-B379-77591A183D9B}"/>
          </ac:spMkLst>
        </pc:spChg>
        <pc:graphicFrameChg chg="add mod">
          <ac:chgData name="Ariel Sebastian Farelas Lazaro" userId="1a9187d6-15d9-4228-a7e1-8dd89972ed52" providerId="ADAL" clId="{FA2E4CBD-115D-55B4-B72B-BC8AC780125D}" dt="2025-08-28T02:37:25.779" v="406" actId="1076"/>
          <ac:graphicFrameMkLst>
            <pc:docMk/>
            <pc:sldMk cId="44480560" sldId="391"/>
            <ac:graphicFrameMk id="3" creationId="{3A3146F5-E907-F832-2FDA-41B45D8F36BC}"/>
          </ac:graphicFrameMkLst>
        </pc:graphicFrameChg>
        <pc:graphicFrameChg chg="add mod">
          <ac:chgData name="Ariel Sebastian Farelas Lazaro" userId="1a9187d6-15d9-4228-a7e1-8dd89972ed52" providerId="ADAL" clId="{FA2E4CBD-115D-55B4-B72B-BC8AC780125D}" dt="2025-08-28T02:35:06.235" v="367"/>
          <ac:graphicFrameMkLst>
            <pc:docMk/>
            <pc:sldMk cId="44480560" sldId="391"/>
            <ac:graphicFrameMk id="4" creationId="{8BE449DF-ABF7-AEDE-68A3-97B97FBC856D}"/>
          </ac:graphicFrameMkLst>
        </pc:graphicFrameChg>
      </pc:sldChg>
      <pc:sldChg chg="addSp modSp mod">
        <pc:chgData name="Ariel Sebastian Farelas Lazaro" userId="1a9187d6-15d9-4228-a7e1-8dd89972ed52" providerId="ADAL" clId="{FA2E4CBD-115D-55B4-B72B-BC8AC780125D}" dt="2025-08-28T02:02:59.040" v="235" actId="20577"/>
        <pc:sldMkLst>
          <pc:docMk/>
          <pc:sldMk cId="2844286603" sldId="392"/>
        </pc:sldMkLst>
        <pc:spChg chg="mod">
          <ac:chgData name="Ariel Sebastian Farelas Lazaro" userId="1a9187d6-15d9-4228-a7e1-8dd89972ed52" providerId="ADAL" clId="{FA2E4CBD-115D-55B4-B72B-BC8AC780125D}" dt="2025-08-28T02:02:59.040" v="235" actId="20577"/>
          <ac:spMkLst>
            <pc:docMk/>
            <pc:sldMk cId="2844286603" sldId="392"/>
            <ac:spMk id="2" creationId="{F0E37C96-13BD-4F0C-B379-77591A183D9B}"/>
          </ac:spMkLst>
        </pc:spChg>
        <pc:graphicFrameChg chg="add mod">
          <ac:chgData name="Ariel Sebastian Farelas Lazaro" userId="1a9187d6-15d9-4228-a7e1-8dd89972ed52" providerId="ADAL" clId="{FA2E4CBD-115D-55B4-B72B-BC8AC780125D}" dt="2025-08-28T02:00:00.817" v="214"/>
          <ac:graphicFrameMkLst>
            <pc:docMk/>
            <pc:sldMk cId="2844286603" sldId="392"/>
            <ac:graphicFrameMk id="3" creationId="{65D7A609-8F20-5184-3269-3DB0B8A9B36D}"/>
          </ac:graphicFrameMkLst>
        </pc:graphicFrameChg>
        <pc:graphicFrameChg chg="add mod">
          <ac:chgData name="Ariel Sebastian Farelas Lazaro" userId="1a9187d6-15d9-4228-a7e1-8dd89972ed52" providerId="ADAL" clId="{FA2E4CBD-115D-55B4-B72B-BC8AC780125D}" dt="2025-08-28T01:59:18.279" v="213" actId="404"/>
          <ac:graphicFrameMkLst>
            <pc:docMk/>
            <pc:sldMk cId="2844286603" sldId="392"/>
            <ac:graphicFrameMk id="4" creationId="{46524DD3-2A8D-B4FC-BFCF-E3A3FB469B63}"/>
          </ac:graphicFrameMkLst>
        </pc:graphicFrameChg>
      </pc:sldChg>
      <pc:sldChg chg="addSp delSp modSp mod">
        <pc:chgData name="Ariel Sebastian Farelas Lazaro" userId="1a9187d6-15d9-4228-a7e1-8dd89972ed52" providerId="ADAL" clId="{FA2E4CBD-115D-55B4-B72B-BC8AC780125D}" dt="2025-08-28T02:10:11.112" v="326" actId="1076"/>
        <pc:sldMkLst>
          <pc:docMk/>
          <pc:sldMk cId="911419877" sldId="395"/>
        </pc:sldMkLst>
        <pc:spChg chg="mod">
          <ac:chgData name="Ariel Sebastian Farelas Lazaro" userId="1a9187d6-15d9-4228-a7e1-8dd89972ed52" providerId="ADAL" clId="{FA2E4CBD-115D-55B4-B72B-BC8AC780125D}" dt="2025-08-28T02:10:11.112" v="326" actId="1076"/>
          <ac:spMkLst>
            <pc:docMk/>
            <pc:sldMk cId="911419877" sldId="395"/>
            <ac:spMk id="2" creationId="{F0E37C96-13BD-4F0C-B379-77591A183D9B}"/>
          </ac:spMkLst>
        </pc:spChg>
        <pc:spChg chg="mod">
          <ac:chgData name="Ariel Sebastian Farelas Lazaro" userId="1a9187d6-15d9-4228-a7e1-8dd89972ed52" providerId="ADAL" clId="{FA2E4CBD-115D-55B4-B72B-BC8AC780125D}" dt="2025-08-28T02:05:23.931" v="237" actId="14100"/>
          <ac:spMkLst>
            <pc:docMk/>
            <pc:sldMk cId="911419877" sldId="395"/>
            <ac:spMk id="15" creationId="{BD1DDCDC-3E10-4265-8E28-C256F42C790A}"/>
          </ac:spMkLst>
        </pc:spChg>
        <pc:graphicFrameChg chg="add mod">
          <ac:chgData name="Ariel Sebastian Farelas Lazaro" userId="1a9187d6-15d9-4228-a7e1-8dd89972ed52" providerId="ADAL" clId="{FA2E4CBD-115D-55B4-B72B-BC8AC780125D}" dt="2025-08-28T02:10:10.123" v="325" actId="1076"/>
          <ac:graphicFrameMkLst>
            <pc:docMk/>
            <pc:sldMk cId="911419877" sldId="395"/>
            <ac:graphicFrameMk id="3" creationId="{40746F9E-5C3C-2574-66CA-DACCD83156FB}"/>
          </ac:graphicFrameMkLst>
        </pc:graphicFrameChg>
        <pc:graphicFrameChg chg="add mod">
          <ac:chgData name="Ariel Sebastian Farelas Lazaro" userId="1a9187d6-15d9-4228-a7e1-8dd89972ed52" providerId="ADAL" clId="{FA2E4CBD-115D-55B4-B72B-BC8AC780125D}" dt="2025-08-28T02:07:22.872" v="262" actId="404"/>
          <ac:graphicFrameMkLst>
            <pc:docMk/>
            <pc:sldMk cId="911419877" sldId="395"/>
            <ac:graphicFrameMk id="4" creationId="{5ADA955B-91AB-3746-A81B-A3875632CF0E}"/>
          </ac:graphicFrameMkLst>
        </pc:graphicFrameChg>
        <pc:graphicFrameChg chg="add mod">
          <ac:chgData name="Ariel Sebastian Farelas Lazaro" userId="1a9187d6-15d9-4228-a7e1-8dd89972ed52" providerId="ADAL" clId="{FA2E4CBD-115D-55B4-B72B-BC8AC780125D}" dt="2025-08-28T02:07:26.821" v="263" actId="404"/>
          <ac:graphicFrameMkLst>
            <pc:docMk/>
            <pc:sldMk cId="911419877" sldId="395"/>
            <ac:graphicFrameMk id="5" creationId="{51832C8C-BF62-964F-A7B6-A586977A8748}"/>
          </ac:graphicFrameMkLst>
        </pc:graphicFrameChg>
        <pc:graphicFrameChg chg="del">
          <ac:chgData name="Ariel Sebastian Farelas Lazaro" userId="1a9187d6-15d9-4228-a7e1-8dd89972ed52" providerId="ADAL" clId="{FA2E4CBD-115D-55B4-B72B-BC8AC780125D}" dt="2025-08-28T02:05:39.469" v="238" actId="478"/>
          <ac:graphicFrameMkLst>
            <pc:docMk/>
            <pc:sldMk cId="911419877" sldId="395"/>
            <ac:graphicFrameMk id="8" creationId="{84435EA6-5B8E-4730-B223-FE290A38DAEC}"/>
          </ac:graphicFrameMkLst>
        </pc:graphicFrameChg>
        <pc:graphicFrameChg chg="del">
          <ac:chgData name="Ariel Sebastian Farelas Lazaro" userId="1a9187d6-15d9-4228-a7e1-8dd89972ed52" providerId="ADAL" clId="{FA2E4CBD-115D-55B4-B72B-BC8AC780125D}" dt="2025-08-28T02:06:50.330" v="255" actId="478"/>
          <ac:graphicFrameMkLst>
            <pc:docMk/>
            <pc:sldMk cId="911419877" sldId="395"/>
            <ac:graphicFrameMk id="9" creationId="{2CB0F527-0915-47BD-9B04-DA784977ADEC}"/>
          </ac:graphicFrameMkLst>
        </pc:graphicFrameChg>
      </pc:sldChg>
      <pc:sldChg chg="addSp delSp modSp mod">
        <pc:chgData name="Ariel Sebastian Farelas Lazaro" userId="1a9187d6-15d9-4228-a7e1-8dd89972ed52" providerId="ADAL" clId="{FA2E4CBD-115D-55B4-B72B-BC8AC780125D}" dt="2025-08-28T02:31:05.635" v="354" actId="20577"/>
        <pc:sldMkLst>
          <pc:docMk/>
          <pc:sldMk cId="2776998344" sldId="396"/>
        </pc:sldMkLst>
        <pc:spChg chg="mod">
          <ac:chgData name="Ariel Sebastian Farelas Lazaro" userId="1a9187d6-15d9-4228-a7e1-8dd89972ed52" providerId="ADAL" clId="{FA2E4CBD-115D-55B4-B72B-BC8AC780125D}" dt="2025-08-28T02:31:05.635" v="354" actId="20577"/>
          <ac:spMkLst>
            <pc:docMk/>
            <pc:sldMk cId="2776998344" sldId="396"/>
            <ac:spMk id="2" creationId="{F0E37C96-13BD-4F0C-B379-77591A183D9B}"/>
          </ac:spMkLst>
        </pc:spChg>
        <pc:spChg chg="mod">
          <ac:chgData name="Ariel Sebastian Farelas Lazaro" userId="1a9187d6-15d9-4228-a7e1-8dd89972ed52" providerId="ADAL" clId="{FA2E4CBD-115D-55B4-B72B-BC8AC780125D}" dt="2025-08-28T02:29:26.231" v="331" actId="14100"/>
          <ac:spMkLst>
            <pc:docMk/>
            <pc:sldMk cId="2776998344" sldId="396"/>
            <ac:spMk id="18" creationId="{A523E659-7992-4D86-97D9-71CDE4327174}"/>
          </ac:spMkLst>
        </pc:spChg>
        <pc:graphicFrameChg chg="add mod">
          <ac:chgData name="Ariel Sebastian Farelas Lazaro" userId="1a9187d6-15d9-4228-a7e1-8dd89972ed52" providerId="ADAL" clId="{FA2E4CBD-115D-55B4-B72B-BC8AC780125D}" dt="2025-08-28T02:29:59.033" v="336" actId="1076"/>
          <ac:graphicFrameMkLst>
            <pc:docMk/>
            <pc:sldMk cId="2776998344" sldId="396"/>
            <ac:graphicFrameMk id="3" creationId="{C19069C0-157C-6D6A-3469-DFC00E83784D}"/>
          </ac:graphicFrameMkLst>
        </pc:graphicFrameChg>
        <pc:graphicFrameChg chg="add mod">
          <ac:chgData name="Ariel Sebastian Farelas Lazaro" userId="1a9187d6-15d9-4228-a7e1-8dd89972ed52" providerId="ADAL" clId="{FA2E4CBD-115D-55B4-B72B-BC8AC780125D}" dt="2025-08-28T02:30:14.662" v="339" actId="1076"/>
          <ac:graphicFrameMkLst>
            <pc:docMk/>
            <pc:sldMk cId="2776998344" sldId="396"/>
            <ac:graphicFrameMk id="4" creationId="{2874F390-E64A-1E40-A208-9B6CAC9A9B73}"/>
          </ac:graphicFrameMkLst>
        </pc:graphicFrameChg>
        <pc:graphicFrameChg chg="add mod">
          <ac:chgData name="Ariel Sebastian Farelas Lazaro" userId="1a9187d6-15d9-4228-a7e1-8dd89972ed52" providerId="ADAL" clId="{FA2E4CBD-115D-55B4-B72B-BC8AC780125D}" dt="2025-08-28T02:30:36.078" v="344" actId="1076"/>
          <ac:graphicFrameMkLst>
            <pc:docMk/>
            <pc:sldMk cId="2776998344" sldId="396"/>
            <ac:graphicFrameMk id="5" creationId="{61DDF01E-FFB9-D743-BCD1-360EC500D260}"/>
          </ac:graphicFrameMkLst>
        </pc:graphicFrameChg>
        <pc:graphicFrameChg chg="del">
          <ac:chgData name="Ariel Sebastian Farelas Lazaro" userId="1a9187d6-15d9-4228-a7e1-8dd89972ed52" providerId="ADAL" clId="{FA2E4CBD-115D-55B4-B72B-BC8AC780125D}" dt="2025-08-28T02:29:41.690" v="332" actId="478"/>
          <ac:graphicFrameMkLst>
            <pc:docMk/>
            <pc:sldMk cId="2776998344" sldId="396"/>
            <ac:graphicFrameMk id="14" creationId="{9980217C-1C2B-4572-811D-156100B49D26}"/>
          </ac:graphicFrameMkLst>
        </pc:graphicFrameChg>
      </pc:sldChg>
      <pc:sldChg chg="addSp modSp mod">
        <pc:chgData name="Ariel Sebastian Farelas Lazaro" userId="1a9187d6-15d9-4228-a7e1-8dd89972ed52" providerId="ADAL" clId="{FA2E4CBD-115D-55B4-B72B-BC8AC780125D}" dt="2025-08-28T01:42:09.577" v="112" actId="20577"/>
        <pc:sldMkLst>
          <pc:docMk/>
          <pc:sldMk cId="2748477053" sldId="397"/>
        </pc:sldMkLst>
        <pc:spChg chg="mod">
          <ac:chgData name="Ariel Sebastian Farelas Lazaro" userId="1a9187d6-15d9-4228-a7e1-8dd89972ed52" providerId="ADAL" clId="{FA2E4CBD-115D-55B4-B72B-BC8AC780125D}" dt="2025-08-28T01:42:09.577" v="112" actId="20577"/>
          <ac:spMkLst>
            <pc:docMk/>
            <pc:sldMk cId="2748477053" sldId="397"/>
            <ac:spMk id="2" creationId="{F0E37C96-13BD-4F0C-B379-77591A183D9B}"/>
          </ac:spMkLst>
        </pc:spChg>
        <pc:graphicFrameChg chg="add mod">
          <ac:chgData name="Ariel Sebastian Farelas Lazaro" userId="1a9187d6-15d9-4228-a7e1-8dd89972ed52" providerId="ADAL" clId="{FA2E4CBD-115D-55B4-B72B-BC8AC780125D}" dt="2025-08-28T01:38:15.868" v="5"/>
          <ac:graphicFrameMkLst>
            <pc:docMk/>
            <pc:sldMk cId="2748477053" sldId="397"/>
            <ac:graphicFrameMk id="3" creationId="{E5BE25A2-4F12-B153-CAB1-1D9ABF16C4FB}"/>
          </ac:graphicFrameMkLst>
        </pc:graphicFrameChg>
        <pc:cxnChg chg="mod">
          <ac:chgData name="Ariel Sebastian Farelas Lazaro" userId="1a9187d6-15d9-4228-a7e1-8dd89972ed52" providerId="ADAL" clId="{FA2E4CBD-115D-55B4-B72B-BC8AC780125D}" dt="2025-08-28T01:41:49.856" v="83" actId="1076"/>
          <ac:cxnSpMkLst>
            <pc:docMk/>
            <pc:sldMk cId="2748477053" sldId="397"/>
            <ac:cxnSpMk id="16" creationId="{B5D26C0C-ABE4-436D-9169-215E6A514CFF}"/>
          </ac:cxnSpMkLst>
        </pc:cxnChg>
      </pc:sldChg>
      <pc:sldChg chg="addSp delSp modSp mod">
        <pc:chgData name="Ariel Sebastian Farelas Lazaro" userId="1a9187d6-15d9-4228-a7e1-8dd89972ed52" providerId="ADAL" clId="{FA2E4CBD-115D-55B4-B72B-BC8AC780125D}" dt="2025-08-28T01:53:58.510" v="195" actId="1076"/>
        <pc:sldMkLst>
          <pc:docMk/>
          <pc:sldMk cId="667657664" sldId="399"/>
        </pc:sldMkLst>
        <pc:spChg chg="mod">
          <ac:chgData name="Ariel Sebastian Farelas Lazaro" userId="1a9187d6-15d9-4228-a7e1-8dd89972ed52" providerId="ADAL" clId="{FA2E4CBD-115D-55B4-B72B-BC8AC780125D}" dt="2025-08-28T01:49:04.432" v="159" actId="20577"/>
          <ac:spMkLst>
            <pc:docMk/>
            <pc:sldMk cId="667657664" sldId="399"/>
            <ac:spMk id="2" creationId="{F0E37C96-13BD-4F0C-B379-77591A183D9B}"/>
          </ac:spMkLst>
        </pc:spChg>
        <pc:spChg chg="mod">
          <ac:chgData name="Ariel Sebastian Farelas Lazaro" userId="1a9187d6-15d9-4228-a7e1-8dd89972ed52" providerId="ADAL" clId="{FA2E4CBD-115D-55B4-B72B-BC8AC780125D}" dt="2025-08-28T01:53:19.614" v="189" actId="14100"/>
          <ac:spMkLst>
            <pc:docMk/>
            <pc:sldMk cId="667657664" sldId="399"/>
            <ac:spMk id="12" creationId="{77A5DBE7-3DE7-49FC-8E4D-CF5CF3BE2FD4}"/>
          </ac:spMkLst>
        </pc:spChg>
        <pc:graphicFrameChg chg="add mod">
          <ac:chgData name="Ariel Sebastian Farelas Lazaro" userId="1a9187d6-15d9-4228-a7e1-8dd89972ed52" providerId="ADAL" clId="{FA2E4CBD-115D-55B4-B72B-BC8AC780125D}" dt="2025-08-28T01:51:35.629" v="175" actId="1076"/>
          <ac:graphicFrameMkLst>
            <pc:docMk/>
            <pc:sldMk cId="667657664" sldId="399"/>
            <ac:graphicFrameMk id="3" creationId="{751BAE10-69C4-A483-169C-9FBCD8538511}"/>
          </ac:graphicFrameMkLst>
        </pc:graphicFrameChg>
        <pc:graphicFrameChg chg="add mod">
          <ac:chgData name="Ariel Sebastian Farelas Lazaro" userId="1a9187d6-15d9-4228-a7e1-8dd89972ed52" providerId="ADAL" clId="{FA2E4CBD-115D-55B4-B72B-BC8AC780125D}" dt="2025-08-28T01:52:47.211" v="185" actId="1076"/>
          <ac:graphicFrameMkLst>
            <pc:docMk/>
            <pc:sldMk cId="667657664" sldId="399"/>
            <ac:graphicFrameMk id="4" creationId="{E118F921-777C-1C4F-B6C2-981C1AB89943}"/>
          </ac:graphicFrameMkLst>
        </pc:graphicFrameChg>
        <pc:graphicFrameChg chg="add mod">
          <ac:chgData name="Ariel Sebastian Farelas Lazaro" userId="1a9187d6-15d9-4228-a7e1-8dd89972ed52" providerId="ADAL" clId="{FA2E4CBD-115D-55B4-B72B-BC8AC780125D}" dt="2025-08-28T01:53:58.510" v="195" actId="1076"/>
          <ac:graphicFrameMkLst>
            <pc:docMk/>
            <pc:sldMk cId="667657664" sldId="399"/>
            <ac:graphicFrameMk id="5" creationId="{0CC67372-4C13-5C46-A81C-656E02139FFE}"/>
          </ac:graphicFrameMkLst>
        </pc:graphicFrameChg>
        <pc:graphicFrameChg chg="del">
          <ac:chgData name="Ariel Sebastian Farelas Lazaro" userId="1a9187d6-15d9-4228-a7e1-8dd89972ed52" providerId="ADAL" clId="{FA2E4CBD-115D-55B4-B72B-BC8AC780125D}" dt="2025-08-28T01:50:52.436" v="160" actId="478"/>
          <ac:graphicFrameMkLst>
            <pc:docMk/>
            <pc:sldMk cId="667657664" sldId="399"/>
            <ac:graphicFrameMk id="13" creationId="{33CD020C-4138-4083-9D75-DA93638CB2B6}"/>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https://correoipn-my.sharepoint.com/personal/afarelasl1500_alumno_ipn_mx/Documents/SpringBoard%20Data%20Analytics/Case%20Studies/Southern%20Water%20Corp%20Financial%20Case%20Study%20Student%20Facing.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rgbClr val="000000">
                    <a:lumMod val="65000"/>
                    <a:lumOff val="35000"/>
                  </a:srgbClr>
                </a:solidFill>
              </a:rPr>
              <a:t>Overall Contribution from Each Sales Segment (By Percentage)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'Revenue Analysis'!$B$71</c:f>
              <c:strCache>
                <c:ptCount val="1"/>
                <c:pt idx="0">
                  <c:v>001 Private Water Hedge Sales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Analysis'!$A$72:$A$74</c:f>
              <c:strCache>
                <c:ptCount val="3"/>
                <c:pt idx="0">
                  <c:v>Kootha</c:v>
                </c:pt>
                <c:pt idx="1">
                  <c:v>Surjek</c:v>
                </c:pt>
                <c:pt idx="2">
                  <c:v>Jutik</c:v>
                </c:pt>
              </c:strCache>
            </c:strRef>
          </c:cat>
          <c:val>
            <c:numRef>
              <c:f>'Revenue Analysis'!$B$72:$B$74</c:f>
              <c:numCache>
                <c:formatCode>0.0%</c:formatCode>
                <c:ptCount val="3"/>
                <c:pt idx="0">
                  <c:v>0.52320475368890484</c:v>
                </c:pt>
                <c:pt idx="1">
                  <c:v>0.40764341953130878</c:v>
                </c:pt>
                <c:pt idx="2">
                  <c:v>0.41462998885337127</c:v>
                </c:pt>
              </c:numCache>
            </c:numRef>
          </c:val>
          <c:extLst>
            <c:ext xmlns:c16="http://schemas.microsoft.com/office/drawing/2014/chart" uri="{C3380CC4-5D6E-409C-BE32-E72D297353CC}">
              <c16:uniqueId val="{00000000-6068-1C49-9AC6-4FE5593CC344}"/>
            </c:ext>
          </c:extLst>
        </c:ser>
        <c:ser>
          <c:idx val="1"/>
          <c:order val="1"/>
          <c:tx>
            <c:strRef>
              <c:f>'Revenue Analysis'!$C$71</c:f>
              <c:strCache>
                <c:ptCount val="1"/>
                <c:pt idx="0">
                  <c:v>002 Public Sales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Analysis'!$A$72:$A$74</c:f>
              <c:strCache>
                <c:ptCount val="3"/>
                <c:pt idx="0">
                  <c:v>Kootha</c:v>
                </c:pt>
                <c:pt idx="1">
                  <c:v>Surjek</c:v>
                </c:pt>
                <c:pt idx="2">
                  <c:v>Jutik</c:v>
                </c:pt>
              </c:strCache>
            </c:strRef>
          </c:cat>
          <c:val>
            <c:numRef>
              <c:f>'Revenue Analysis'!$C$72:$C$74</c:f>
              <c:numCache>
                <c:formatCode>0.0%</c:formatCode>
                <c:ptCount val="3"/>
                <c:pt idx="0">
                  <c:v>0.25754754000336344</c:v>
                </c:pt>
                <c:pt idx="1">
                  <c:v>0.34887778413286691</c:v>
                </c:pt>
                <c:pt idx="2">
                  <c:v>0.35498085766522613</c:v>
                </c:pt>
              </c:numCache>
            </c:numRef>
          </c:val>
          <c:extLst>
            <c:ext xmlns:c16="http://schemas.microsoft.com/office/drawing/2014/chart" uri="{C3380CC4-5D6E-409C-BE32-E72D297353CC}">
              <c16:uniqueId val="{00000001-6068-1C49-9AC6-4FE5593CC344}"/>
            </c:ext>
          </c:extLst>
        </c:ser>
        <c:ser>
          <c:idx val="2"/>
          <c:order val="2"/>
          <c:tx>
            <c:strRef>
              <c:f>'Revenue Analysis'!$D$71</c:f>
              <c:strCache>
                <c:ptCount val="1"/>
                <c:pt idx="0">
                  <c:v>003 Residential Sales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Analysis'!$A$72:$A$74</c:f>
              <c:strCache>
                <c:ptCount val="3"/>
                <c:pt idx="0">
                  <c:v>Kootha</c:v>
                </c:pt>
                <c:pt idx="1">
                  <c:v>Surjek</c:v>
                </c:pt>
                <c:pt idx="2">
                  <c:v>Jutik</c:v>
                </c:pt>
              </c:strCache>
            </c:strRef>
          </c:cat>
          <c:val>
            <c:numRef>
              <c:f>'Revenue Analysis'!$D$72:$D$74</c:f>
              <c:numCache>
                <c:formatCode>0.0%</c:formatCode>
                <c:ptCount val="3"/>
                <c:pt idx="0">
                  <c:v>0.21924770630773166</c:v>
                </c:pt>
                <c:pt idx="1">
                  <c:v>0.24347879633582434</c:v>
                </c:pt>
                <c:pt idx="2">
                  <c:v>0.23038915348140254</c:v>
                </c:pt>
              </c:numCache>
            </c:numRef>
          </c:val>
          <c:extLst>
            <c:ext xmlns:c16="http://schemas.microsoft.com/office/drawing/2014/chart" uri="{C3380CC4-5D6E-409C-BE32-E72D297353CC}">
              <c16:uniqueId val="{00000002-6068-1C49-9AC6-4FE5593CC344}"/>
            </c:ext>
          </c:extLst>
        </c:ser>
        <c:dLbls>
          <c:showLegendKey val="0"/>
          <c:showVal val="1"/>
          <c:showCatName val="0"/>
          <c:showSerName val="0"/>
          <c:showPercent val="0"/>
          <c:showBubbleSize val="0"/>
        </c:dLbls>
        <c:gapWidth val="75"/>
        <c:overlap val="100"/>
        <c:axId val="1465557408"/>
        <c:axId val="1631266768"/>
      </c:barChart>
      <c:catAx>
        <c:axId val="146555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31266768"/>
        <c:crosses val="autoZero"/>
        <c:auto val="1"/>
        <c:lblAlgn val="ctr"/>
        <c:lblOffset val="100"/>
        <c:noMultiLvlLbl val="0"/>
      </c:catAx>
      <c:valAx>
        <c:axId val="163126676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5557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Kootha Revenues (July 13th to June 14th)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'Revenue Analysis'!$C$34</c:f>
              <c:strCache>
                <c:ptCount val="1"/>
                <c:pt idx="0">
                  <c:v>001 Private Water Hedge Sales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Analysis'!$E$34:$P$34</c:f>
              <c:numCache>
                <c:formatCode>"$"#,##0.00;[Red]\-"$"#,##0.00</c:formatCode>
                <c:ptCount val="12"/>
                <c:pt idx="0">
                  <c:v>3094536.9986999994</c:v>
                </c:pt>
                <c:pt idx="1">
                  <c:v>2980521.8105250001</c:v>
                </c:pt>
                <c:pt idx="2">
                  <c:v>2752413.7409999999</c:v>
                </c:pt>
                <c:pt idx="3">
                  <c:v>2732151.9371999996</c:v>
                </c:pt>
                <c:pt idx="4">
                  <c:v>2885028.0122999996</c:v>
                </c:pt>
                <c:pt idx="5">
                  <c:v>2815308.3782250006</c:v>
                </c:pt>
                <c:pt idx="6">
                  <c:v>4092821.3597249994</c:v>
                </c:pt>
                <c:pt idx="7">
                  <c:v>3622839.5636999998</c:v>
                </c:pt>
                <c:pt idx="8">
                  <c:v>3818238.1009499999</c:v>
                </c:pt>
                <c:pt idx="9">
                  <c:v>2789853.534825</c:v>
                </c:pt>
                <c:pt idx="10">
                  <c:v>2822646.2911499999</c:v>
                </c:pt>
                <c:pt idx="11">
                  <c:v>2712379.18035</c:v>
                </c:pt>
              </c:numCache>
            </c:numRef>
          </c:val>
          <c:smooth val="0"/>
          <c:extLst>
            <c:ext xmlns:c16="http://schemas.microsoft.com/office/drawing/2014/chart" uri="{C3380CC4-5D6E-409C-BE32-E72D297353CC}">
              <c16:uniqueId val="{00000000-25C8-1446-A042-0E4C0DB75BC9}"/>
            </c:ext>
          </c:extLst>
        </c:ser>
        <c:ser>
          <c:idx val="1"/>
          <c:order val="1"/>
          <c:tx>
            <c:strRef>
              <c:f>'Revenue Analysis'!$C$35</c:f>
              <c:strCache>
                <c:ptCount val="1"/>
                <c:pt idx="0">
                  <c:v>002 Public Sales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Analysis'!$E$35:$P$35</c:f>
              <c:numCache>
                <c:formatCode>"$"#,##0.00;[Red]\-"$"#,##0.00</c:formatCode>
                <c:ptCount val="12"/>
                <c:pt idx="0">
                  <c:v>1523285.8376100748</c:v>
                </c:pt>
                <c:pt idx="1">
                  <c:v>1467161.8612309312</c:v>
                </c:pt>
                <c:pt idx="2">
                  <c:v>1354875.66400725</c:v>
                </c:pt>
                <c:pt idx="3">
                  <c:v>1344901.7910867</c:v>
                </c:pt>
                <c:pt idx="4">
                  <c:v>1420155.039054675</c:v>
                </c:pt>
                <c:pt idx="5">
                  <c:v>1385835.5491812564</c:v>
                </c:pt>
                <c:pt idx="6">
                  <c:v>2014691.3143246307</c:v>
                </c:pt>
                <c:pt idx="7">
                  <c:v>1783342.7752313251</c:v>
                </c:pt>
                <c:pt idx="8">
                  <c:v>1879527.7051926372</c:v>
                </c:pt>
                <c:pt idx="9">
                  <c:v>1373305.4025176065</c:v>
                </c:pt>
                <c:pt idx="10">
                  <c:v>1389447.6368185873</c:v>
                </c:pt>
                <c:pt idx="11">
                  <c:v>1335168.6515272874</c:v>
                </c:pt>
              </c:numCache>
            </c:numRef>
          </c:val>
          <c:smooth val="0"/>
          <c:extLst>
            <c:ext xmlns:c16="http://schemas.microsoft.com/office/drawing/2014/chart" uri="{C3380CC4-5D6E-409C-BE32-E72D297353CC}">
              <c16:uniqueId val="{00000001-25C8-1446-A042-0E4C0DB75BC9}"/>
            </c:ext>
          </c:extLst>
        </c:ser>
        <c:ser>
          <c:idx val="2"/>
          <c:order val="2"/>
          <c:tx>
            <c:strRef>
              <c:f>'Revenue Analysis'!$C$36</c:f>
              <c:strCache>
                <c:ptCount val="1"/>
                <c:pt idx="0">
                  <c:v>003 Residential Sales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Analysis'!$E$36:$P$36</c:f>
              <c:numCache>
                <c:formatCode>"$"#,##0.00;[Red]\-"$"#,##0.00</c:formatCode>
                <c:ptCount val="12"/>
                <c:pt idx="0">
                  <c:v>1296758.36136</c:v>
                </c:pt>
                <c:pt idx="1">
                  <c:v>1248980.56822</c:v>
                </c:pt>
                <c:pt idx="2">
                  <c:v>1153392.4247999999</c:v>
                </c:pt>
                <c:pt idx="3">
                  <c:v>1144901.76416</c:v>
                </c:pt>
                <c:pt idx="4">
                  <c:v>1208964.11944</c:v>
                </c:pt>
                <c:pt idx="5">
                  <c:v>1179748.2727800002</c:v>
                </c:pt>
                <c:pt idx="6">
                  <c:v>1715087.0459799999</c:v>
                </c:pt>
                <c:pt idx="7">
                  <c:v>1518142.2933600002</c:v>
                </c:pt>
                <c:pt idx="8">
                  <c:v>1600023.58516</c:v>
                </c:pt>
                <c:pt idx="9">
                  <c:v>1169081.4812600003</c:v>
                </c:pt>
                <c:pt idx="10">
                  <c:v>1182823.2077200001</c:v>
                </c:pt>
                <c:pt idx="11">
                  <c:v>1136616.0374800002</c:v>
                </c:pt>
              </c:numCache>
            </c:numRef>
          </c:val>
          <c:smooth val="0"/>
          <c:extLst>
            <c:ext xmlns:c16="http://schemas.microsoft.com/office/drawing/2014/chart" uri="{C3380CC4-5D6E-409C-BE32-E72D297353CC}">
              <c16:uniqueId val="{00000002-25C8-1446-A042-0E4C0DB75BC9}"/>
            </c:ext>
          </c:extLst>
        </c:ser>
        <c:dLbls>
          <c:showLegendKey val="0"/>
          <c:showVal val="0"/>
          <c:showCatName val="0"/>
          <c:showSerName val="0"/>
          <c:showPercent val="0"/>
          <c:showBubbleSize val="0"/>
        </c:dLbls>
        <c:marker val="1"/>
        <c:smooth val="0"/>
        <c:axId val="1121734863"/>
        <c:axId val="1121767823"/>
      </c:lineChart>
      <c:dateAx>
        <c:axId val="112173486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1767823"/>
        <c:crosses val="autoZero"/>
        <c:auto val="1"/>
        <c:lblOffset val="100"/>
        <c:baseTimeUnit val="months"/>
      </c:dateAx>
      <c:valAx>
        <c:axId val="1121767823"/>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17348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Surjek Revenues (July 13th to June 14th)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'Revenue Analysis'!$C$37</c:f>
              <c:strCache>
                <c:ptCount val="1"/>
                <c:pt idx="0">
                  <c:v>001 Private Water Hedge Sales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Analysis'!$E$37:$P$37</c:f>
              <c:numCache>
                <c:formatCode>"$"#,##0.00;[Red]\-"$"#,##0.00</c:formatCode>
                <c:ptCount val="12"/>
                <c:pt idx="0">
                  <c:v>7220021.2387499996</c:v>
                </c:pt>
                <c:pt idx="1">
                  <c:v>6085131.0149999997</c:v>
                </c:pt>
                <c:pt idx="2">
                  <c:v>6723291.7162500005</c:v>
                </c:pt>
                <c:pt idx="3">
                  <c:v>6313180.5299999993</c:v>
                </c:pt>
                <c:pt idx="4">
                  <c:v>5763708.6674999995</c:v>
                </c:pt>
                <c:pt idx="5">
                  <c:v>6484566.5099999998</c:v>
                </c:pt>
                <c:pt idx="6">
                  <c:v>9314190.6750000007</c:v>
                </c:pt>
                <c:pt idx="7">
                  <c:v>6750396.1374999993</c:v>
                </c:pt>
                <c:pt idx="8">
                  <c:v>8185283.6587499995</c:v>
                </c:pt>
                <c:pt idx="9">
                  <c:v>6778514.602500001</c:v>
                </c:pt>
                <c:pt idx="10">
                  <c:v>6094707.7050000001</c:v>
                </c:pt>
                <c:pt idx="11">
                  <c:v>6735069.6974999998</c:v>
                </c:pt>
              </c:numCache>
            </c:numRef>
          </c:val>
          <c:smooth val="0"/>
          <c:extLst>
            <c:ext xmlns:c16="http://schemas.microsoft.com/office/drawing/2014/chart" uri="{C3380CC4-5D6E-409C-BE32-E72D297353CC}">
              <c16:uniqueId val="{00000000-369F-1244-A8DB-912258B7ED74}"/>
            </c:ext>
          </c:extLst>
        </c:ser>
        <c:ser>
          <c:idx val="1"/>
          <c:order val="1"/>
          <c:tx>
            <c:strRef>
              <c:f>'Revenue Analysis'!$C$38</c:f>
              <c:strCache>
                <c:ptCount val="1"/>
                <c:pt idx="0">
                  <c:v>002 Public Sales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Analysis'!$E$38:$P$38</c:f>
              <c:numCache>
                <c:formatCode>"$"#,##0.00;[Red]\-"$"#,##0.00</c:formatCode>
                <c:ptCount val="12"/>
                <c:pt idx="0">
                  <c:v>5968550.8906999994</c:v>
                </c:pt>
                <c:pt idx="1">
                  <c:v>5030374.9724000003</c:v>
                </c:pt>
                <c:pt idx="2">
                  <c:v>5557921.1521000005</c:v>
                </c:pt>
                <c:pt idx="3">
                  <c:v>5218895.9047999997</c:v>
                </c:pt>
                <c:pt idx="4">
                  <c:v>4764665.8318000007</c:v>
                </c:pt>
                <c:pt idx="5">
                  <c:v>5360574.9815999996</c:v>
                </c:pt>
                <c:pt idx="6">
                  <c:v>7699730.9580000006</c:v>
                </c:pt>
                <c:pt idx="7">
                  <c:v>6985660.807</c:v>
                </c:pt>
                <c:pt idx="8">
                  <c:v>6766501.1579</c:v>
                </c:pt>
                <c:pt idx="9">
                  <c:v>6603572.0713999998</c:v>
                </c:pt>
                <c:pt idx="10">
                  <c:v>5038291.7028000001</c:v>
                </c:pt>
                <c:pt idx="11">
                  <c:v>5567657.6166000003</c:v>
                </c:pt>
              </c:numCache>
            </c:numRef>
          </c:val>
          <c:smooth val="0"/>
          <c:extLst>
            <c:ext xmlns:c16="http://schemas.microsoft.com/office/drawing/2014/chart" uri="{C3380CC4-5D6E-409C-BE32-E72D297353CC}">
              <c16:uniqueId val="{00000001-369F-1244-A8DB-912258B7ED74}"/>
            </c:ext>
          </c:extLst>
        </c:ser>
        <c:ser>
          <c:idx val="2"/>
          <c:order val="2"/>
          <c:tx>
            <c:strRef>
              <c:f>'Revenue Analysis'!$C$39</c:f>
              <c:strCache>
                <c:ptCount val="1"/>
                <c:pt idx="0">
                  <c:v>003 Residential Sales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Analysis'!$E$39:$P$39</c:f>
              <c:numCache>
                <c:formatCode>"$"#,##0.00;[Red]\-"$"#,##0.00</c:formatCode>
                <c:ptCount val="12"/>
                <c:pt idx="0">
                  <c:v>4139478.8435499985</c:v>
                </c:pt>
                <c:pt idx="1">
                  <c:v>3488808.4485999988</c:v>
                </c:pt>
                <c:pt idx="2">
                  <c:v>3854687.2506499989</c:v>
                </c:pt>
                <c:pt idx="3">
                  <c:v>3619556.8371999986</c:v>
                </c:pt>
                <c:pt idx="4">
                  <c:v>3304526.302699999</c:v>
                </c:pt>
                <c:pt idx="5">
                  <c:v>3717818.1323999991</c:v>
                </c:pt>
                <c:pt idx="6">
                  <c:v>5340135.9869999988</c:v>
                </c:pt>
                <c:pt idx="7">
                  <c:v>4844893.7854999984</c:v>
                </c:pt>
                <c:pt idx="8">
                  <c:v>4692895.9643499991</c:v>
                </c:pt>
                <c:pt idx="9">
                  <c:v>4886348.3721000003</c:v>
                </c:pt>
                <c:pt idx="10">
                  <c:v>3494299.084199999</c:v>
                </c:pt>
                <c:pt idx="11">
                  <c:v>3861439.9598999987</c:v>
                </c:pt>
              </c:numCache>
            </c:numRef>
          </c:val>
          <c:smooth val="0"/>
          <c:extLst>
            <c:ext xmlns:c16="http://schemas.microsoft.com/office/drawing/2014/chart" uri="{C3380CC4-5D6E-409C-BE32-E72D297353CC}">
              <c16:uniqueId val="{00000002-369F-1244-A8DB-912258B7ED74}"/>
            </c:ext>
          </c:extLst>
        </c:ser>
        <c:dLbls>
          <c:showLegendKey val="0"/>
          <c:showVal val="0"/>
          <c:showCatName val="0"/>
          <c:showSerName val="0"/>
          <c:showPercent val="0"/>
          <c:showBubbleSize val="0"/>
        </c:dLbls>
        <c:marker val="1"/>
        <c:smooth val="0"/>
        <c:axId val="1121734863"/>
        <c:axId val="1121767823"/>
      </c:lineChart>
      <c:dateAx>
        <c:axId val="112173486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1767823"/>
        <c:crosses val="autoZero"/>
        <c:auto val="1"/>
        <c:lblOffset val="100"/>
        <c:baseTimeUnit val="months"/>
      </c:dateAx>
      <c:valAx>
        <c:axId val="1121767823"/>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17348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Jutik (July 13th to June 14th)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'Revenue Analysis'!$C$40</c:f>
              <c:strCache>
                <c:ptCount val="1"/>
                <c:pt idx="0">
                  <c:v>001 Private Water Hedge Sales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Analysis'!$E$40:$P$40</c:f>
              <c:numCache>
                <c:formatCode>"$"#,##0.00;[Red]\-"$"#,##0.00</c:formatCode>
                <c:ptCount val="12"/>
                <c:pt idx="0">
                  <c:v>5298686.1637500003</c:v>
                </c:pt>
                <c:pt idx="1">
                  <c:v>5854268.2837499995</c:v>
                </c:pt>
                <c:pt idx="2">
                  <c:v>5098113.7162500005</c:v>
                </c:pt>
                <c:pt idx="3">
                  <c:v>4506567.6112500001</c:v>
                </c:pt>
                <c:pt idx="4">
                  <c:v>4950718.5187500007</c:v>
                </c:pt>
                <c:pt idx="5">
                  <c:v>4219638.2549999999</c:v>
                </c:pt>
                <c:pt idx="6">
                  <c:v>6454620.584999999</c:v>
                </c:pt>
                <c:pt idx="7">
                  <c:v>6573684.678749999</c:v>
                </c:pt>
                <c:pt idx="8">
                  <c:v>5896579.8487499999</c:v>
                </c:pt>
                <c:pt idx="9">
                  <c:v>6254734.0800000001</c:v>
                </c:pt>
                <c:pt idx="10">
                  <c:v>6161098.0612500003</c:v>
                </c:pt>
                <c:pt idx="11">
                  <c:v>6591800.7712500002</c:v>
                </c:pt>
              </c:numCache>
            </c:numRef>
          </c:val>
          <c:smooth val="0"/>
          <c:extLst>
            <c:ext xmlns:c16="http://schemas.microsoft.com/office/drawing/2014/chart" uri="{C3380CC4-5D6E-409C-BE32-E72D297353CC}">
              <c16:uniqueId val="{00000000-686B-5B48-85C3-636222622C3D}"/>
            </c:ext>
          </c:extLst>
        </c:ser>
        <c:ser>
          <c:idx val="1"/>
          <c:order val="1"/>
          <c:tx>
            <c:strRef>
              <c:f>'Revenue Analysis'!$C$41</c:f>
              <c:strCache>
                <c:ptCount val="1"/>
                <c:pt idx="0">
                  <c:v>002 Public Sales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Analysis'!$E$41:$P$41</c:f>
              <c:numCache>
                <c:formatCode>"$"#,##0.00;[Red]\-"$"#,##0.00</c:formatCode>
                <c:ptCount val="12"/>
                <c:pt idx="0">
                  <c:v>4380247.2286999999</c:v>
                </c:pt>
                <c:pt idx="1">
                  <c:v>3839528.4479</c:v>
                </c:pt>
                <c:pt idx="2">
                  <c:v>5214440.6721000001</c:v>
                </c:pt>
                <c:pt idx="3">
                  <c:v>4725429.2253</c:v>
                </c:pt>
                <c:pt idx="4">
                  <c:v>4092593.9755000006</c:v>
                </c:pt>
                <c:pt idx="5">
                  <c:v>4488234.2907999996</c:v>
                </c:pt>
                <c:pt idx="6">
                  <c:v>5335819.6836000001</c:v>
                </c:pt>
                <c:pt idx="7">
                  <c:v>5434246.0011</c:v>
                </c:pt>
                <c:pt idx="8">
                  <c:v>4874506.0082999999</c:v>
                </c:pt>
                <c:pt idx="9">
                  <c:v>5170580.1728000008</c:v>
                </c:pt>
                <c:pt idx="10">
                  <c:v>5093174.3973000003</c:v>
                </c:pt>
                <c:pt idx="11">
                  <c:v>5449221.9709000001</c:v>
                </c:pt>
              </c:numCache>
            </c:numRef>
          </c:val>
          <c:smooth val="0"/>
          <c:extLst>
            <c:ext xmlns:c16="http://schemas.microsoft.com/office/drawing/2014/chart" uri="{C3380CC4-5D6E-409C-BE32-E72D297353CC}">
              <c16:uniqueId val="{00000001-686B-5B48-85C3-636222622C3D}"/>
            </c:ext>
          </c:extLst>
        </c:ser>
        <c:ser>
          <c:idx val="2"/>
          <c:order val="2"/>
          <c:tx>
            <c:strRef>
              <c:f>'Revenue Analysis'!$C$42</c:f>
              <c:strCache>
                <c:ptCount val="1"/>
                <c:pt idx="0">
                  <c:v>003 Residential Sales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'Revenue Analysis'!$E$32:$P$32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'Revenue Analysis'!$E$42:$P$42</c:f>
              <c:numCache>
                <c:formatCode>"$"#,##0.00;[Red]\-"$"#,##0.00</c:formatCode>
                <c:ptCount val="12"/>
                <c:pt idx="0">
                  <c:v>3037913.400549999</c:v>
                </c:pt>
                <c:pt idx="1">
                  <c:v>3356447.1493499991</c:v>
                </c:pt>
                <c:pt idx="2">
                  <c:v>2922918.5306499992</c:v>
                </c:pt>
                <c:pt idx="3">
                  <c:v>2583765.4304499994</c:v>
                </c:pt>
                <c:pt idx="4">
                  <c:v>2838411.9507499994</c:v>
                </c:pt>
                <c:pt idx="5">
                  <c:v>2419259.2661999995</c:v>
                </c:pt>
                <c:pt idx="6">
                  <c:v>3700649.1353999986</c:v>
                </c:pt>
                <c:pt idx="7">
                  <c:v>3768912.5491499985</c:v>
                </c:pt>
                <c:pt idx="8">
                  <c:v>3380705.7799499989</c:v>
                </c:pt>
                <c:pt idx="9">
                  <c:v>3586047.5391999991</c:v>
                </c:pt>
                <c:pt idx="10">
                  <c:v>3032362.88845</c:v>
                </c:pt>
                <c:pt idx="11">
                  <c:v>3079299.10885</c:v>
                </c:pt>
              </c:numCache>
            </c:numRef>
          </c:val>
          <c:smooth val="0"/>
          <c:extLst>
            <c:ext xmlns:c16="http://schemas.microsoft.com/office/drawing/2014/chart" uri="{C3380CC4-5D6E-409C-BE32-E72D297353CC}">
              <c16:uniqueId val="{00000002-686B-5B48-85C3-636222622C3D}"/>
            </c:ext>
          </c:extLst>
        </c:ser>
        <c:dLbls>
          <c:showLegendKey val="0"/>
          <c:showVal val="0"/>
          <c:showCatName val="0"/>
          <c:showSerName val="0"/>
          <c:showPercent val="0"/>
          <c:showBubbleSize val="0"/>
        </c:dLbls>
        <c:marker val="1"/>
        <c:smooth val="0"/>
        <c:axId val="1121734863"/>
        <c:axId val="1121767823"/>
      </c:lineChart>
      <c:dateAx>
        <c:axId val="112173486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1767823"/>
        <c:crosses val="autoZero"/>
        <c:auto val="1"/>
        <c:lblOffset val="100"/>
        <c:baseTimeUnit val="months"/>
      </c:dateAx>
      <c:valAx>
        <c:axId val="1121767823"/>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17348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Aggregated</a:t>
            </a:r>
            <a:r>
              <a:rPr lang="en-US" baseline="0"/>
              <a:t> Costs per Unit (Jul 13th-Jun 14th)</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'Expenses Analysis'!$A$82</c:f>
              <c:strCache>
                <c:ptCount val="1"/>
                <c:pt idx="0">
                  <c:v>Kootha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'Expenses Analysis'!$F$81:$Q$81</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'Expenses Analysis'!$F$82:$Q$82</c:f>
              <c:numCache>
                <c:formatCode>"$"#,##0.00;[Red]\-"$"#,##0.00</c:formatCode>
                <c:ptCount val="12"/>
                <c:pt idx="0">
                  <c:v>3458288.8701338647</c:v>
                </c:pt>
                <c:pt idx="1">
                  <c:v>4778353.3521016249</c:v>
                </c:pt>
                <c:pt idx="2">
                  <c:v>3741007.0627661142</c:v>
                </c:pt>
                <c:pt idx="3">
                  <c:v>3550828.7945508747</c:v>
                </c:pt>
                <c:pt idx="4">
                  <c:v>3646543.42684625</c:v>
                </c:pt>
                <c:pt idx="5">
                  <c:v>3507223.3581475001</c:v>
                </c:pt>
                <c:pt idx="6">
                  <c:v>5249820.3494999986</c:v>
                </c:pt>
                <c:pt idx="7">
                  <c:v>4419792.6823125007</c:v>
                </c:pt>
                <c:pt idx="8">
                  <c:v>4409725.4715</c:v>
                </c:pt>
                <c:pt idx="9">
                  <c:v>4419304.3184062503</c:v>
                </c:pt>
                <c:pt idx="10">
                  <c:v>4692799.18359375</c:v>
                </c:pt>
                <c:pt idx="11">
                  <c:v>5350137.2224687496</c:v>
                </c:pt>
              </c:numCache>
            </c:numRef>
          </c:val>
          <c:smooth val="0"/>
          <c:extLst>
            <c:ext xmlns:c16="http://schemas.microsoft.com/office/drawing/2014/chart" uri="{C3380CC4-5D6E-409C-BE32-E72D297353CC}">
              <c16:uniqueId val="{00000000-426E-4E4B-AFDB-45302CCE509B}"/>
            </c:ext>
          </c:extLst>
        </c:ser>
        <c:ser>
          <c:idx val="1"/>
          <c:order val="1"/>
          <c:tx>
            <c:strRef>
              <c:f>'Expenses Analysis'!$A$83</c:f>
              <c:strCache>
                <c:ptCount val="1"/>
                <c:pt idx="0">
                  <c:v>Surjek</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'Expenses Analysis'!$F$81:$Q$81</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'Expenses Analysis'!$F$83:$Q$83</c:f>
              <c:numCache>
                <c:formatCode>"$"#,##0.00;[Red]\-"$"#,##0.00</c:formatCode>
                <c:ptCount val="12"/>
                <c:pt idx="0">
                  <c:v>11339551.170386208</c:v>
                </c:pt>
                <c:pt idx="1">
                  <c:v>13660880.3343936</c:v>
                </c:pt>
                <c:pt idx="2">
                  <c:v>13806947.680280834</c:v>
                </c:pt>
                <c:pt idx="3">
                  <c:v>18511924.382331077</c:v>
                </c:pt>
                <c:pt idx="4">
                  <c:v>20025365.089240894</c:v>
                </c:pt>
                <c:pt idx="5">
                  <c:v>12958942.643539203</c:v>
                </c:pt>
                <c:pt idx="6">
                  <c:v>13987466.323076401</c:v>
                </c:pt>
                <c:pt idx="7">
                  <c:v>16468493.156715602</c:v>
                </c:pt>
                <c:pt idx="8">
                  <c:v>15013580.580213603</c:v>
                </c:pt>
                <c:pt idx="9">
                  <c:v>16135503.054039603</c:v>
                </c:pt>
                <c:pt idx="10">
                  <c:v>18921373.302216005</c:v>
                </c:pt>
                <c:pt idx="11">
                  <c:v>8489071.3235327993</c:v>
                </c:pt>
              </c:numCache>
            </c:numRef>
          </c:val>
          <c:smooth val="0"/>
          <c:extLst>
            <c:ext xmlns:c16="http://schemas.microsoft.com/office/drawing/2014/chart" uri="{C3380CC4-5D6E-409C-BE32-E72D297353CC}">
              <c16:uniqueId val="{00000001-426E-4E4B-AFDB-45302CCE509B}"/>
            </c:ext>
          </c:extLst>
        </c:ser>
        <c:ser>
          <c:idx val="2"/>
          <c:order val="2"/>
          <c:tx>
            <c:strRef>
              <c:f>'Expenses Analysis'!$A$84</c:f>
              <c:strCache>
                <c:ptCount val="1"/>
                <c:pt idx="0">
                  <c:v>Jutik</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numRef>
              <c:f>'Expenses Analysis'!$F$81:$Q$81</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'Expenses Analysis'!$F$84:$Q$84</c:f>
              <c:numCache>
                <c:formatCode>"$"#,##0.00;[Red]\-"$"#,##0.00</c:formatCode>
                <c:ptCount val="12"/>
                <c:pt idx="0">
                  <c:v>8168998.5802924205</c:v>
                </c:pt>
                <c:pt idx="1">
                  <c:v>6508016.2729576789</c:v>
                </c:pt>
                <c:pt idx="2">
                  <c:v>8797296.0201469176</c:v>
                </c:pt>
                <c:pt idx="3">
                  <c:v>7399801.6649996387</c:v>
                </c:pt>
                <c:pt idx="4">
                  <c:v>6292597.87327509</c:v>
                </c:pt>
                <c:pt idx="5">
                  <c:v>5862551.4695474999</c:v>
                </c:pt>
                <c:pt idx="6">
                  <c:v>7198677.8148285002</c:v>
                </c:pt>
                <c:pt idx="7">
                  <c:v>7481708.9511677492</c:v>
                </c:pt>
                <c:pt idx="8">
                  <c:v>8690888.6165351253</c:v>
                </c:pt>
                <c:pt idx="9">
                  <c:v>6732277.631081</c:v>
                </c:pt>
                <c:pt idx="10">
                  <c:v>8110761.1219654996</c:v>
                </c:pt>
                <c:pt idx="11">
                  <c:v>9479913.2630085014</c:v>
                </c:pt>
              </c:numCache>
            </c:numRef>
          </c:val>
          <c:smooth val="0"/>
          <c:extLst>
            <c:ext xmlns:c16="http://schemas.microsoft.com/office/drawing/2014/chart" uri="{C3380CC4-5D6E-409C-BE32-E72D297353CC}">
              <c16:uniqueId val="{00000002-426E-4E4B-AFDB-45302CCE509B}"/>
            </c:ext>
          </c:extLst>
        </c:ser>
        <c:ser>
          <c:idx val="3"/>
          <c:order val="3"/>
          <c:tx>
            <c:strRef>
              <c:f>'Expenses Analysis'!$A$85</c:f>
              <c:strCache>
                <c:ptCount val="1"/>
                <c:pt idx="0">
                  <c:v>Overall</c:v>
                </c:pt>
              </c:strCache>
            </c:strRef>
          </c:tx>
          <c:spPr>
            <a:ln w="28575"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'Expenses Analysis'!$F$81:$Q$81</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'Expenses Analysis'!$F$85:$Q$85</c:f>
              <c:numCache>
                <c:formatCode>"$"#,##0.00;[Red]\-"$"#,##0.00</c:formatCode>
                <c:ptCount val="12"/>
                <c:pt idx="0">
                  <c:v>22966838.620812491</c:v>
                </c:pt>
                <c:pt idx="1">
                  <c:v>24947249.959452905</c:v>
                </c:pt>
                <c:pt idx="2">
                  <c:v>26345250.763193864</c:v>
                </c:pt>
                <c:pt idx="3">
                  <c:v>29462554.841881588</c:v>
                </c:pt>
                <c:pt idx="4">
                  <c:v>29964506.389362235</c:v>
                </c:pt>
                <c:pt idx="5">
                  <c:v>22328717.471234202</c:v>
                </c:pt>
                <c:pt idx="6">
                  <c:v>26435964.487404898</c:v>
                </c:pt>
                <c:pt idx="7">
                  <c:v>28369994.790195853</c:v>
                </c:pt>
                <c:pt idx="8">
                  <c:v>28114194.668248728</c:v>
                </c:pt>
                <c:pt idx="9">
                  <c:v>27287085.003526852</c:v>
                </c:pt>
                <c:pt idx="10">
                  <c:v>31724933.607775256</c:v>
                </c:pt>
                <c:pt idx="11">
                  <c:v>23319121.809010051</c:v>
                </c:pt>
              </c:numCache>
            </c:numRef>
          </c:val>
          <c:smooth val="0"/>
          <c:extLst>
            <c:ext xmlns:c16="http://schemas.microsoft.com/office/drawing/2014/chart" uri="{C3380CC4-5D6E-409C-BE32-E72D297353CC}">
              <c16:uniqueId val="{00000003-426E-4E4B-AFDB-45302CCE509B}"/>
            </c:ext>
          </c:extLst>
        </c:ser>
        <c:dLbls>
          <c:showLegendKey val="0"/>
          <c:showVal val="0"/>
          <c:showCatName val="0"/>
          <c:showSerName val="0"/>
          <c:showPercent val="0"/>
          <c:showBubbleSize val="0"/>
        </c:dLbls>
        <c:marker val="1"/>
        <c:smooth val="0"/>
        <c:axId val="770385872"/>
        <c:axId val="770387584"/>
      </c:lineChart>
      <c:dateAx>
        <c:axId val="77038587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0387584"/>
        <c:crosses val="autoZero"/>
        <c:auto val="1"/>
        <c:lblOffset val="100"/>
        <c:baseTimeUnit val="months"/>
      </c:dateAx>
      <c:valAx>
        <c:axId val="770387584"/>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03858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Aggregated Costs per Accounting</a:t>
            </a:r>
            <a:r>
              <a:rPr lang="en-US" baseline="0"/>
              <a:t> Code Centre Element (July 13th-June 14th)</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dLbl>
              <c:idx val="0"/>
              <c:tx>
                <c:rich>
                  <a:bodyPr/>
                  <a:lstStyle/>
                  <a:p>
                    <a:r>
                      <a:rPr lang="en-US"/>
                      <a:t>$78.413</a:t>
                    </a:r>
                    <a:r>
                      <a:rPr lang="en-US" baseline="0"/>
                      <a:t> M</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E92-DA44-B526-90821174B626}"/>
                </c:ext>
              </c:extLst>
            </c:dLbl>
            <c:dLbl>
              <c:idx val="1"/>
              <c:tx>
                <c:rich>
                  <a:bodyPr/>
                  <a:lstStyle/>
                  <a:p>
                    <a:r>
                      <a:rPr lang="en-US"/>
                      <a:t>$38.717</a:t>
                    </a:r>
                    <a:r>
                      <a:rPr lang="en-US" baseline="0"/>
                      <a:t> M</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E92-DA44-B526-90821174B626}"/>
                </c:ext>
              </c:extLst>
            </c:dLbl>
            <c:dLbl>
              <c:idx val="2"/>
              <c:tx>
                <c:rich>
                  <a:bodyPr/>
                  <a:lstStyle/>
                  <a:p>
                    <a:r>
                      <a:rPr lang="en-US"/>
                      <a:t>$36.414 M</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E92-DA44-B526-90821174B626}"/>
                </c:ext>
              </c:extLst>
            </c:dLbl>
            <c:dLbl>
              <c:idx val="3"/>
              <c:tx>
                <c:rich>
                  <a:bodyPr/>
                  <a:lstStyle/>
                  <a:p>
                    <a:r>
                      <a:rPr lang="en-US"/>
                      <a:t>$31.752</a:t>
                    </a:r>
                    <a:r>
                      <a:rPr lang="en-US" baseline="0"/>
                      <a:t> M</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E92-DA44-B526-90821174B626}"/>
                </c:ext>
              </c:extLst>
            </c:dLbl>
            <c:dLbl>
              <c:idx val="4"/>
              <c:tx>
                <c:rich>
                  <a:bodyPr/>
                  <a:lstStyle/>
                  <a:p>
                    <a:r>
                      <a:rPr lang="en-US"/>
                      <a:t>$16.735 M</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E92-DA44-B526-90821174B626}"/>
                </c:ext>
              </c:extLst>
            </c:dLbl>
            <c:dLbl>
              <c:idx val="5"/>
              <c:tx>
                <c:rich>
                  <a:bodyPr/>
                  <a:lstStyle/>
                  <a:p>
                    <a:r>
                      <a:rPr lang="en-US"/>
                      <a:t>$21.090</a:t>
                    </a:r>
                    <a:r>
                      <a:rPr lang="en-US" baseline="0"/>
                      <a:t> M</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E92-DA44-B526-90821174B626}"/>
                </c:ext>
              </c:extLst>
            </c:dLbl>
            <c:dLbl>
              <c:idx val="6"/>
              <c:tx>
                <c:rich>
                  <a:bodyPr/>
                  <a:lstStyle/>
                  <a:p>
                    <a:r>
                      <a:rPr lang="en-US"/>
                      <a:t>$10.813</a:t>
                    </a:r>
                    <a:r>
                      <a:rPr lang="en-US" baseline="0"/>
                      <a:t> M</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E92-DA44-B526-90821174B626}"/>
                </c:ext>
              </c:extLst>
            </c:dLbl>
            <c:dLbl>
              <c:idx val="7"/>
              <c:tx>
                <c:rich>
                  <a:bodyPr/>
                  <a:lstStyle/>
                  <a:p>
                    <a:r>
                      <a:rPr lang="en-US"/>
                      <a:t>$87.328</a:t>
                    </a:r>
                    <a:r>
                      <a:rPr lang="en-US" baseline="0"/>
                      <a:t> M</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E92-DA44-B526-90821174B626}"/>
                </c:ext>
              </c:extLst>
            </c:dLbl>
            <c:numFmt formatCode="&quot;$&quot;#,##0.00" sourceLinked="0"/>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'Expenses Analysis'!$D$48:$D$55</c:f>
              <c:strCache>
                <c:ptCount val="8"/>
                <c:pt idx="0">
                  <c:v>Chem-Exp (001)</c:v>
                </c:pt>
                <c:pt idx="1">
                  <c:v>Utility-Exp (002) - Heating</c:v>
                </c:pt>
                <c:pt idx="2">
                  <c:v>Utility-Exp (002) - Electricity</c:v>
                </c:pt>
                <c:pt idx="3">
                  <c:v>Plant Maintenance (001)</c:v>
                </c:pt>
                <c:pt idx="4">
                  <c:v>Plant Outages (002)</c:v>
                </c:pt>
                <c:pt idx="5">
                  <c:v>Plant Op. Costs (003)</c:v>
                </c:pt>
                <c:pt idx="6">
                  <c:v>Plant Admin Costs (004)</c:v>
                </c:pt>
                <c:pt idx="7">
                  <c:v>Labour-Costs (001)</c:v>
                </c:pt>
              </c:strCache>
            </c:strRef>
          </c:cat>
          <c:val>
            <c:numRef>
              <c:f>'Expenses Analysis'!$R$48:$R$55</c:f>
              <c:numCache>
                <c:formatCode>"$"#,##0.00;[Red]\-"$"#,##0.00</c:formatCode>
                <c:ptCount val="8"/>
                <c:pt idx="0">
                  <c:v>78413350.257664919</c:v>
                </c:pt>
                <c:pt idx="1">
                  <c:v>38717591.397570275</c:v>
                </c:pt>
                <c:pt idx="2">
                  <c:v>36414827.690372624</c:v>
                </c:pt>
                <c:pt idx="3">
                  <c:v>31752797.278513506</c:v>
                </c:pt>
                <c:pt idx="4">
                  <c:v>16735122.996921198</c:v>
                </c:pt>
                <c:pt idx="5">
                  <c:v>21090666.556378298</c:v>
                </c:pt>
                <c:pt idx="6">
                  <c:v>10813424.6638656</c:v>
                </c:pt>
                <c:pt idx="7">
                  <c:v>87328631.570812494</c:v>
                </c:pt>
              </c:numCache>
            </c:numRef>
          </c:val>
          <c:extLst>
            <c:ext xmlns:c16="http://schemas.microsoft.com/office/drawing/2014/chart" uri="{C3380CC4-5D6E-409C-BE32-E72D297353CC}">
              <c16:uniqueId val="{00000008-8E92-DA44-B526-90821174B626}"/>
            </c:ext>
          </c:extLst>
        </c:ser>
        <c:dLbls>
          <c:showLegendKey val="0"/>
          <c:showVal val="0"/>
          <c:showCatName val="0"/>
          <c:showSerName val="0"/>
          <c:showPercent val="0"/>
          <c:showBubbleSize val="0"/>
        </c:dLbls>
        <c:gapWidth val="150"/>
        <c:axId val="1465819152"/>
        <c:axId val="1465820864"/>
      </c:barChart>
      <c:catAx>
        <c:axId val="1465819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465820864"/>
        <c:crosses val="autoZero"/>
        <c:auto val="1"/>
        <c:lblAlgn val="ctr"/>
        <c:lblOffset val="100"/>
        <c:noMultiLvlLbl val="0"/>
      </c:catAx>
      <c:valAx>
        <c:axId val="1465820864"/>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58191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Kootha Expenses (July 13th-Jun 14th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0B050"/>
            </a:solidFill>
            <a:ln>
              <a:solidFill>
                <a:srgbClr val="FFC000"/>
              </a:solidFill>
            </a:ln>
            <a:effectLst>
              <a:innerShdw blurRad="114300">
                <a:prstClr val="black"/>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'Expenses Analysis'!$D$15:$D$22</c:f>
              <c:strCache>
                <c:ptCount val="8"/>
                <c:pt idx="0">
                  <c:v>Chem-Exp (001)</c:v>
                </c:pt>
                <c:pt idx="1">
                  <c:v>Utility-Exp (002) - Heating</c:v>
                </c:pt>
                <c:pt idx="2">
                  <c:v>Utility-Exp (002) - Electricity</c:v>
                </c:pt>
                <c:pt idx="3">
                  <c:v>Plant Maintenance (001)</c:v>
                </c:pt>
                <c:pt idx="4">
                  <c:v>Plant Outages (002)</c:v>
                </c:pt>
                <c:pt idx="5">
                  <c:v>Plant Op. Costs (003)</c:v>
                </c:pt>
                <c:pt idx="6">
                  <c:v>Plant Admin Costs (004)</c:v>
                </c:pt>
                <c:pt idx="7">
                  <c:v>Labour-Costs (001)</c:v>
                </c:pt>
              </c:strCache>
            </c:strRef>
          </c:cat>
          <c:val>
            <c:numRef>
              <c:f>'Expenses Analysis'!$R$15:$R$22</c:f>
              <c:numCache>
                <c:formatCode>"$"#,##0.00;[Red]\-"$"#,##0.00</c:formatCode>
                <c:ptCount val="8"/>
                <c:pt idx="0">
                  <c:v>10125517.983652497</c:v>
                </c:pt>
                <c:pt idx="1">
                  <c:v>4720521.2044999981</c:v>
                </c:pt>
                <c:pt idx="2">
                  <c:v>7080781.8067499967</c:v>
                </c:pt>
                <c:pt idx="3">
                  <c:v>4863981.2092249971</c:v>
                </c:pt>
                <c:pt idx="4">
                  <c:v>3054127.7360249986</c:v>
                </c:pt>
                <c:pt idx="5">
                  <c:v>3450033.1832874976</c:v>
                </c:pt>
                <c:pt idx="6">
                  <c:v>2375432.6835749988</c:v>
                </c:pt>
                <c:pt idx="7">
                  <c:v>15553428.285312492</c:v>
                </c:pt>
              </c:numCache>
            </c:numRef>
          </c:val>
          <c:extLst>
            <c:ext xmlns:c16="http://schemas.microsoft.com/office/drawing/2014/chart" uri="{C3380CC4-5D6E-409C-BE32-E72D297353CC}">
              <c16:uniqueId val="{00000000-233D-CD4B-A2AE-460CDC5C1AC3}"/>
            </c:ext>
          </c:extLst>
        </c:ser>
        <c:dLbls>
          <c:showLegendKey val="0"/>
          <c:showVal val="0"/>
          <c:showCatName val="0"/>
          <c:showSerName val="0"/>
          <c:showPercent val="0"/>
          <c:showBubbleSize val="0"/>
        </c:dLbls>
        <c:gapWidth val="50"/>
        <c:overlap val="-5"/>
        <c:axId val="769698624"/>
        <c:axId val="769911328"/>
      </c:barChart>
      <c:catAx>
        <c:axId val="769698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769911328"/>
        <c:crosses val="autoZero"/>
        <c:auto val="1"/>
        <c:lblAlgn val="ctr"/>
        <c:lblOffset val="100"/>
        <c:noMultiLvlLbl val="0"/>
      </c:catAx>
      <c:valAx>
        <c:axId val="769911328"/>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96986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Surjek Expenses (July 13th-Jun 14th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0B050"/>
            </a:solidFill>
            <a:ln>
              <a:solidFill>
                <a:srgbClr val="FFC000"/>
              </a:solidFill>
            </a:ln>
            <a:effectLst>
              <a:innerShdw blurRad="114300">
                <a:prstClr val="black"/>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'Expenses Analysis'!$D$25:$D$32</c:f>
              <c:strCache>
                <c:ptCount val="8"/>
                <c:pt idx="0">
                  <c:v>Chem-Exp (001)</c:v>
                </c:pt>
                <c:pt idx="1">
                  <c:v>Utility-Exp (002) - Heating</c:v>
                </c:pt>
                <c:pt idx="2">
                  <c:v>Utility-Exp (002) - Electricity</c:v>
                </c:pt>
                <c:pt idx="3">
                  <c:v>Plant Maintenance (001)</c:v>
                </c:pt>
                <c:pt idx="4">
                  <c:v>Plant Outages (002)</c:v>
                </c:pt>
                <c:pt idx="5">
                  <c:v>Plant Op. Costs (003)</c:v>
                </c:pt>
                <c:pt idx="6">
                  <c:v>Plant Admin Costs (004)</c:v>
                </c:pt>
                <c:pt idx="7">
                  <c:v>Labour-Costs (001)</c:v>
                </c:pt>
              </c:strCache>
            </c:strRef>
          </c:cat>
          <c:val>
            <c:numRef>
              <c:f>'Expenses Analysis'!$R$25:$R$32</c:f>
              <c:numCache>
                <c:formatCode>"$"#,##0.00;[Red]\-"$"#,##0.00</c:formatCode>
                <c:ptCount val="8"/>
                <c:pt idx="0">
                  <c:v>46326012.775156811</c:v>
                </c:pt>
                <c:pt idx="1">
                  <c:v>23163006.387578405</c:v>
                </c:pt>
                <c:pt idx="2">
                  <c:v>19302505.322982002</c:v>
                </c:pt>
                <c:pt idx="3">
                  <c:v>18221565.024895009</c:v>
                </c:pt>
                <c:pt idx="4">
                  <c:v>11461092.4195712</c:v>
                </c:pt>
                <c:pt idx="5">
                  <c:v>12135274.3266048</c:v>
                </c:pt>
                <c:pt idx="6">
                  <c:v>6573273.5935776001</c:v>
                </c:pt>
                <c:pt idx="7">
                  <c:v>42136369.189600006</c:v>
                </c:pt>
              </c:numCache>
            </c:numRef>
          </c:val>
          <c:extLst>
            <c:ext xmlns:c16="http://schemas.microsoft.com/office/drawing/2014/chart" uri="{C3380CC4-5D6E-409C-BE32-E72D297353CC}">
              <c16:uniqueId val="{00000000-A7D1-7744-8501-616C16073430}"/>
            </c:ext>
          </c:extLst>
        </c:ser>
        <c:dLbls>
          <c:showLegendKey val="0"/>
          <c:showVal val="0"/>
          <c:showCatName val="0"/>
          <c:showSerName val="0"/>
          <c:showPercent val="0"/>
          <c:showBubbleSize val="0"/>
        </c:dLbls>
        <c:gapWidth val="50"/>
        <c:overlap val="-5"/>
        <c:axId val="769698624"/>
        <c:axId val="769911328"/>
      </c:barChart>
      <c:catAx>
        <c:axId val="769698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769911328"/>
        <c:crosses val="autoZero"/>
        <c:auto val="1"/>
        <c:lblAlgn val="ctr"/>
        <c:lblOffset val="100"/>
        <c:noMultiLvlLbl val="0"/>
      </c:catAx>
      <c:valAx>
        <c:axId val="769911328"/>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96986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Jutik Expenses (July 13th-Jun 14th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0B050"/>
            </a:solidFill>
            <a:ln>
              <a:solidFill>
                <a:srgbClr val="FFC000"/>
              </a:solidFill>
            </a:ln>
            <a:effectLst>
              <a:innerShdw blurRad="114300">
                <a:prstClr val="black"/>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'Expenses Analysis'!$D$35:$D$42</c:f>
              <c:strCache>
                <c:ptCount val="8"/>
                <c:pt idx="0">
                  <c:v>Chem-Exp (001)</c:v>
                </c:pt>
                <c:pt idx="1">
                  <c:v>Utility-Exp (002) - Heating</c:v>
                </c:pt>
                <c:pt idx="2">
                  <c:v>Utility-Exp (002) - Electricity</c:v>
                </c:pt>
                <c:pt idx="3">
                  <c:v>Plant Maintenance (001)</c:v>
                </c:pt>
                <c:pt idx="4">
                  <c:v>Plant Outages (002)</c:v>
                </c:pt>
                <c:pt idx="5">
                  <c:v>Plant Op. Costs (003)</c:v>
                </c:pt>
                <c:pt idx="6">
                  <c:v>Plant Admin Costs (004)</c:v>
                </c:pt>
                <c:pt idx="7">
                  <c:v>Labour-Costs (001)</c:v>
                </c:pt>
              </c:strCache>
            </c:strRef>
          </c:cat>
          <c:val>
            <c:numRef>
              <c:f>'Expenses Analysis'!$R$35:$R$42</c:f>
              <c:numCache>
                <c:formatCode>"$"#,##0.00;[Red]\-"$"#,##0.00</c:formatCode>
                <c:ptCount val="8"/>
                <c:pt idx="0">
                  <c:v>21961819.498855624</c:v>
                </c:pt>
                <c:pt idx="1">
                  <c:v>10834063.805491872</c:v>
                </c:pt>
                <c:pt idx="2">
                  <c:v>10031540.560640626</c:v>
                </c:pt>
                <c:pt idx="3">
                  <c:v>8667251.0443934985</c:v>
                </c:pt>
                <c:pt idx="4">
                  <c:v>2219902.8413250004</c:v>
                </c:pt>
                <c:pt idx="5">
                  <c:v>5505359.0464859996</c:v>
                </c:pt>
                <c:pt idx="6">
                  <c:v>1864718.386713</c:v>
                </c:pt>
                <c:pt idx="7">
                  <c:v>29638834.095899999</c:v>
                </c:pt>
              </c:numCache>
            </c:numRef>
          </c:val>
          <c:extLst>
            <c:ext xmlns:c16="http://schemas.microsoft.com/office/drawing/2014/chart" uri="{C3380CC4-5D6E-409C-BE32-E72D297353CC}">
              <c16:uniqueId val="{00000000-44DE-DF49-A50C-F69E38E8FFC6}"/>
            </c:ext>
          </c:extLst>
        </c:ser>
        <c:dLbls>
          <c:showLegendKey val="0"/>
          <c:showVal val="0"/>
          <c:showCatName val="0"/>
          <c:showSerName val="0"/>
          <c:showPercent val="0"/>
          <c:showBubbleSize val="0"/>
        </c:dLbls>
        <c:gapWidth val="50"/>
        <c:overlap val="-5"/>
        <c:axId val="769698624"/>
        <c:axId val="769911328"/>
      </c:barChart>
      <c:catAx>
        <c:axId val="769698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769911328"/>
        <c:crosses val="autoZero"/>
        <c:auto val="1"/>
        <c:lblAlgn val="ctr"/>
        <c:lblOffset val="100"/>
        <c:noMultiLvlLbl val="0"/>
      </c:catAx>
      <c:valAx>
        <c:axId val="769911328"/>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96986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Kootha Chemical Exp vs Water Production Actuals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numRef>
              <c:f>'Expenses Analysis'!$F$132:$Q$132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'Expenses Analysis'!$F$134:$Q$134</c:f>
              <c:numCache>
                <c:formatCode>"$"#,##0.00;[Red]\-"$"#,##0.00</c:formatCode>
                <c:ptCount val="12"/>
                <c:pt idx="0">
                  <c:v>593751.84077137313</c:v>
                </c:pt>
                <c:pt idx="1">
                  <c:v>820393.03401412489</c:v>
                </c:pt>
                <c:pt idx="2">
                  <c:v>642291.58212862327</c:v>
                </c:pt>
                <c:pt idx="3">
                  <c:v>609639.97288837493</c:v>
                </c:pt>
                <c:pt idx="4">
                  <c:v>626073.16897124995</c:v>
                </c:pt>
                <c:pt idx="5">
                  <c:v>602153.37789750006</c:v>
                </c:pt>
                <c:pt idx="6">
                  <c:v>1146143.9846999997</c:v>
                </c:pt>
                <c:pt idx="7">
                  <c:v>964931.83751249989</c:v>
                </c:pt>
                <c:pt idx="8">
                  <c:v>962733.95790000004</c:v>
                </c:pt>
                <c:pt idx="9">
                  <c:v>964825.21760624985</c:v>
                </c:pt>
                <c:pt idx="10">
                  <c:v>1024534.78359375</c:v>
                </c:pt>
                <c:pt idx="11">
                  <c:v>1168045.22566875</c:v>
                </c:pt>
              </c:numCache>
            </c:numRef>
          </c:val>
          <c:extLst>
            <c:ext xmlns:c16="http://schemas.microsoft.com/office/drawing/2014/chart" uri="{C3380CC4-5D6E-409C-BE32-E72D297353CC}">
              <c16:uniqueId val="{00000000-9E82-A44E-B580-23498A20BFDC}"/>
            </c:ext>
          </c:extLst>
        </c:ser>
        <c:dLbls>
          <c:showLegendKey val="0"/>
          <c:showVal val="0"/>
          <c:showCatName val="0"/>
          <c:showSerName val="0"/>
          <c:showPercent val="0"/>
          <c:showBubbleSize val="0"/>
        </c:dLbls>
        <c:gapWidth val="219"/>
        <c:axId val="2100123487"/>
        <c:axId val="2100121311"/>
      </c:barChart>
      <c:lineChart>
        <c:grouping val="standard"/>
        <c:varyColors val="0"/>
        <c:ser>
          <c:idx val="1"/>
          <c:order val="1"/>
          <c:spPr>
            <a:ln w="28575" cap="rnd">
              <a:solidFill>
                <a:schemeClr val="accent2"/>
              </a:solidFill>
              <a:round/>
            </a:ln>
            <a:effectLst/>
          </c:spPr>
          <c:marker>
            <c:symbol val="none"/>
          </c:marker>
          <c:cat>
            <c:numRef>
              <c:f>'Expenses Analysis'!$F$132:$Q$132</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'Expenses Analysis'!$F$135:$Q$135</c:f>
              <c:numCache>
                <c:formatCode>0.00</c:formatCode>
                <c:ptCount val="12"/>
                <c:pt idx="0">
                  <c:v>181.933291</c:v>
                </c:pt>
                <c:pt idx="1">
                  <c:v>187.44394299999999</c:v>
                </c:pt>
                <c:pt idx="2">
                  <c:v>184.77365699999999</c:v>
                </c:pt>
                <c:pt idx="3">
                  <c:v>191.54109299999999</c:v>
                </c:pt>
                <c:pt idx="4">
                  <c:v>98.096062000000003</c:v>
                </c:pt>
                <c:pt idx="5">
                  <c:v>185.30685299999999</c:v>
                </c:pt>
                <c:pt idx="6">
                  <c:v>186.90143900000001</c:v>
                </c:pt>
                <c:pt idx="7">
                  <c:v>158.58676500000001</c:v>
                </c:pt>
                <c:pt idx="8">
                  <c:v>191.40367599999999</c:v>
                </c:pt>
                <c:pt idx="9">
                  <c:v>171.057864</c:v>
                </c:pt>
                <c:pt idx="10">
                  <c:v>169.28699900000001</c:v>
                </c:pt>
                <c:pt idx="11">
                  <c:v>142.50871699999999</c:v>
                </c:pt>
              </c:numCache>
            </c:numRef>
          </c:val>
          <c:smooth val="0"/>
          <c:extLst>
            <c:ext xmlns:c16="http://schemas.microsoft.com/office/drawing/2014/chart" uri="{C3380CC4-5D6E-409C-BE32-E72D297353CC}">
              <c16:uniqueId val="{00000001-9E82-A44E-B580-23498A20BFDC}"/>
            </c:ext>
          </c:extLst>
        </c:ser>
        <c:dLbls>
          <c:showLegendKey val="0"/>
          <c:showVal val="0"/>
          <c:showCatName val="0"/>
          <c:showSerName val="0"/>
          <c:showPercent val="0"/>
          <c:showBubbleSize val="0"/>
        </c:dLbls>
        <c:marker val="1"/>
        <c:smooth val="0"/>
        <c:axId val="2007407919"/>
        <c:axId val="2007275135"/>
      </c:lineChart>
      <c:dateAx>
        <c:axId val="2100123487"/>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121311"/>
        <c:crosses val="autoZero"/>
        <c:auto val="1"/>
        <c:lblOffset val="100"/>
        <c:baseTimeUnit val="months"/>
      </c:dateAx>
      <c:valAx>
        <c:axId val="2100121311"/>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123487"/>
        <c:crosses val="autoZero"/>
        <c:crossBetween val="between"/>
      </c:valAx>
      <c:valAx>
        <c:axId val="2007275135"/>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7407919"/>
        <c:crosses val="max"/>
        <c:crossBetween val="between"/>
      </c:valAx>
      <c:dateAx>
        <c:axId val="2007407919"/>
        <c:scaling>
          <c:orientation val="minMax"/>
        </c:scaling>
        <c:delete val="1"/>
        <c:axPos val="b"/>
        <c:numFmt formatCode="mmm\-yy" sourceLinked="1"/>
        <c:majorTickMark val="out"/>
        <c:minorTickMark val="none"/>
        <c:tickLblPos val="nextTo"/>
        <c:crossAx val="2007275135"/>
        <c:crosses val="autoZero"/>
        <c:auto val="1"/>
        <c:lblOffset val="100"/>
        <c:baseTimeUnit val="months"/>
      </c:date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Surjek Chemical Exp vs Water Production Actuals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val>
            <c:numRef>
              <c:f>'Expenses Analysis'!$F$136:$Q$136</c:f>
              <c:numCache>
                <c:formatCode>"$"#,##0.00;[Red]\-"$"#,##0.00</c:formatCode>
                <c:ptCount val="12"/>
                <c:pt idx="0">
                  <c:v>2533034.5131168002</c:v>
                </c:pt>
                <c:pt idx="1">
                  <c:v>3051574.1625600001</c:v>
                </c:pt>
                <c:pt idx="2">
                  <c:v>3084202.7580672004</c:v>
                </c:pt>
                <c:pt idx="3">
                  <c:v>4135202.765971201</c:v>
                </c:pt>
                <c:pt idx="4">
                  <c:v>4473275.8948415993</c:v>
                </c:pt>
                <c:pt idx="5">
                  <c:v>3464957.9260800011</c:v>
                </c:pt>
                <c:pt idx="6">
                  <c:v>4049642.8266000003</c:v>
                </c:pt>
                <c:pt idx="7">
                  <c:v>4767948.2214000002</c:v>
                </c:pt>
                <c:pt idx="8">
                  <c:v>4346722.8083999995</c:v>
                </c:pt>
                <c:pt idx="9">
                  <c:v>4671541.1274000006</c:v>
                </c:pt>
                <c:pt idx="10">
                  <c:v>5478104.6040000012</c:v>
                </c:pt>
                <c:pt idx="11">
                  <c:v>2269805.1667200001</c:v>
                </c:pt>
              </c:numCache>
            </c:numRef>
          </c:val>
          <c:extLst>
            <c:ext xmlns:c16="http://schemas.microsoft.com/office/drawing/2014/chart" uri="{C3380CC4-5D6E-409C-BE32-E72D297353CC}">
              <c16:uniqueId val="{00000000-CAD6-BD4F-8FE4-56DC34929383}"/>
            </c:ext>
          </c:extLst>
        </c:ser>
        <c:dLbls>
          <c:showLegendKey val="0"/>
          <c:showVal val="0"/>
          <c:showCatName val="0"/>
          <c:showSerName val="0"/>
          <c:showPercent val="0"/>
          <c:showBubbleSize val="0"/>
        </c:dLbls>
        <c:gapWidth val="219"/>
        <c:axId val="2100123487"/>
        <c:axId val="2100121311"/>
      </c:barChart>
      <c:lineChart>
        <c:grouping val="standard"/>
        <c:varyColors val="0"/>
        <c:ser>
          <c:idx val="1"/>
          <c:order val="1"/>
          <c:spPr>
            <a:ln w="28575" cap="rnd">
              <a:solidFill>
                <a:schemeClr val="accent2"/>
              </a:solidFill>
              <a:round/>
            </a:ln>
            <a:effectLst/>
          </c:spPr>
          <c:marker>
            <c:symbol val="none"/>
          </c:marker>
          <c:val>
            <c:numRef>
              <c:f>'Expenses Analysis'!$F$137:$Q$137</c:f>
              <c:numCache>
                <c:formatCode>0.00</c:formatCode>
                <c:ptCount val="12"/>
                <c:pt idx="0">
                  <c:v>214.968999</c:v>
                </c:pt>
                <c:pt idx="1">
                  <c:v>228.199051</c:v>
                </c:pt>
                <c:pt idx="2">
                  <c:v>216.53646700000002</c:v>
                </c:pt>
                <c:pt idx="3">
                  <c:v>236.760276</c:v>
                </c:pt>
                <c:pt idx="4">
                  <c:v>232.052864</c:v>
                </c:pt>
                <c:pt idx="5">
                  <c:v>240.21016</c:v>
                </c:pt>
                <c:pt idx="6">
                  <c:v>288.160549</c:v>
                </c:pt>
                <c:pt idx="7">
                  <c:v>306.884524</c:v>
                </c:pt>
                <c:pt idx="8">
                  <c:v>367.65100600000005</c:v>
                </c:pt>
                <c:pt idx="9">
                  <c:v>351.99016599999999</c:v>
                </c:pt>
                <c:pt idx="10">
                  <c:v>362.822</c:v>
                </c:pt>
                <c:pt idx="11">
                  <c:v>260.31229999999999</c:v>
                </c:pt>
              </c:numCache>
            </c:numRef>
          </c:val>
          <c:smooth val="0"/>
          <c:extLst>
            <c:ext xmlns:c16="http://schemas.microsoft.com/office/drawing/2014/chart" uri="{C3380CC4-5D6E-409C-BE32-E72D297353CC}">
              <c16:uniqueId val="{00000001-CAD6-BD4F-8FE4-56DC34929383}"/>
            </c:ext>
          </c:extLst>
        </c:ser>
        <c:dLbls>
          <c:showLegendKey val="0"/>
          <c:showVal val="0"/>
          <c:showCatName val="0"/>
          <c:showSerName val="0"/>
          <c:showPercent val="0"/>
          <c:showBubbleSize val="0"/>
        </c:dLbls>
        <c:marker val="1"/>
        <c:smooth val="0"/>
        <c:axId val="2007407919"/>
        <c:axId val="2007275135"/>
      </c:lineChart>
      <c:catAx>
        <c:axId val="2100123487"/>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121311"/>
        <c:crosses val="autoZero"/>
        <c:auto val="1"/>
        <c:lblAlgn val="ctr"/>
        <c:lblOffset val="100"/>
        <c:noMultiLvlLbl val="0"/>
      </c:catAx>
      <c:valAx>
        <c:axId val="2100121311"/>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123487"/>
        <c:crosses val="autoZero"/>
        <c:crossBetween val="between"/>
      </c:valAx>
      <c:valAx>
        <c:axId val="2007275135"/>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7407919"/>
        <c:crosses val="max"/>
        <c:crossBetween val="between"/>
      </c:valAx>
      <c:catAx>
        <c:axId val="2007407919"/>
        <c:scaling>
          <c:orientation val="minMax"/>
        </c:scaling>
        <c:delete val="1"/>
        <c:axPos val="b"/>
        <c:numFmt formatCode="mmm\-yy" sourceLinked="1"/>
        <c:majorTickMark val="out"/>
        <c:minorTickMark val="none"/>
        <c:tickLblPos val="nextTo"/>
        <c:crossAx val="2007275135"/>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Jutik Chemical Exp vs Water Production Actuals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val>
            <c:numRef>
              <c:f>'Expenses Analysis'!$F$138:$Q$138</c:f>
              <c:numCache>
                <c:formatCode>"$"#,##0.00;[Red]\-"$"#,##0.00</c:formatCode>
                <c:ptCount val="12"/>
                <c:pt idx="0">
                  <c:v>1625596.3356633</c:v>
                </c:pt>
                <c:pt idx="1">
                  <c:v>1295067.8472731998</c:v>
                </c:pt>
                <c:pt idx="2">
                  <c:v>1750624.8818057997</c:v>
                </c:pt>
                <c:pt idx="3">
                  <c:v>1472529.3869285996</c:v>
                </c:pt>
                <c:pt idx="4">
                  <c:v>1252200.4923928501</c:v>
                </c:pt>
                <c:pt idx="5">
                  <c:v>1406782.6738875001</c:v>
                </c:pt>
                <c:pt idx="6">
                  <c:v>1877449.5046125001</c:v>
                </c:pt>
                <c:pt idx="7">
                  <c:v>1912219.1750437501</c:v>
                </c:pt>
                <c:pt idx="8">
                  <c:v>2266625.1980531253</c:v>
                </c:pt>
                <c:pt idx="9">
                  <c:v>2234200.5744250002</c:v>
                </c:pt>
                <c:pt idx="10">
                  <c:v>2593715.6428375002</c:v>
                </c:pt>
                <c:pt idx="11">
                  <c:v>2274807.7859325004</c:v>
                </c:pt>
              </c:numCache>
            </c:numRef>
          </c:val>
          <c:extLst>
            <c:ext xmlns:c16="http://schemas.microsoft.com/office/drawing/2014/chart" uri="{C3380CC4-5D6E-409C-BE32-E72D297353CC}">
              <c16:uniqueId val="{00000000-122E-FB4D-A694-D5A046C4729B}"/>
            </c:ext>
          </c:extLst>
        </c:ser>
        <c:dLbls>
          <c:showLegendKey val="0"/>
          <c:showVal val="0"/>
          <c:showCatName val="0"/>
          <c:showSerName val="0"/>
          <c:showPercent val="0"/>
          <c:showBubbleSize val="0"/>
        </c:dLbls>
        <c:gapWidth val="219"/>
        <c:axId val="2100123487"/>
        <c:axId val="2100121311"/>
      </c:barChart>
      <c:lineChart>
        <c:grouping val="standard"/>
        <c:varyColors val="0"/>
        <c:ser>
          <c:idx val="1"/>
          <c:order val="1"/>
          <c:spPr>
            <a:ln w="28575" cap="rnd">
              <a:solidFill>
                <a:schemeClr val="accent2"/>
              </a:solidFill>
              <a:round/>
            </a:ln>
            <a:effectLst/>
          </c:spPr>
          <c:marker>
            <c:symbol val="none"/>
          </c:marker>
          <c:val>
            <c:numRef>
              <c:f>'Expenses Analysis'!$F$139:$Q$139</c:f>
              <c:numCache>
                <c:formatCode>0.00</c:formatCode>
                <c:ptCount val="12"/>
                <c:pt idx="0">
                  <c:v>250.24199099999998</c:v>
                </c:pt>
                <c:pt idx="1">
                  <c:v>206.740703</c:v>
                </c:pt>
                <c:pt idx="2">
                  <c:v>201.23546099999996</c:v>
                </c:pt>
                <c:pt idx="3">
                  <c:v>174.36956599999999</c:v>
                </c:pt>
                <c:pt idx="4">
                  <c:v>204.09105</c:v>
                </c:pt>
                <c:pt idx="5">
                  <c:v>146.35666599999999</c:v>
                </c:pt>
                <c:pt idx="6">
                  <c:v>204.20249700000002</c:v>
                </c:pt>
                <c:pt idx="7">
                  <c:v>217.43019900000002</c:v>
                </c:pt>
                <c:pt idx="8">
                  <c:v>230.98220000000001</c:v>
                </c:pt>
                <c:pt idx="9">
                  <c:v>236.441136</c:v>
                </c:pt>
                <c:pt idx="10">
                  <c:v>241.40736899999999</c:v>
                </c:pt>
                <c:pt idx="11">
                  <c:v>220.380334</c:v>
                </c:pt>
              </c:numCache>
            </c:numRef>
          </c:val>
          <c:smooth val="0"/>
          <c:extLst>
            <c:ext xmlns:c16="http://schemas.microsoft.com/office/drawing/2014/chart" uri="{C3380CC4-5D6E-409C-BE32-E72D297353CC}">
              <c16:uniqueId val="{00000001-122E-FB4D-A694-D5A046C4729B}"/>
            </c:ext>
          </c:extLst>
        </c:ser>
        <c:dLbls>
          <c:showLegendKey val="0"/>
          <c:showVal val="0"/>
          <c:showCatName val="0"/>
          <c:showSerName val="0"/>
          <c:showPercent val="0"/>
          <c:showBubbleSize val="0"/>
        </c:dLbls>
        <c:marker val="1"/>
        <c:smooth val="0"/>
        <c:axId val="2007407919"/>
        <c:axId val="2007275135"/>
      </c:lineChart>
      <c:catAx>
        <c:axId val="2100123487"/>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121311"/>
        <c:crosses val="autoZero"/>
        <c:auto val="1"/>
        <c:lblAlgn val="ctr"/>
        <c:lblOffset val="100"/>
        <c:noMultiLvlLbl val="0"/>
      </c:catAx>
      <c:valAx>
        <c:axId val="2100121311"/>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0123487"/>
        <c:crosses val="autoZero"/>
        <c:crossBetween val="between"/>
      </c:valAx>
      <c:valAx>
        <c:axId val="2007275135"/>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7407919"/>
        <c:crosses val="max"/>
        <c:crossBetween val="between"/>
      </c:valAx>
      <c:catAx>
        <c:axId val="2007407919"/>
        <c:scaling>
          <c:orientation val="minMax"/>
        </c:scaling>
        <c:delete val="1"/>
        <c:axPos val="b"/>
        <c:numFmt formatCode="mmm\-yy" sourceLinked="1"/>
        <c:majorTickMark val="out"/>
        <c:minorTickMark val="none"/>
        <c:tickLblPos val="nextTo"/>
        <c:crossAx val="2007275135"/>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EBIT</a:t>
            </a:r>
            <a:r>
              <a:rPr lang="en-US" baseline="0"/>
              <a:t> (Jul 13th-Jun 14th)</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'Profitability EBIT Analysis'!$A$24:$A$26</c:f>
              <c:strCache>
                <c:ptCount val="3"/>
                <c:pt idx="0">
                  <c:v>Kootha</c:v>
                </c:pt>
                <c:pt idx="1">
                  <c:v>Surjek</c:v>
                </c:pt>
                <c:pt idx="2">
                  <c:v>Jutik</c:v>
                </c:pt>
              </c:strCache>
            </c:strRef>
          </c:cat>
          <c:val>
            <c:numRef>
              <c:f>'Profitability EBIT Analysis'!$Q$24:$Q$26</c:f>
              <c:numCache>
                <c:formatCode>"$"#,##0.00;[Red]\-"$"#,##0.00</c:formatCode>
                <c:ptCount val="3"/>
                <c:pt idx="0">
                  <c:v>19721133.205825485</c:v>
                </c:pt>
                <c:pt idx="1">
                  <c:v>22936250.12903415</c:v>
                </c:pt>
                <c:pt idx="2">
                  <c:v>72941736.097194374</c:v>
                </c:pt>
              </c:numCache>
            </c:numRef>
          </c:val>
          <c:extLst>
            <c:ext xmlns:c16="http://schemas.microsoft.com/office/drawing/2014/chart" uri="{C3380CC4-5D6E-409C-BE32-E72D297353CC}">
              <c16:uniqueId val="{00000000-135F-AB44-ABD3-A7B83ACA74A5}"/>
            </c:ext>
          </c:extLst>
        </c:ser>
        <c:dLbls>
          <c:showLegendKey val="0"/>
          <c:showVal val="0"/>
          <c:showCatName val="0"/>
          <c:showSerName val="0"/>
          <c:showPercent val="0"/>
          <c:showBubbleSize val="0"/>
        </c:dLbls>
        <c:gapWidth val="219"/>
        <c:overlap val="-27"/>
        <c:axId val="2108836495"/>
        <c:axId val="2108838207"/>
      </c:barChart>
      <c:catAx>
        <c:axId val="2108836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8838207"/>
        <c:crosses val="autoZero"/>
        <c:auto val="1"/>
        <c:lblAlgn val="ctr"/>
        <c:lblOffset val="100"/>
        <c:noMultiLvlLbl val="0"/>
      </c:catAx>
      <c:valAx>
        <c:axId val="2108838207"/>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88364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Montly</a:t>
            </a:r>
            <a:r>
              <a:rPr lang="en-US" baseline="0"/>
              <a:t> EBIT Per Desalination Plant (Jul 13th - Jun 14th)</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'Profitability EBIT Analysis'!$A$24</c:f>
              <c:strCache>
                <c:ptCount val="1"/>
                <c:pt idx="0">
                  <c:v>Kootha</c:v>
                </c:pt>
              </c:strCache>
            </c:strRef>
          </c:tx>
          <c:spPr>
            <a:solidFill>
              <a:schemeClr val="accent2"/>
            </a:solidFill>
            <a:ln>
              <a:noFill/>
            </a:ln>
            <a:effectLst/>
          </c:spPr>
          <c:invertIfNegative val="0"/>
          <c:cat>
            <c:numRef>
              <c:f>'Profitability EBIT Analysis'!$E$14:$P$14</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'Profitability EBIT Analysis'!$E$24:$P$24</c:f>
              <c:numCache>
                <c:formatCode>"$"#,##0.00;[Red]\-"$"#,##0.00</c:formatCode>
                <c:ptCount val="12"/>
                <c:pt idx="0">
                  <c:v>2456292.3275362095</c:v>
                </c:pt>
                <c:pt idx="1">
                  <c:v>918310.88787430618</c:v>
                </c:pt>
                <c:pt idx="2">
                  <c:v>1519674.7670411356</c:v>
                </c:pt>
                <c:pt idx="3">
                  <c:v>1671126.6978958244</c:v>
                </c:pt>
                <c:pt idx="4">
                  <c:v>1867603.7439484252</c:v>
                </c:pt>
                <c:pt idx="5">
                  <c:v>1873668.8420387572</c:v>
                </c:pt>
                <c:pt idx="6">
                  <c:v>2572779.3705296321</c:v>
                </c:pt>
                <c:pt idx="7">
                  <c:v>2504531.9499788238</c:v>
                </c:pt>
                <c:pt idx="8">
                  <c:v>2888063.9198026378</c:v>
                </c:pt>
                <c:pt idx="9">
                  <c:v>912936.10019635595</c:v>
                </c:pt>
                <c:pt idx="10">
                  <c:v>702117.95209483802</c:v>
                </c:pt>
                <c:pt idx="11">
                  <c:v>-165973.35311146174</c:v>
                </c:pt>
              </c:numCache>
            </c:numRef>
          </c:val>
          <c:extLst>
            <c:ext xmlns:c16="http://schemas.microsoft.com/office/drawing/2014/chart" uri="{C3380CC4-5D6E-409C-BE32-E72D297353CC}">
              <c16:uniqueId val="{00000000-C954-B042-8365-7209E90A5735}"/>
            </c:ext>
          </c:extLst>
        </c:ser>
        <c:ser>
          <c:idx val="1"/>
          <c:order val="1"/>
          <c:tx>
            <c:strRef>
              <c:f>'Profitability EBIT Analysis'!$A$25</c:f>
              <c:strCache>
                <c:ptCount val="1"/>
                <c:pt idx="0">
                  <c:v>Surjek</c:v>
                </c:pt>
              </c:strCache>
            </c:strRef>
          </c:tx>
          <c:spPr>
            <a:solidFill>
              <a:schemeClr val="accent4"/>
            </a:solidFill>
            <a:ln>
              <a:noFill/>
            </a:ln>
            <a:effectLst/>
          </c:spPr>
          <c:invertIfNegative val="0"/>
          <c:cat>
            <c:numRef>
              <c:f>'Profitability EBIT Analysis'!$E$14:$P$14</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'Profitability EBIT Analysis'!$E$25:$P$25</c:f>
              <c:numCache>
                <c:formatCode>"$"#,##0.00;[Red]\-"$"#,##0.00</c:formatCode>
                <c:ptCount val="12"/>
                <c:pt idx="0">
                  <c:v>5988499.8026137892</c:v>
                </c:pt>
                <c:pt idx="1">
                  <c:v>943434.10160639696</c:v>
                </c:pt>
                <c:pt idx="2">
                  <c:v>2328952.4387191646</c:v>
                </c:pt>
                <c:pt idx="3">
                  <c:v>-3360291.110331079</c:v>
                </c:pt>
                <c:pt idx="4">
                  <c:v>-6192464.2872408964</c:v>
                </c:pt>
                <c:pt idx="5">
                  <c:v>2604016.9804607946</c:v>
                </c:pt>
                <c:pt idx="6">
                  <c:v>8366591.2969236001</c:v>
                </c:pt>
                <c:pt idx="7">
                  <c:v>2112457.573284395</c:v>
                </c:pt>
                <c:pt idx="8">
                  <c:v>4631100.2007863969</c:v>
                </c:pt>
                <c:pt idx="9">
                  <c:v>2132931.991960397</c:v>
                </c:pt>
                <c:pt idx="10">
                  <c:v>-4294074.8102160059</c:v>
                </c:pt>
                <c:pt idx="11">
                  <c:v>7675095.9504671991</c:v>
                </c:pt>
              </c:numCache>
            </c:numRef>
          </c:val>
          <c:extLst>
            <c:ext xmlns:c16="http://schemas.microsoft.com/office/drawing/2014/chart" uri="{C3380CC4-5D6E-409C-BE32-E72D297353CC}">
              <c16:uniqueId val="{00000001-C954-B042-8365-7209E90A5735}"/>
            </c:ext>
          </c:extLst>
        </c:ser>
        <c:ser>
          <c:idx val="2"/>
          <c:order val="2"/>
          <c:tx>
            <c:strRef>
              <c:f>'Profitability EBIT Analysis'!$A$26</c:f>
              <c:strCache>
                <c:ptCount val="1"/>
                <c:pt idx="0">
                  <c:v>Jutik</c:v>
                </c:pt>
              </c:strCache>
            </c:strRef>
          </c:tx>
          <c:spPr>
            <a:solidFill>
              <a:schemeClr val="accent6"/>
            </a:solidFill>
            <a:ln>
              <a:noFill/>
            </a:ln>
            <a:effectLst/>
          </c:spPr>
          <c:invertIfNegative val="0"/>
          <c:cat>
            <c:numRef>
              <c:f>'Profitability EBIT Analysis'!$E$14:$P$14</c:f>
              <c:numCache>
                <c:formatCode>mmm\-yy</c:formatCode>
                <c:ptCount val="12"/>
                <c:pt idx="0">
                  <c:v>41456</c:v>
                </c:pt>
                <c:pt idx="1">
                  <c:v>41487</c:v>
                </c:pt>
                <c:pt idx="2">
                  <c:v>41518</c:v>
                </c:pt>
                <c:pt idx="3">
                  <c:v>41548</c:v>
                </c:pt>
                <c:pt idx="4">
                  <c:v>41579</c:v>
                </c:pt>
                <c:pt idx="5">
                  <c:v>41609</c:v>
                </c:pt>
                <c:pt idx="6">
                  <c:v>41640</c:v>
                </c:pt>
                <c:pt idx="7">
                  <c:v>41671</c:v>
                </c:pt>
                <c:pt idx="8">
                  <c:v>41699</c:v>
                </c:pt>
                <c:pt idx="9">
                  <c:v>41730</c:v>
                </c:pt>
                <c:pt idx="10">
                  <c:v>41760</c:v>
                </c:pt>
                <c:pt idx="11">
                  <c:v>41791</c:v>
                </c:pt>
              </c:numCache>
            </c:numRef>
          </c:cat>
          <c:val>
            <c:numRef>
              <c:f>'Profitability EBIT Analysis'!$E$26:$P$26</c:f>
              <c:numCache>
                <c:formatCode>"$"#,##0.00;[Red]\-"$"#,##0.00</c:formatCode>
                <c:ptCount val="12"/>
                <c:pt idx="0">
                  <c:v>4547848.2127075791</c:v>
                </c:pt>
                <c:pt idx="1">
                  <c:v>6542227.6080423184</c:v>
                </c:pt>
                <c:pt idx="2">
                  <c:v>4438176.8988530822</c:v>
                </c:pt>
                <c:pt idx="3">
                  <c:v>4415960.6020003622</c:v>
                </c:pt>
                <c:pt idx="4">
                  <c:v>5589126.5717249103</c:v>
                </c:pt>
                <c:pt idx="5">
                  <c:v>5264580.3424524991</c:v>
                </c:pt>
                <c:pt idx="6">
                  <c:v>8292411.5891714972</c:v>
                </c:pt>
                <c:pt idx="7">
                  <c:v>8295134.2778322492</c:v>
                </c:pt>
                <c:pt idx="8">
                  <c:v>5460903.0204648729</c:v>
                </c:pt>
                <c:pt idx="9">
                  <c:v>8279084.1609189995</c:v>
                </c:pt>
                <c:pt idx="10">
                  <c:v>6175874.2250345014</c:v>
                </c:pt>
                <c:pt idx="11">
                  <c:v>5640408.5879914984</c:v>
                </c:pt>
              </c:numCache>
            </c:numRef>
          </c:val>
          <c:extLst>
            <c:ext xmlns:c16="http://schemas.microsoft.com/office/drawing/2014/chart" uri="{C3380CC4-5D6E-409C-BE32-E72D297353CC}">
              <c16:uniqueId val="{00000002-C954-B042-8365-7209E90A5735}"/>
            </c:ext>
          </c:extLst>
        </c:ser>
        <c:dLbls>
          <c:showLegendKey val="0"/>
          <c:showVal val="0"/>
          <c:showCatName val="0"/>
          <c:showSerName val="0"/>
          <c:showPercent val="0"/>
          <c:showBubbleSize val="0"/>
        </c:dLbls>
        <c:gapWidth val="150"/>
        <c:overlap val="100"/>
        <c:axId val="2109044623"/>
        <c:axId val="2109046335"/>
      </c:barChart>
      <c:dateAx>
        <c:axId val="210904462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9046335"/>
        <c:crosses val="autoZero"/>
        <c:auto val="1"/>
        <c:lblOffset val="100"/>
        <c:baseTimeUnit val="months"/>
      </c:dateAx>
      <c:valAx>
        <c:axId val="2109046335"/>
        <c:scaling>
          <c:orientation val="minMax"/>
        </c:scaling>
        <c:delete val="0"/>
        <c:axPos val="l"/>
        <c:majorGridlines>
          <c:spPr>
            <a:ln w="9525" cap="flat" cmpd="sng" algn="ctr">
              <a:noFill/>
              <a:round/>
            </a:ln>
            <a:effectLst/>
          </c:spPr>
        </c:majorGridlines>
        <c:numFmt formatCode="&quot;$&quot;#,##0.00;[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904462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2C4C2-2D36-4DCE-92DC-7F8FD612207D}" type="datetimeFigureOut">
              <a:rPr lang="en-AU" smtClean="0"/>
              <a:t>27/8/2025</a:t>
            </a:fld>
            <a:endParaRPr lang="en-AU"/>
          </a:p>
        </p:txBody>
      </p:sp>
      <p:sp>
        <p:nvSpPr>
          <p:cNvPr id="4" name="Slide Image Placeholder 3"/>
          <p:cNvSpPr>
            <a:spLocks noGrp="1" noRot="1" noChangeAspect="1"/>
          </p:cNvSpPr>
          <p:nvPr>
            <p:ph type="sldImg" idx="2"/>
          </p:nvPr>
        </p:nvSpPr>
        <p:spPr>
          <a:xfrm>
            <a:off x="1373188" y="1143000"/>
            <a:ext cx="41116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352E8-A3D8-466D-9C64-BEFAB9E6BDD7}" type="slidenum">
              <a:rPr lang="en-AU" smtClean="0"/>
              <a:t>‹#›</a:t>
            </a:fld>
            <a:endParaRPr lang="en-AU"/>
          </a:p>
        </p:txBody>
      </p:sp>
    </p:spTree>
    <p:extLst>
      <p:ext uri="{BB962C8B-B14F-4D97-AF65-F5344CB8AC3E}">
        <p14:creationId xmlns:p14="http://schemas.microsoft.com/office/powerpoint/2010/main" val="2534567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2A352E8-A3D8-466D-9C64-BEFAB9E6BDD7}" type="slidenum">
              <a:rPr lang="en-AU" smtClean="0"/>
              <a:t>1</a:t>
            </a:fld>
            <a:endParaRPr lang="en-AU"/>
          </a:p>
        </p:txBody>
      </p:sp>
    </p:spTree>
    <p:extLst>
      <p:ext uri="{BB962C8B-B14F-4D97-AF65-F5344CB8AC3E}">
        <p14:creationId xmlns:p14="http://schemas.microsoft.com/office/powerpoint/2010/main" val="23519171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2419640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Working Draft Text" hidden="1"/>
          <p:cNvSpPr txBox="1">
            <a:spLocks noChangeArrowheads="1"/>
          </p:cNvSpPr>
          <p:nvPr/>
        </p:nvSpPr>
        <p:spPr bwMode="ltGray">
          <a:xfrm>
            <a:off x="4030876" y="132157"/>
            <a:ext cx="88165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1" baseline="0" noProof="0" dirty="0">
                <a:solidFill>
                  <a:schemeClr val="tx1"/>
                </a:solidFill>
                <a:latin typeface="+mn-lt"/>
                <a:ea typeface="Arial Unicode MS" pitchFamily="34" charset="-128"/>
                <a:cs typeface="Arial Unicode MS" pitchFamily="34" charset="-128"/>
              </a:rPr>
              <a:t>WORKING DRAFT</a:t>
            </a:r>
          </a:p>
        </p:txBody>
      </p:sp>
      <p:sp>
        <p:nvSpPr>
          <p:cNvPr id="7" name="Printed" hidden="1"/>
          <p:cNvSpPr txBox="1">
            <a:spLocks noChangeArrowheads="1"/>
          </p:cNvSpPr>
          <p:nvPr/>
        </p:nvSpPr>
        <p:spPr bwMode="ltGray">
          <a:xfrm>
            <a:off x="4030876" y="436846"/>
            <a:ext cx="218970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aseline="0" noProof="0">
                <a:solidFill>
                  <a:schemeClr val="tx1"/>
                </a:solidFill>
                <a:latin typeface="+mn-lt"/>
                <a:ea typeface="Arial Unicode MS" pitchFamily="34" charset="-128"/>
                <a:cs typeface="Arial Unicode MS" pitchFamily="34" charset="-128"/>
              </a:rPr>
              <a:t>Printed 2/27/2017 7:03 AM India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6" name="Working Draft" hidden="1"/>
          <p:cNvSpPr txBox="1">
            <a:spLocks noChangeArrowheads="1"/>
          </p:cNvSpPr>
          <p:nvPr/>
        </p:nvSpPr>
        <p:spPr bwMode="ltGray">
          <a:xfrm>
            <a:off x="4030876" y="277771"/>
            <a:ext cx="2922275"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800" baseline="0" noProof="0">
                <a:solidFill>
                  <a:schemeClr val="tx1"/>
                </a:solidFill>
                <a:latin typeface="+mn-lt"/>
                <a:ea typeface="Arial Unicode MS" pitchFamily="34" charset="-128"/>
                <a:cs typeface="Arial Unicode MS" pitchFamily="34" charset="-128"/>
              </a:rPr>
              <a:t>Last Modified 10/03/2017 4:54 PM W. Australia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9" name="Document type" hidden="1"/>
          <p:cNvSpPr txBox="1">
            <a:spLocks noChangeArrowheads="1"/>
          </p:cNvSpPr>
          <p:nvPr/>
        </p:nvSpPr>
        <p:spPr bwMode="ltGray">
          <a:xfrm>
            <a:off x="4030876" y="5305595"/>
            <a:ext cx="4769712"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00" baseline="0" noProof="0" dirty="0">
                <a:solidFill>
                  <a:schemeClr val="tx1"/>
                </a:solidFill>
                <a:latin typeface="+mn-lt"/>
              </a:rPr>
              <a:t>Document type | Date</a:t>
            </a:r>
          </a:p>
        </p:txBody>
      </p:sp>
      <p:sp>
        <p:nvSpPr>
          <p:cNvPr id="19" name="doc id"/>
          <p:cNvSpPr>
            <a:spLocks noChangeArrowheads="1"/>
          </p:cNvSpPr>
          <p:nvPr userDrawn="1">
            <p:custDataLst>
              <p:tags r:id="rId2"/>
            </p:custDataLst>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bg1"/>
              </a:solidFill>
              <a:latin typeface="+mn-lt"/>
              <a:ea typeface="+mn-ea"/>
            </a:endParaRPr>
          </a:p>
        </p:txBody>
      </p:sp>
      <p:sp>
        <p:nvSpPr>
          <p:cNvPr id="13314" name="Rectangle 1026"/>
          <p:cNvSpPr>
            <a:spLocks noGrp="1" noChangeArrowheads="1"/>
          </p:cNvSpPr>
          <p:nvPr>
            <p:ph type="ctrTitle"/>
          </p:nvPr>
        </p:nvSpPr>
        <p:spPr bwMode="ltGray">
          <a:xfrm>
            <a:off x="4030876" y="650494"/>
            <a:ext cx="4769711" cy="984885"/>
          </a:xfrm>
          <a:prstGeom prst="rect">
            <a:avLst/>
          </a:prstGeom>
        </p:spPr>
        <p:txBody>
          <a:bodyPr wrap="square">
            <a:spAutoFit/>
          </a:bodyPr>
          <a:lstStyle>
            <a:lvl1pPr>
              <a:defRPr sz="3200" b="0" baseline="0">
                <a:solidFill>
                  <a:schemeClr val="tx1"/>
                </a:solidFill>
                <a:latin typeface="+mj-lt"/>
                <a:ea typeface="Arial Unicode MS" pitchFamily="34" charset="-128"/>
                <a:cs typeface="Arial Unicode MS" pitchFamily="34" charset="-128"/>
              </a:defRPr>
            </a:lvl1pPr>
          </a:lstStyle>
          <a:p>
            <a:pPr lvl="0"/>
            <a:r>
              <a:rPr lang="en-US" noProof="0"/>
              <a:t>Click to edit Master title style</a:t>
            </a:r>
            <a:endParaRPr lang="en-US" noProof="0" dirty="0"/>
          </a:p>
        </p:txBody>
      </p:sp>
      <p:sp>
        <p:nvSpPr>
          <p:cNvPr id="13315" name="Rectangle 1027"/>
          <p:cNvSpPr>
            <a:spLocks noGrp="1" noChangeArrowheads="1"/>
          </p:cNvSpPr>
          <p:nvPr>
            <p:ph type="subTitle" idx="1"/>
          </p:nvPr>
        </p:nvSpPr>
        <p:spPr bwMode="ltGray">
          <a:xfrm>
            <a:off x="4030876" y="1887470"/>
            <a:ext cx="4769712" cy="215444"/>
          </a:xfrm>
        </p:spPr>
        <p:txBody>
          <a:bodyPr wrap="square">
            <a:spAutoFit/>
          </a:bodyPr>
          <a:lstStyle>
            <a:lvl1pPr>
              <a:defRPr sz="1400" cap="none" baseline="0">
                <a:solidFill>
                  <a:schemeClr val="tx1"/>
                </a:solidFill>
                <a:latin typeface="+mj-lt"/>
                <a:ea typeface="Arial Unicode MS" pitchFamily="34" charset="-128"/>
                <a:cs typeface="Arial Unicode MS" pitchFamily="34" charset="-128"/>
              </a:defRPr>
            </a:lvl1pPr>
          </a:lstStyle>
          <a:p>
            <a:pPr lvl="0"/>
            <a:r>
              <a:rPr lang="en-US" noProof="0"/>
              <a:t>Click to edit Master subtitle style</a:t>
            </a:r>
            <a:endParaRPr lang="en-US" noProof="0" dirty="0"/>
          </a:p>
        </p:txBody>
      </p:sp>
      <p:sp>
        <p:nvSpPr>
          <p:cNvPr id="20" name="Rectangle 19"/>
          <p:cNvSpPr/>
          <p:nvPr userDrawn="1"/>
        </p:nvSpPr>
        <p:spPr bwMode="ltGray">
          <a:xfrm>
            <a:off x="3175" y="6233824"/>
            <a:ext cx="8958263" cy="48765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2" name="Rectangle 11"/>
          <p:cNvSpPr/>
          <p:nvPr userDrawn="1"/>
        </p:nvSpPr>
        <p:spPr bwMode="ltGray">
          <a:xfrm>
            <a:off x="0" y="6187568"/>
            <a:ext cx="8961438" cy="45719"/>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111865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2. Slide Title"/>
          <p:cNvSpPr>
            <a:spLocks noGrp="1"/>
          </p:cNvSpPr>
          <p:nvPr>
            <p:ph type="title"/>
          </p:nvPr>
        </p:nvSpPr>
        <p:spPr bwMode="auto"/>
        <p:txBody>
          <a:bodyPr/>
          <a:lstStyle>
            <a:lvl1pPr>
              <a:defRPr>
                <a:latin typeface="+mj-lt"/>
                <a:ea typeface="Arial Unicode MS" pitchFamily="34" charset="-128"/>
                <a:cs typeface="Arial Unicode MS" pitchFamily="34" charset="-128"/>
              </a:defRPr>
            </a:lvl1pPr>
          </a:lstStyle>
          <a:p>
            <a:r>
              <a:rPr lang="en-US"/>
              <a:t>Click to edit Master title style</a:t>
            </a:r>
            <a:endParaRPr lang="en-US" dirty="0"/>
          </a:p>
        </p:txBody>
      </p:sp>
    </p:spTree>
    <p:extLst>
      <p:ext uri="{BB962C8B-B14F-4D97-AF65-F5344CB8AC3E}">
        <p14:creationId xmlns:p14="http://schemas.microsoft.com/office/powerpoint/2010/main" val="448374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13" Type="http://schemas.openxmlformats.org/officeDocument/2006/relationships/tags" Target="../tags/tag10.xml"/><Relationship Id="rId18" Type="http://schemas.openxmlformats.org/officeDocument/2006/relationships/tags" Target="../tags/tag15.xml"/><Relationship Id="rId3" Type="http://schemas.openxmlformats.org/officeDocument/2006/relationships/theme" Target="../theme/theme1.xml"/><Relationship Id="rId21" Type="http://schemas.openxmlformats.org/officeDocument/2006/relationships/tags" Target="../tags/tag18.xml"/><Relationship Id="rId7" Type="http://schemas.openxmlformats.org/officeDocument/2006/relationships/tags" Target="../tags/tag4.xml"/><Relationship Id="rId12" Type="http://schemas.openxmlformats.org/officeDocument/2006/relationships/tags" Target="../tags/tag9.xml"/><Relationship Id="rId17" Type="http://schemas.openxmlformats.org/officeDocument/2006/relationships/tags" Target="../tags/tag14.xml"/><Relationship Id="rId2" Type="http://schemas.openxmlformats.org/officeDocument/2006/relationships/slideLayout" Target="../slideLayouts/slideLayout2.xml"/><Relationship Id="rId16" Type="http://schemas.openxmlformats.org/officeDocument/2006/relationships/tags" Target="../tags/tag13.xml"/><Relationship Id="rId20" Type="http://schemas.openxmlformats.org/officeDocument/2006/relationships/tags" Target="../tags/tag17.xml"/><Relationship Id="rId1" Type="http://schemas.openxmlformats.org/officeDocument/2006/relationships/slideLayout" Target="../slideLayouts/slideLayout1.xml"/><Relationship Id="rId6" Type="http://schemas.openxmlformats.org/officeDocument/2006/relationships/tags" Target="../tags/tag3.xml"/><Relationship Id="rId11" Type="http://schemas.openxmlformats.org/officeDocument/2006/relationships/tags" Target="../tags/tag8.xml"/><Relationship Id="rId24" Type="http://schemas.openxmlformats.org/officeDocument/2006/relationships/image" Target="../media/image1.emf"/><Relationship Id="rId5" Type="http://schemas.openxmlformats.org/officeDocument/2006/relationships/tags" Target="../tags/tag2.xml"/><Relationship Id="rId15" Type="http://schemas.openxmlformats.org/officeDocument/2006/relationships/tags" Target="../tags/tag12.xml"/><Relationship Id="rId23" Type="http://schemas.openxmlformats.org/officeDocument/2006/relationships/oleObject" Target="../embeddings/oleObject1.bin"/><Relationship Id="rId10" Type="http://schemas.openxmlformats.org/officeDocument/2006/relationships/tags" Target="../tags/tag7.xml"/><Relationship Id="rId19" Type="http://schemas.openxmlformats.org/officeDocument/2006/relationships/tags" Target="../tags/tag16.xml"/><Relationship Id="rId4" Type="http://schemas.openxmlformats.org/officeDocument/2006/relationships/tags" Target="../tags/tag1.xml"/><Relationship Id="rId9" Type="http://schemas.openxmlformats.org/officeDocument/2006/relationships/tags" Target="../tags/tag6.xml"/><Relationship Id="rId14" Type="http://schemas.openxmlformats.org/officeDocument/2006/relationships/tags" Target="../tags/tag11.xml"/><Relationship Id="rId22"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4"/>
            </p:custDataLst>
            <p:extLst>
              <p:ext uri="{D42A27DB-BD31-4B8C-83A1-F6EECF244321}">
                <p14:modId xmlns:p14="http://schemas.microsoft.com/office/powerpoint/2010/main" val="201323714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 name="Object 1" hidden="1"/>
                      <p:cNvPicPr/>
                      <p:nvPr/>
                    </p:nvPicPr>
                    <p:blipFill>
                      <a:blip r:embed="rId24"/>
                      <a:stretch>
                        <a:fillRect/>
                      </a:stretch>
                    </p:blipFill>
                    <p:spPr>
                      <a:xfrm>
                        <a:off x="0" y="0"/>
                        <a:ext cx="158750" cy="158750"/>
                      </a:xfrm>
                      <a:prstGeom prst="rect">
                        <a:avLst/>
                      </a:prstGeom>
                    </p:spPr>
                  </p:pic>
                </p:oleObj>
              </mc:Fallback>
            </mc:AlternateContent>
          </a:graphicData>
        </a:graphic>
      </p:graphicFrame>
      <p:sp>
        <p:nvSpPr>
          <p:cNvPr id="1033" name="doc id"/>
          <p:cNvSpPr>
            <a:spLocks noChangeArrowheads="1"/>
          </p:cNvSpPr>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accent6"/>
              </a:solidFill>
              <a:latin typeface="+mn-lt"/>
              <a:ea typeface="+mn-ea"/>
            </a:endParaRPr>
          </a:p>
        </p:txBody>
      </p:sp>
      <p:sp>
        <p:nvSpPr>
          <p:cNvPr id="1034" name="Working Draft" hidden="1"/>
          <p:cNvSpPr txBox="1">
            <a:spLocks noChangeArrowheads="1"/>
          </p:cNvSpPr>
          <p:nvPr/>
        </p:nvSpPr>
        <p:spPr bwMode="auto">
          <a:xfrm rot="5400000">
            <a:off x="7799945" y="1940591"/>
            <a:ext cx="218329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600" baseline="0" noProof="0">
                <a:solidFill>
                  <a:schemeClr val="accent6"/>
                </a:solidFill>
                <a:latin typeface="+mn-lt"/>
                <a:ea typeface="+mn-ea"/>
              </a:rPr>
              <a:t>Last Modified 10/03/2017 4:54 PM W. Australia Standard Time</a:t>
            </a:r>
            <a:endParaRPr lang="en-US" baseline="0" noProof="0" dirty="0">
              <a:solidFill>
                <a:schemeClr val="accent6"/>
              </a:solidFill>
              <a:latin typeface="+mn-lt"/>
              <a:ea typeface="+mn-ea"/>
            </a:endParaRPr>
          </a:p>
        </p:txBody>
      </p:sp>
      <p:sp>
        <p:nvSpPr>
          <p:cNvPr id="1035" name="Printed" hidden="1"/>
          <p:cNvSpPr txBox="1">
            <a:spLocks noChangeArrowheads="1"/>
          </p:cNvSpPr>
          <p:nvPr/>
        </p:nvSpPr>
        <p:spPr bwMode="auto">
          <a:xfrm rot="5400000">
            <a:off x="8074057" y="4114417"/>
            <a:ext cx="1635063"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600" baseline="0" noProof="0">
                <a:solidFill>
                  <a:schemeClr val="accent6"/>
                </a:solidFill>
                <a:latin typeface="+mn-lt"/>
                <a:ea typeface="+mn-ea"/>
              </a:rPr>
              <a:t>Printed 2/27/2017 7:03 AM India Standard Time</a:t>
            </a:r>
            <a:endParaRPr lang="en-US" baseline="0" noProof="0" dirty="0">
              <a:solidFill>
                <a:schemeClr val="accent6"/>
              </a:solidFill>
              <a:latin typeface="+mn-lt"/>
              <a:ea typeface="+mn-ea"/>
            </a:endParaRPr>
          </a:p>
        </p:txBody>
      </p:sp>
      <p:sp>
        <p:nvSpPr>
          <p:cNvPr id="1036" name="Rectangle 286"/>
          <p:cNvSpPr>
            <a:spLocks noGrp="1" noChangeArrowheads="1"/>
          </p:cNvSpPr>
          <p:nvPr>
            <p:ph type="body" idx="1"/>
          </p:nvPr>
        </p:nvSpPr>
        <p:spPr bwMode="auto">
          <a:xfrm>
            <a:off x="2329657" y="2317778"/>
            <a:ext cx="4302125" cy="123110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9" name="Title Placeholder 2"/>
          <p:cNvSpPr>
            <a:spLocks noGrp="1" noChangeArrowheads="1"/>
          </p:cNvSpPr>
          <p:nvPr>
            <p:ph type="title"/>
          </p:nvPr>
        </p:nvSpPr>
        <p:spPr bwMode="auto">
          <a:xfrm>
            <a:off x="171451" y="185145"/>
            <a:ext cx="8618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title style</a:t>
            </a:r>
            <a:endParaRPr lang="en-US" noProof="0" dirty="0"/>
          </a:p>
        </p:txBody>
      </p:sp>
      <p:sp>
        <p:nvSpPr>
          <p:cNvPr id="10" name="1. On-page tracker" hidden="1"/>
          <p:cNvSpPr>
            <a:spLocks noChangeArrowheads="1"/>
          </p:cNvSpPr>
          <p:nvPr/>
        </p:nvSpPr>
        <p:spPr bwMode="auto">
          <a:xfrm>
            <a:off x="171450" y="35048"/>
            <a:ext cx="490519"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800" baseline="0" noProof="0" dirty="0">
                <a:solidFill>
                  <a:srgbClr val="808080"/>
                </a:solidFill>
                <a:latin typeface="+mn-lt"/>
                <a:ea typeface="+mj-ea"/>
              </a:rPr>
              <a:t>TRACKER</a:t>
            </a:r>
          </a:p>
        </p:txBody>
      </p:sp>
      <p:sp>
        <p:nvSpPr>
          <p:cNvPr id="11" name="3. Unit of measure" hidden="1"/>
          <p:cNvSpPr txBox="1">
            <a:spLocks noChangeArrowheads="1"/>
          </p:cNvSpPr>
          <p:nvPr/>
        </p:nvSpPr>
        <p:spPr bwMode="auto">
          <a:xfrm>
            <a:off x="171450" y="519908"/>
            <a:ext cx="861853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1600" baseline="0" noProof="0" dirty="0">
                <a:solidFill>
                  <a:srgbClr val="808080"/>
                </a:solidFill>
                <a:latin typeface="+mn-lt"/>
              </a:rPr>
              <a:t>Unit of measure</a:t>
            </a:r>
          </a:p>
        </p:txBody>
      </p:sp>
      <p:grpSp>
        <p:nvGrpSpPr>
          <p:cNvPr id="15" name="ACET" hidden="1"/>
          <p:cNvGrpSpPr>
            <a:grpSpLocks/>
          </p:cNvGrpSpPr>
          <p:nvPr/>
        </p:nvGrpSpPr>
        <p:grpSpPr bwMode="auto">
          <a:xfrm>
            <a:off x="2329657" y="1747865"/>
            <a:ext cx="4302125" cy="508000"/>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b="1" baseline="0" noProof="0" dirty="0">
                  <a:latin typeface="+mn-lt"/>
                  <a:ea typeface="+mn-ea"/>
                </a:rPr>
                <a:t>Title</a:t>
              </a:r>
            </a:p>
            <a:p>
              <a:r>
                <a:rPr lang="en-US" baseline="0" noProof="0" dirty="0">
                  <a:solidFill>
                    <a:srgbClr val="808080"/>
                  </a:solidFill>
                  <a:latin typeface="+mn-lt"/>
                  <a:ea typeface="+mn-ea"/>
                </a:rPr>
                <a:t>Unit of measure</a:t>
              </a:r>
            </a:p>
          </p:txBody>
        </p:sp>
      </p:grpSp>
      <p:grpSp>
        <p:nvGrpSpPr>
          <p:cNvPr id="18" name="LegendBoxes" hidden="1"/>
          <p:cNvGrpSpPr>
            <a:grpSpLocks/>
          </p:cNvGrpSpPr>
          <p:nvPr/>
        </p:nvGrpSpPr>
        <p:grpSpPr bwMode="auto">
          <a:xfrm>
            <a:off x="8026400" y="237755"/>
            <a:ext cx="763588" cy="996951"/>
            <a:chOff x="4936" y="176"/>
            <a:chExt cx="481" cy="628"/>
          </a:xfrm>
        </p:grpSpPr>
        <p:sp>
          <p:nvSpPr>
            <p:cNvPr id="20" name="Legend1"/>
            <p:cNvSpPr>
              <a:spLocks noChangeArrowheads="1"/>
            </p:cNvSpPr>
            <p:nvPr/>
          </p:nvSpPr>
          <p:spPr bwMode="auto">
            <a:xfrm>
              <a:off x="5096"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1" name="LegendRectangle1"/>
            <p:cNvSpPr>
              <a:spLocks noChangeArrowheads="1"/>
            </p:cNvSpPr>
            <p:nvPr/>
          </p:nvSpPr>
          <p:spPr bwMode="auto">
            <a:xfrm>
              <a:off x="4936" y="183"/>
              <a:ext cx="104" cy="101"/>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2" name="Legend2"/>
            <p:cNvSpPr>
              <a:spLocks noChangeArrowheads="1"/>
            </p:cNvSpPr>
            <p:nvPr/>
          </p:nvSpPr>
          <p:spPr bwMode="auto">
            <a:xfrm>
              <a:off x="5096" y="34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3" name="LegendRectangle2"/>
            <p:cNvSpPr>
              <a:spLocks noChangeArrowheads="1"/>
            </p:cNvSpPr>
            <p:nvPr/>
          </p:nvSpPr>
          <p:spPr bwMode="auto">
            <a:xfrm>
              <a:off x="4936" y="353"/>
              <a:ext cx="104" cy="101"/>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4" name="Legend3"/>
            <p:cNvSpPr>
              <a:spLocks noChangeArrowheads="1"/>
            </p:cNvSpPr>
            <p:nvPr/>
          </p:nvSpPr>
          <p:spPr bwMode="auto">
            <a:xfrm>
              <a:off x="5096" y="517"/>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5" name="LegendRectangle3"/>
            <p:cNvSpPr>
              <a:spLocks noChangeArrowheads="1"/>
            </p:cNvSpPr>
            <p:nvPr/>
          </p:nvSpPr>
          <p:spPr bwMode="auto">
            <a:xfrm>
              <a:off x="4936" y="524"/>
              <a:ext cx="104" cy="101"/>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6" name="Legend4"/>
            <p:cNvSpPr>
              <a:spLocks noChangeArrowheads="1"/>
            </p:cNvSpPr>
            <p:nvPr/>
          </p:nvSpPr>
          <p:spPr bwMode="auto">
            <a:xfrm>
              <a:off x="5096" y="688"/>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7" name="LegendRectangle4"/>
            <p:cNvSpPr>
              <a:spLocks noChangeArrowheads="1"/>
            </p:cNvSpPr>
            <p:nvPr/>
          </p:nvSpPr>
          <p:spPr bwMode="auto">
            <a:xfrm>
              <a:off x="4936" y="695"/>
              <a:ext cx="104" cy="101"/>
            </a:xfrm>
            <a:prstGeom prst="rect">
              <a:avLst/>
            </a:prstGeom>
            <a:solidFill>
              <a:schemeClr val="fo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28" name="LegendLines" hidden="1"/>
          <p:cNvGrpSpPr>
            <a:grpSpLocks/>
          </p:cNvGrpSpPr>
          <p:nvPr/>
        </p:nvGrpSpPr>
        <p:grpSpPr bwMode="auto">
          <a:xfrm>
            <a:off x="7718425" y="237755"/>
            <a:ext cx="1071563" cy="730251"/>
            <a:chOff x="4750" y="176"/>
            <a:chExt cx="675" cy="460"/>
          </a:xfrm>
        </p:grpSpPr>
        <p:sp>
          <p:nvSpPr>
            <p:cNvPr id="29" name="LineLegend1"/>
            <p:cNvSpPr>
              <a:spLocks noChangeShapeType="1"/>
            </p:cNvSpPr>
            <p:nvPr/>
          </p:nvSpPr>
          <p:spPr bwMode="auto">
            <a:xfrm>
              <a:off x="4750" y="233"/>
              <a:ext cx="288"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0" name="LineLegend2"/>
            <p:cNvSpPr>
              <a:spLocks noChangeShapeType="1"/>
            </p:cNvSpPr>
            <p:nvPr/>
          </p:nvSpPr>
          <p:spPr bwMode="auto">
            <a:xfrm>
              <a:off x="4750" y="402"/>
              <a:ext cx="288"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1" name="LineLegend3"/>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2" name="Legend1"/>
            <p:cNvSpPr>
              <a:spLocks noChangeArrowheads="1"/>
            </p:cNvSpPr>
            <p:nvPr/>
          </p:nvSpPr>
          <p:spPr bwMode="auto">
            <a:xfrm>
              <a:off x="5104"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3" name="Legend2"/>
            <p:cNvSpPr>
              <a:spLocks noChangeArrowheads="1"/>
            </p:cNvSpPr>
            <p:nvPr/>
          </p:nvSpPr>
          <p:spPr bwMode="auto">
            <a:xfrm>
              <a:off x="5104" y="344"/>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4" name="Legend3"/>
            <p:cNvSpPr>
              <a:spLocks noChangeArrowheads="1"/>
            </p:cNvSpPr>
            <p:nvPr/>
          </p:nvSpPr>
          <p:spPr bwMode="auto">
            <a:xfrm>
              <a:off x="5104" y="520"/>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grpSp>
      <p:grpSp>
        <p:nvGrpSpPr>
          <p:cNvPr id="35" name="McK Sticker" hidden="1"/>
          <p:cNvGrpSpPr/>
          <p:nvPr/>
        </p:nvGrpSpPr>
        <p:grpSpPr bwMode="auto">
          <a:xfrm>
            <a:off x="8064982" y="237755"/>
            <a:ext cx="725006" cy="150811"/>
            <a:chOff x="8015769" y="285750"/>
            <a:chExt cx="725006" cy="150811"/>
          </a:xfrm>
        </p:grpSpPr>
        <p:sp>
          <p:nvSpPr>
            <p:cNvPr id="36" name="StickerRectangle"/>
            <p:cNvSpPr>
              <a:spLocks noChangeArrowheads="1"/>
            </p:cNvSpPr>
            <p:nvPr/>
          </p:nvSpPr>
          <p:spPr bwMode="auto">
            <a:xfrm>
              <a:off x="8015769" y="285750"/>
              <a:ext cx="725006" cy="150811"/>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895350">
                <a:buClr>
                  <a:schemeClr val="tx2"/>
                </a:buClr>
              </a:pPr>
              <a:r>
                <a:rPr lang="en-US" sz="800" dirty="0">
                  <a:solidFill>
                    <a:srgbClr val="808080"/>
                  </a:solidFill>
                  <a:latin typeface="+mn-lt"/>
                </a:rPr>
                <a:t>PRELIMINARY</a:t>
              </a:r>
            </a:p>
          </p:txBody>
        </p:sp>
        <p:cxnSp>
          <p:nvCxnSpPr>
            <p:cNvPr id="37" name="AutoShape 31"/>
            <p:cNvCxnSpPr>
              <a:cxnSpLocks noChangeShapeType="1"/>
              <a:stCxn id="36" idx="2"/>
              <a:endCxn id="36" idx="4"/>
            </p:cNvCxnSpPr>
            <p:nvPr/>
          </p:nvCxnSpPr>
          <p:spPr bwMode="auto">
            <a:xfrm>
              <a:off x="8015769" y="285750"/>
              <a:ext cx="0" cy="150811"/>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38" name="AutoShape 32"/>
            <p:cNvCxnSpPr>
              <a:cxnSpLocks noChangeShapeType="1"/>
              <a:stCxn id="36" idx="4"/>
              <a:endCxn id="36" idx="6"/>
            </p:cNvCxnSpPr>
            <p:nvPr/>
          </p:nvCxnSpPr>
          <p:spPr bwMode="auto">
            <a:xfrm>
              <a:off x="8015769" y="436561"/>
              <a:ext cx="72500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63" name="Slide Number"/>
          <p:cNvSpPr txBox="1">
            <a:spLocks/>
          </p:cNvSpPr>
          <p:nvPr/>
        </p:nvSpPr>
        <p:spPr bwMode="auto">
          <a:xfrm>
            <a:off x="8664954" y="6462552"/>
            <a:ext cx="125034" cy="123111"/>
          </a:xfrm>
          <a:prstGeom prst="rect">
            <a:avLst/>
          </a:prstGeom>
        </p:spPr>
        <p:txBody>
          <a:bodyPr vert="horz" wrap="none" lIns="0" tIns="0" rIns="0" bIns="0" rtlCol="0" anchor="b" anchorCtr="0">
            <a:spAutoFit/>
          </a:bodyPr>
          <a:lstStyle>
            <a:defPPr>
              <a:defRPr lang="en-US"/>
            </a:defPPr>
            <a:lvl1pPr>
              <a:defRPr sz="1000" baseline="0">
                <a:latin typeface="+mn-lt"/>
              </a:defRPr>
            </a:lvl1pPr>
          </a:lstStyle>
          <a:p>
            <a:pPr lvl="0" algn="r"/>
            <a:fld id="{42C328C1-A84F-4A39-A664-DBA00541A8C6}" type="slidenum">
              <a:rPr lang="en-US" sz="800" smtClean="0">
                <a:solidFill>
                  <a:schemeClr val="tx1"/>
                </a:solidFill>
              </a:rPr>
              <a:pPr lvl="0" algn="r"/>
              <a:t>‹#›</a:t>
            </a:fld>
            <a:endParaRPr lang="en-US" sz="800" dirty="0">
              <a:solidFill>
                <a:schemeClr val="tx1"/>
              </a:solidFill>
            </a:endParaRPr>
          </a:p>
        </p:txBody>
      </p:sp>
      <p:grpSp>
        <p:nvGrpSpPr>
          <p:cNvPr id="64" name="Moon" hidden="1"/>
          <p:cNvGrpSpPr>
            <a:grpSpLocks noChangeAspect="1"/>
          </p:cNvGrpSpPr>
          <p:nvPr>
            <p:custDataLst>
              <p:tags r:id="rId5"/>
            </p:custDataLst>
          </p:nvPr>
        </p:nvGrpSpPr>
        <p:grpSpPr bwMode="auto">
          <a:xfrm>
            <a:off x="7170608" y="764013"/>
            <a:ext cx="254000" cy="254000"/>
            <a:chOff x="1600" y="1600"/>
            <a:chExt cx="160" cy="160"/>
          </a:xfrm>
        </p:grpSpPr>
        <p:sp>
          <p:nvSpPr>
            <p:cNvPr id="65" name="Oval 90"/>
            <p:cNvSpPr>
              <a:spLocks noChangeAspect="1" noChangeArrowheads="1"/>
            </p:cNvSpPr>
            <p:nvPr>
              <p:custDataLst>
                <p:tags r:id="rId21"/>
              </p:custDataLst>
            </p:nvPr>
          </p:nvSpPr>
          <p:spPr bwMode="auto">
            <a:xfrm>
              <a:off x="1600" y="1600"/>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Arc 91"/>
            <p:cNvSpPr>
              <a:spLocks noChangeAspect="1"/>
            </p:cNvSpPr>
            <p:nvPr>
              <p:custDataLst>
                <p:tags r:id="rId22"/>
              </p:custDataLst>
            </p:nvPr>
          </p:nvSpPr>
          <p:spPr bwMode="auto">
            <a:xfrm>
              <a:off x="1600" y="1600"/>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7" name="LegendMoons" hidden="1"/>
          <p:cNvGrpSpPr/>
          <p:nvPr/>
        </p:nvGrpSpPr>
        <p:grpSpPr bwMode="auto">
          <a:xfrm>
            <a:off x="7959558" y="237755"/>
            <a:ext cx="830430" cy="1306516"/>
            <a:chOff x="5428012" y="273840"/>
            <a:chExt cx="830430" cy="1306516"/>
          </a:xfrm>
        </p:grpSpPr>
        <p:sp>
          <p:nvSpPr>
            <p:cNvPr id="68" name="Legend1"/>
            <p:cNvSpPr>
              <a:spLocks noChangeArrowheads="1"/>
            </p:cNvSpPr>
            <p:nvPr/>
          </p:nvSpPr>
          <p:spPr bwMode="auto">
            <a:xfrm>
              <a:off x="5748687" y="28654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69" name="Legend2"/>
            <p:cNvSpPr>
              <a:spLocks noChangeArrowheads="1"/>
            </p:cNvSpPr>
            <p:nvPr/>
          </p:nvSpPr>
          <p:spPr bwMode="auto">
            <a:xfrm>
              <a:off x="5748687" y="561178"/>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0" name="Legend3"/>
            <p:cNvSpPr>
              <a:spLocks noChangeArrowheads="1"/>
            </p:cNvSpPr>
            <p:nvPr/>
          </p:nvSpPr>
          <p:spPr bwMode="auto">
            <a:xfrm>
              <a:off x="5748687" y="835817"/>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1" name="Legend4"/>
            <p:cNvSpPr>
              <a:spLocks noChangeArrowheads="1"/>
            </p:cNvSpPr>
            <p:nvPr/>
          </p:nvSpPr>
          <p:spPr bwMode="auto">
            <a:xfrm>
              <a:off x="5748687" y="110728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72" name="Legend5"/>
            <p:cNvSpPr>
              <a:spLocks noChangeArrowheads="1"/>
            </p:cNvSpPr>
            <p:nvPr/>
          </p:nvSpPr>
          <p:spPr bwMode="auto">
            <a:xfrm>
              <a:off x="5748687" y="1383505"/>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grpSp>
          <p:nvGrpSpPr>
            <p:cNvPr id="73" name="MoonLegend1"/>
            <p:cNvGrpSpPr>
              <a:grpSpLocks noChangeAspect="1"/>
            </p:cNvGrpSpPr>
            <p:nvPr userDrawn="1">
              <p:custDataLst>
                <p:tags r:id="rId6"/>
              </p:custDataLst>
            </p:nvPr>
          </p:nvGrpSpPr>
          <p:grpSpPr bwMode="auto">
            <a:xfrm>
              <a:off x="5428012" y="273840"/>
              <a:ext cx="209550" cy="209551"/>
              <a:chOff x="1694" y="2044"/>
              <a:chExt cx="160" cy="160"/>
            </a:xfrm>
          </p:grpSpPr>
          <p:sp>
            <p:nvSpPr>
              <p:cNvPr id="86" name="Oval 41"/>
              <p:cNvSpPr>
                <a:spLocks noChangeAspect="1" noChangeArrowheads="1"/>
              </p:cNvSpPr>
              <p:nvPr>
                <p:custDataLst>
                  <p:tags r:id="rId19"/>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7" name="Arc 42"/>
              <p:cNvSpPr>
                <a:spLocks noChangeAspect="1"/>
              </p:cNvSpPr>
              <p:nvPr>
                <p:custDataLst>
                  <p:tags r:id="rId20"/>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4" name="MoonLegend2"/>
            <p:cNvGrpSpPr>
              <a:grpSpLocks noChangeAspect="1"/>
            </p:cNvGrpSpPr>
            <p:nvPr userDrawn="1">
              <p:custDataLst>
                <p:tags r:id="rId7"/>
              </p:custDataLst>
            </p:nvPr>
          </p:nvGrpSpPr>
          <p:grpSpPr bwMode="auto">
            <a:xfrm>
              <a:off x="5428012" y="548081"/>
              <a:ext cx="209550" cy="209551"/>
              <a:chOff x="1694" y="2044"/>
              <a:chExt cx="160" cy="160"/>
            </a:xfrm>
          </p:grpSpPr>
          <p:sp>
            <p:nvSpPr>
              <p:cNvPr id="84" name="Oval 41"/>
              <p:cNvSpPr>
                <a:spLocks noChangeAspect="1" noChangeArrowheads="1"/>
              </p:cNvSpPr>
              <p:nvPr>
                <p:custDataLst>
                  <p:tags r:id="rId17"/>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5" name="Arc 42"/>
              <p:cNvSpPr>
                <a:spLocks noChangeAspect="1"/>
              </p:cNvSpPr>
              <p:nvPr>
                <p:custDataLst>
                  <p:tags r:id="rId18"/>
                </p:custDataLst>
              </p:nvPr>
            </p:nvSpPr>
            <p:spPr bwMode="auto">
              <a:xfrm>
                <a:off x="1694" y="2044"/>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5" name="MoonLegend3"/>
            <p:cNvGrpSpPr>
              <a:grpSpLocks noChangeAspect="1"/>
            </p:cNvGrpSpPr>
            <p:nvPr userDrawn="1">
              <p:custDataLst>
                <p:tags r:id="rId8"/>
              </p:custDataLst>
            </p:nvPr>
          </p:nvGrpSpPr>
          <p:grpSpPr bwMode="auto">
            <a:xfrm>
              <a:off x="5428012" y="822322"/>
              <a:ext cx="209550" cy="209551"/>
              <a:chOff x="1694" y="2044"/>
              <a:chExt cx="160" cy="160"/>
            </a:xfrm>
          </p:grpSpPr>
          <p:sp>
            <p:nvSpPr>
              <p:cNvPr id="82" name="Oval 41"/>
              <p:cNvSpPr>
                <a:spLocks noChangeAspect="1" noChangeArrowheads="1"/>
              </p:cNvSpPr>
              <p:nvPr>
                <p:custDataLst>
                  <p:tags r:id="rId15"/>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3" name="Arc 42"/>
              <p:cNvSpPr>
                <a:spLocks noChangeAspect="1"/>
              </p:cNvSpPr>
              <p:nvPr>
                <p:custDataLst>
                  <p:tags r:id="rId16"/>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6" name="MoonLegend4"/>
            <p:cNvGrpSpPr>
              <a:grpSpLocks noChangeAspect="1"/>
            </p:cNvGrpSpPr>
            <p:nvPr userDrawn="1">
              <p:custDataLst>
                <p:tags r:id="rId9"/>
              </p:custDataLst>
            </p:nvPr>
          </p:nvGrpSpPr>
          <p:grpSpPr bwMode="auto">
            <a:xfrm>
              <a:off x="5428012" y="1096563"/>
              <a:ext cx="209550" cy="209551"/>
              <a:chOff x="1694" y="2044"/>
              <a:chExt cx="160" cy="160"/>
            </a:xfrm>
          </p:grpSpPr>
          <p:sp>
            <p:nvSpPr>
              <p:cNvPr id="80" name="Oval 41"/>
              <p:cNvSpPr>
                <a:spLocks noChangeAspect="1" noChangeArrowheads="1"/>
              </p:cNvSpPr>
              <p:nvPr>
                <p:custDataLst>
                  <p:tags r:id="rId13"/>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1" name="Arc 42"/>
              <p:cNvSpPr>
                <a:spLocks noChangeAspect="1"/>
              </p:cNvSpPr>
              <p:nvPr>
                <p:custDataLst>
                  <p:tags r:id="rId14"/>
                </p:custDataLst>
              </p:nvPr>
            </p:nvSpPr>
            <p:spPr bwMode="auto">
              <a:xfrm>
                <a:off x="1694" y="2044"/>
                <a:ext cx="160" cy="160"/>
              </a:xfrm>
              <a:prstGeom prst="arc">
                <a:avLst>
                  <a:gd name="adj1" fmla="val 16200000"/>
                  <a:gd name="adj2" fmla="val 108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7" name="MoonLegend5"/>
            <p:cNvGrpSpPr>
              <a:grpSpLocks noChangeAspect="1"/>
            </p:cNvGrpSpPr>
            <p:nvPr userDrawn="1">
              <p:custDataLst>
                <p:tags r:id="rId10"/>
              </p:custDataLst>
            </p:nvPr>
          </p:nvGrpSpPr>
          <p:grpSpPr bwMode="auto">
            <a:xfrm>
              <a:off x="5428012" y="1370805"/>
              <a:ext cx="209550" cy="209551"/>
              <a:chOff x="1694" y="2044"/>
              <a:chExt cx="160" cy="160"/>
            </a:xfrm>
          </p:grpSpPr>
          <p:sp>
            <p:nvSpPr>
              <p:cNvPr id="78" name="Oval 41"/>
              <p:cNvSpPr>
                <a:spLocks noChangeAspect="1" noChangeArrowheads="1"/>
              </p:cNvSpPr>
              <p:nvPr>
                <p:custDataLst>
                  <p:tags r:id="rId11"/>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79" name="Arc 42"/>
              <p:cNvSpPr>
                <a:spLocks noChangeAspect="1"/>
              </p:cNvSpPr>
              <p:nvPr>
                <p:custDataLst>
                  <p:tags r:id="rId12"/>
                </p:custDataLst>
              </p:nvPr>
            </p:nvSpPr>
            <p:spPr bwMode="auto">
              <a:xfrm>
                <a:off x="1694" y="2044"/>
                <a:ext cx="160" cy="160"/>
              </a:xfrm>
              <a:prstGeom prst="arc">
                <a:avLst>
                  <a:gd name="adj1" fmla="val 16200000"/>
                  <a:gd name="adj2" fmla="val 162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grpSp>
        <p:nvGrpSpPr>
          <p:cNvPr id="3" name="Slide Elements" hidden="1"/>
          <p:cNvGrpSpPr/>
          <p:nvPr/>
        </p:nvGrpSpPr>
        <p:grpSpPr bwMode="auto">
          <a:xfrm>
            <a:off x="171450" y="6276179"/>
            <a:ext cx="7277099" cy="309484"/>
            <a:chOff x="171451" y="6321899"/>
            <a:chExt cx="7200000" cy="309484"/>
          </a:xfrm>
        </p:grpSpPr>
        <p:sp>
          <p:nvSpPr>
            <p:cNvPr id="89" name="4. Footnote"/>
            <p:cNvSpPr txBox="1">
              <a:spLocks noChangeArrowheads="1"/>
            </p:cNvSpPr>
            <p:nvPr/>
          </p:nvSpPr>
          <p:spPr bwMode="auto">
            <a:xfrm>
              <a:off x="171451" y="6321899"/>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lang="x-none" sz="2400">
                  <a:solidFill>
                    <a:schemeClr val="tx1"/>
                  </a:solidFill>
                  <a:latin typeface="Arial" charset="0"/>
                </a:defRPr>
              </a:lvl1pPr>
              <a:lvl2pPr marL="1031875" defTabSz="895350">
                <a:defRPr lang="x-none" sz="2400">
                  <a:solidFill>
                    <a:schemeClr val="tx1"/>
                  </a:solidFill>
                  <a:latin typeface="Arial" charset="0"/>
                </a:defRPr>
              </a:lvl2pPr>
              <a:lvl3pPr marL="1217613" defTabSz="895350">
                <a:defRPr lang="x-none" sz="2400">
                  <a:solidFill>
                    <a:schemeClr val="tx1"/>
                  </a:solidFill>
                  <a:latin typeface="Arial" charset="0"/>
                </a:defRPr>
              </a:lvl3pPr>
              <a:lvl4pPr marL="1404938" defTabSz="895350">
                <a:defRPr lang="x-none" sz="2400">
                  <a:solidFill>
                    <a:schemeClr val="tx1"/>
                  </a:solidFill>
                  <a:latin typeface="Arial" charset="0"/>
                </a:defRPr>
              </a:lvl4pPr>
              <a:lvl5pPr marL="1792288" defTabSz="895350">
                <a:defRPr lang="x-none" sz="2400">
                  <a:solidFill>
                    <a:schemeClr val="tx1"/>
                  </a:solidFill>
                  <a:latin typeface="Arial" charset="0"/>
                </a:defRPr>
              </a:lvl5pPr>
              <a:lvl6pPr marL="2249488" defTabSz="895350" fontAlgn="base">
                <a:spcBef>
                  <a:spcPct val="0"/>
                </a:spcBef>
                <a:spcAft>
                  <a:spcPct val="0"/>
                </a:spcAft>
                <a:defRPr lang="x-none" sz="2400">
                  <a:solidFill>
                    <a:schemeClr val="tx1"/>
                  </a:solidFill>
                  <a:latin typeface="Arial" charset="0"/>
                </a:defRPr>
              </a:lvl6pPr>
              <a:lvl7pPr marL="2706688" defTabSz="895350" fontAlgn="base">
                <a:spcBef>
                  <a:spcPct val="0"/>
                </a:spcBef>
                <a:spcAft>
                  <a:spcPct val="0"/>
                </a:spcAft>
                <a:defRPr lang="x-none" sz="2400">
                  <a:solidFill>
                    <a:schemeClr val="tx1"/>
                  </a:solidFill>
                  <a:latin typeface="Arial" charset="0"/>
                </a:defRPr>
              </a:lvl7pPr>
              <a:lvl8pPr marL="3163888" defTabSz="895350" fontAlgn="base">
                <a:spcBef>
                  <a:spcPct val="0"/>
                </a:spcBef>
                <a:spcAft>
                  <a:spcPct val="0"/>
                </a:spcAft>
                <a:defRPr lang="x-none" sz="2400">
                  <a:solidFill>
                    <a:schemeClr val="tx1"/>
                  </a:solidFill>
                  <a:latin typeface="Arial" charset="0"/>
                </a:defRPr>
              </a:lvl8pPr>
              <a:lvl9pPr marL="3621088" defTabSz="895350" fontAlgn="base">
                <a:spcBef>
                  <a:spcPct val="0"/>
                </a:spcBef>
                <a:spcAft>
                  <a:spcPct val="0"/>
                </a:spcAft>
                <a:defRPr lang="x-none" sz="2400">
                  <a:solidFill>
                    <a:schemeClr val="tx1"/>
                  </a:solidFill>
                  <a:latin typeface="Arial" charset="0"/>
                </a:defRPr>
              </a:lvl9pPr>
            </a:lstStyle>
            <a:p>
              <a:pPr marL="85725" indent="-85725">
                <a:defRPr lang="x-none"/>
              </a:pPr>
              <a:r>
                <a:rPr lang="x-none" sz="800" baseline="0" dirty="0">
                  <a:solidFill>
                    <a:schemeClr val="tx1"/>
                  </a:solidFill>
                  <a:latin typeface="+mn-lt"/>
                  <a:ea typeface="+mn-ea"/>
                </a:rPr>
                <a:t>1 Footnote</a:t>
              </a:r>
            </a:p>
          </p:txBody>
        </p:sp>
        <p:sp>
          <p:nvSpPr>
            <p:cNvPr id="90" name="5. Source"/>
            <p:cNvSpPr>
              <a:spLocks noChangeArrowheads="1"/>
            </p:cNvSpPr>
            <p:nvPr/>
          </p:nvSpPr>
          <p:spPr bwMode="auto">
            <a:xfrm>
              <a:off x="171451" y="6508272"/>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marL="409575" indent="-409575" defTabSz="895350">
                <a:tabLst>
                  <a:tab pos="409575" algn="l"/>
                </a:tabLst>
              </a:pPr>
              <a:r>
                <a:rPr lang="x-none" sz="800" baseline="0" dirty="0">
                  <a:solidFill>
                    <a:schemeClr val="tx1"/>
                  </a:solidFill>
                  <a:latin typeface="+mn-lt"/>
                  <a:ea typeface="+mn-ea"/>
                </a:rPr>
                <a:t>Source : Source</a:t>
              </a:r>
            </a:p>
          </p:txBody>
        </p:sp>
      </p:grpSp>
      <p:sp>
        <p:nvSpPr>
          <p:cNvPr id="62" name="Rectangle 61"/>
          <p:cNvSpPr/>
          <p:nvPr/>
        </p:nvSpPr>
        <p:spPr bwMode="auto">
          <a:xfrm>
            <a:off x="0" y="6674787"/>
            <a:ext cx="896143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3629404267"/>
      </p:ext>
    </p:extLst>
  </p:cSld>
  <p:clrMap bg1="lt1" tx1="dk1" bg2="lt2" tx2="dk2" accent1="accent1" accent2="accent2" accent3="accent3" accent4="accent4" accent5="accent5" accent6="accent6" hlink="hlink" folHlink="folHlink"/>
  <p:sldLayoutIdLst>
    <p:sldLayoutId id="2147483688" r:id="rId1"/>
    <p:sldLayoutId id="2147483689" r:id="rId2"/>
  </p:sldLayoutIdLst>
  <p:hf hdr="0" ftr="0" dt="0"/>
  <p:txStyles>
    <p:titleStyle>
      <a:lvl1pPr algn="l" defTabSz="895350" rtl="0" eaLnBrk="1" fontAlgn="base" hangingPunct="1">
        <a:spcBef>
          <a:spcPct val="0"/>
        </a:spcBef>
        <a:spcAft>
          <a:spcPct val="0"/>
        </a:spcAft>
        <a:tabLst>
          <a:tab pos="269875" algn="l"/>
        </a:tabLst>
        <a:defRPr sz="2000" b="0" baseline="0">
          <a:solidFill>
            <a:schemeClr val="accent3"/>
          </a:solidFill>
          <a:latin typeface="+mj-lt"/>
          <a:ea typeface="Arial Unicode MS" pitchFamily="34" charset="-128"/>
          <a:cs typeface="Arial Unicode MS" pitchFamily="34" charset="-128"/>
        </a:defRPr>
      </a:lvl1pPr>
      <a:lvl2pPr algn="l" defTabSz="895350" rtl="0" eaLnBrk="1" fontAlgn="base" hangingPunct="1">
        <a:spcBef>
          <a:spcPct val="0"/>
        </a:spcBef>
        <a:spcAft>
          <a:spcPct val="0"/>
        </a:spcAft>
        <a:defRPr sz="1900" b="1">
          <a:solidFill>
            <a:schemeClr val="tx2"/>
          </a:solidFill>
          <a:latin typeface="Arial" charset="0"/>
        </a:defRPr>
      </a:lvl2pPr>
      <a:lvl3pPr algn="l" defTabSz="895350" rtl="0" eaLnBrk="1" fontAlgn="base" hangingPunct="1">
        <a:spcBef>
          <a:spcPct val="0"/>
        </a:spcBef>
        <a:spcAft>
          <a:spcPct val="0"/>
        </a:spcAft>
        <a:defRPr sz="1900" b="1">
          <a:solidFill>
            <a:schemeClr val="tx2"/>
          </a:solidFill>
          <a:latin typeface="Arial" charset="0"/>
        </a:defRPr>
      </a:lvl3pPr>
      <a:lvl4pPr algn="l" defTabSz="895350" rtl="0" eaLnBrk="1" fontAlgn="base" hangingPunct="1">
        <a:spcBef>
          <a:spcPct val="0"/>
        </a:spcBef>
        <a:spcAft>
          <a:spcPct val="0"/>
        </a:spcAft>
        <a:defRPr sz="1900" b="1">
          <a:solidFill>
            <a:schemeClr val="tx2"/>
          </a:solidFill>
          <a:latin typeface="Arial" charset="0"/>
        </a:defRPr>
      </a:lvl4pPr>
      <a:lvl5pPr algn="l" defTabSz="895350" rtl="0" eaLnBrk="1" fontAlgn="base" hangingPunct="1">
        <a:spcBef>
          <a:spcPct val="0"/>
        </a:spcBef>
        <a:spcAft>
          <a:spcPct val="0"/>
        </a:spcAft>
        <a:defRPr sz="1900" b="1">
          <a:solidFill>
            <a:schemeClr val="tx2"/>
          </a:solidFill>
          <a:latin typeface="Arial" charset="0"/>
        </a:defRPr>
      </a:lvl5pPr>
      <a:lvl6pPr marL="457200" algn="l" defTabSz="895350" rtl="0" eaLnBrk="1" fontAlgn="base" hangingPunct="1">
        <a:spcBef>
          <a:spcPct val="0"/>
        </a:spcBef>
        <a:spcAft>
          <a:spcPct val="0"/>
        </a:spcAft>
        <a:defRPr sz="1900" b="1">
          <a:solidFill>
            <a:schemeClr val="tx2"/>
          </a:solidFill>
          <a:latin typeface="Arial" charset="0"/>
        </a:defRPr>
      </a:lvl6pPr>
      <a:lvl7pPr marL="914400" algn="l" defTabSz="895350" rtl="0" eaLnBrk="1" fontAlgn="base" hangingPunct="1">
        <a:spcBef>
          <a:spcPct val="0"/>
        </a:spcBef>
        <a:spcAft>
          <a:spcPct val="0"/>
        </a:spcAft>
        <a:defRPr sz="1900" b="1">
          <a:solidFill>
            <a:schemeClr val="tx2"/>
          </a:solidFill>
          <a:latin typeface="Arial" charset="0"/>
        </a:defRPr>
      </a:lvl7pPr>
      <a:lvl8pPr marL="1371600" algn="l" defTabSz="895350" rtl="0" eaLnBrk="1" fontAlgn="base" hangingPunct="1">
        <a:spcBef>
          <a:spcPct val="0"/>
        </a:spcBef>
        <a:spcAft>
          <a:spcPct val="0"/>
        </a:spcAft>
        <a:defRPr sz="1900" b="1">
          <a:solidFill>
            <a:schemeClr val="tx2"/>
          </a:solidFill>
          <a:latin typeface="Arial" charset="0"/>
        </a:defRPr>
      </a:lvl8pPr>
      <a:lvl9pPr marL="1828800" algn="l" defTabSz="895350" rtl="0" eaLnBrk="1" fontAlgn="base" hangingPunct="1">
        <a:spcBef>
          <a:spcPct val="0"/>
        </a:spcBef>
        <a:spcAft>
          <a:spcPct val="0"/>
        </a:spcAft>
        <a:defRPr sz="1900" b="1">
          <a:solidFill>
            <a:schemeClr val="tx2"/>
          </a:solidFill>
          <a:latin typeface="Arial" charset="0"/>
        </a:defRPr>
      </a:lvl9pPr>
    </p:titleStyle>
    <p:bodyStyle>
      <a:lvl1pPr marL="0" indent="0" algn="l" defTabSz="895350" rtl="0" eaLnBrk="1" fontAlgn="base" hangingPunct="1">
        <a:spcBef>
          <a:spcPct val="0"/>
        </a:spcBef>
        <a:spcAft>
          <a:spcPct val="0"/>
        </a:spcAft>
        <a:buClr>
          <a:schemeClr val="tx2"/>
        </a:buClr>
        <a:defRPr sz="1600" baseline="0">
          <a:solidFill>
            <a:schemeClr val="tx1"/>
          </a:solidFill>
          <a:latin typeface="+mn-lt"/>
          <a:ea typeface="Arial Unicode MS" pitchFamily="34" charset="-128"/>
          <a:cs typeface="Arial Unicode MS" pitchFamily="34" charset="-128"/>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ea typeface="Arial Unicode MS" pitchFamily="34" charset="-128"/>
          <a:cs typeface="Arial Unicode MS" pitchFamily="34" charset="-128"/>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4pPr>
      <a:lvl5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ea typeface="Arial Unicode MS" pitchFamily="34" charset="-128"/>
          <a:cs typeface="Arial Unicode MS" pitchFamily="34" charset="-128"/>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r>
              <a:rPr lang="en-GB" sz="1400" b="1" dirty="0"/>
              <a:t>Segmentation of the revenues by unit, reveals that of the three (3) customer segments, _Private Water Hedge Sales_ ($187M) are the most popular, followed by __Public Sales____ ($147M) and lastly __Residential sales Sales ($102M_). </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648497"/>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6805C81-7BF1-484D-8586-0AB9B293FF59}"/>
              </a:ext>
            </a:extLst>
          </p:cNvPr>
          <p:cNvSpPr/>
          <p:nvPr/>
        </p:nvSpPr>
        <p:spPr>
          <a:xfrm>
            <a:off x="303213" y="1238975"/>
            <a:ext cx="3665537" cy="3416320"/>
          </a:xfrm>
          <a:prstGeom prst="rect">
            <a:avLst/>
          </a:prstGeom>
        </p:spPr>
        <p:txBody>
          <a:bodyPr wrap="square">
            <a:spAutoFit/>
          </a:bodyPr>
          <a:lstStyle/>
          <a:p>
            <a:pPr lvl="0">
              <a:defRPr/>
            </a:pPr>
            <a:r>
              <a:rPr lang="en-AU" sz="1200" b="1" dirty="0"/>
              <a:t>The first slide we want to show is our segmented analysis of the revenues for each customer group.</a:t>
            </a:r>
          </a:p>
          <a:p>
            <a:pPr lvl="0">
              <a:defRPr/>
            </a:pPr>
            <a:endParaRPr lang="en-AU" sz="1200" b="1" dirty="0"/>
          </a:p>
          <a:p>
            <a:pPr lvl="0">
              <a:defRPr/>
            </a:pPr>
            <a:r>
              <a:rPr lang="en-AU" sz="1200" b="1" dirty="0"/>
              <a:t>On this slide, we would like you to show the following:</a:t>
            </a:r>
            <a:br>
              <a:rPr lang="en-AU" sz="1200" b="1" dirty="0"/>
            </a:br>
            <a:r>
              <a:rPr lang="en-AU" sz="1200" b="1" dirty="0"/>
              <a:t>A) In a Stacked Column Chart, please include a chart which shows the % that is contributed by each Sales Segment per Unit (Kootha, Surjek and Jutik) </a:t>
            </a:r>
          </a:p>
          <a:p>
            <a:endParaRPr lang="en-AU" sz="1200" b="1" dirty="0"/>
          </a:p>
          <a:p>
            <a:r>
              <a:rPr lang="en-AU" sz="1200" b="1" dirty="0"/>
              <a:t>Remember, when you show these charts, it should clearly show which segments generate the </a:t>
            </a:r>
            <a:r>
              <a:rPr lang="en-AU" sz="1200" b="1" u="sng" dirty="0"/>
              <a:t>most</a:t>
            </a:r>
            <a:r>
              <a:rPr lang="en-AU" sz="1200" b="1" dirty="0"/>
              <a:t> revenues</a:t>
            </a:r>
          </a:p>
          <a:p>
            <a:endParaRPr lang="en-AU" sz="1200" b="1" dirty="0"/>
          </a:p>
          <a:p>
            <a:r>
              <a:rPr lang="en-AU" sz="1200" b="1" dirty="0"/>
              <a:t>Hint: The Chart you’ve created for the Revenues Tab, Q3, may be helpful.</a:t>
            </a:r>
          </a:p>
          <a:p>
            <a:endParaRPr lang="en-AU" sz="1200" b="1" dirty="0"/>
          </a:p>
        </p:txBody>
      </p:sp>
      <p:graphicFrame>
        <p:nvGraphicFramePr>
          <p:cNvPr id="3" name="Chart 2">
            <a:extLst>
              <a:ext uri="{FF2B5EF4-FFF2-40B4-BE49-F238E27FC236}">
                <a16:creationId xmlns:a16="http://schemas.microsoft.com/office/drawing/2014/main" id="{E5BE25A2-4F12-B153-CAB1-1D9ABF16C4FB}"/>
              </a:ext>
            </a:extLst>
          </p:cNvPr>
          <p:cNvGraphicFramePr>
            <a:graphicFrameLocks/>
          </p:cNvGraphicFramePr>
          <p:nvPr>
            <p:extLst>
              <p:ext uri="{D42A27DB-BD31-4B8C-83A1-F6EECF244321}">
                <p14:modId xmlns:p14="http://schemas.microsoft.com/office/powerpoint/2010/main" val="1547414818"/>
              </p:ext>
            </p:extLst>
          </p:nvPr>
        </p:nvGraphicFramePr>
        <p:xfrm>
          <a:off x="3879407" y="1443788"/>
          <a:ext cx="5029643" cy="383389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48477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r>
              <a:rPr lang="en-GB" sz="1400" b="1" dirty="0"/>
              <a:t>Of the ($_437 M_)¹ in Revenue Sales over the July-2013 to June-2014 Period, ___</a:t>
            </a:r>
            <a:r>
              <a:rPr lang="en-GB" sz="1400" b="1" dirty="0" err="1"/>
              <a:t>Surjek</a:t>
            </a:r>
            <a:r>
              <a:rPr lang="en-GB" sz="1400" b="1" dirty="0"/>
              <a:t>_ provides close to 50% of Sales Volumes ($___202 M__), with __Jutik____ ($164 M) and </a:t>
            </a:r>
            <a:r>
              <a:rPr lang="en-GB" sz="1400" b="1" dirty="0" err="1"/>
              <a:t>Kootha</a:t>
            </a:r>
            <a:r>
              <a:rPr lang="en-GB" sz="1400" b="1" dirty="0"/>
              <a:t> ($71 M) providing the remaining.</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728884"/>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5D18292-FE24-4CB2-87CD-299583278E20}"/>
              </a:ext>
            </a:extLst>
          </p:cNvPr>
          <p:cNvSpPr txBox="1"/>
          <p:nvPr/>
        </p:nvSpPr>
        <p:spPr>
          <a:xfrm>
            <a:off x="171451" y="6440271"/>
            <a:ext cx="8512060" cy="246221"/>
          </a:xfrm>
          <a:prstGeom prst="rect">
            <a:avLst/>
          </a:prstGeom>
          <a:noFill/>
        </p:spPr>
        <p:txBody>
          <a:bodyPr wrap="square" rtlCol="0">
            <a:spAutoFit/>
          </a:bodyPr>
          <a:lstStyle/>
          <a:p>
            <a:r>
              <a:rPr lang="en-AU" sz="1000" b="1" dirty="0"/>
              <a:t>Note: This refers to the Total Sales for all 3 Units (Kootha, Surjek and Jutik)</a:t>
            </a:r>
          </a:p>
        </p:txBody>
      </p:sp>
      <p:sp>
        <p:nvSpPr>
          <p:cNvPr id="12" name="Rectangle 11">
            <a:extLst>
              <a:ext uri="{FF2B5EF4-FFF2-40B4-BE49-F238E27FC236}">
                <a16:creationId xmlns:a16="http://schemas.microsoft.com/office/drawing/2014/main" id="{77A5DBE7-3DE7-49FC-8E4D-CF5CF3BE2FD4}"/>
              </a:ext>
            </a:extLst>
          </p:cNvPr>
          <p:cNvSpPr/>
          <p:nvPr/>
        </p:nvSpPr>
        <p:spPr>
          <a:xfrm>
            <a:off x="319771" y="884634"/>
            <a:ext cx="4108199" cy="2839239"/>
          </a:xfrm>
          <a:prstGeom prst="rect">
            <a:avLst/>
          </a:prstGeom>
        </p:spPr>
        <p:txBody>
          <a:bodyPr wrap="square">
            <a:spAutoFit/>
          </a:bodyPr>
          <a:lstStyle/>
          <a:p>
            <a:pPr lvl="0">
              <a:defRPr/>
            </a:pPr>
            <a:r>
              <a:rPr lang="en-AU" sz="1050" b="1" dirty="0"/>
              <a:t>In the previous slide we’ve provided a ‘macro’ view. We now want to compliment this with a ‘micro view’ of the revenues analysis.</a:t>
            </a:r>
            <a:br>
              <a:rPr lang="en-AU" sz="1050" b="1" dirty="0"/>
            </a:br>
            <a:br>
              <a:rPr lang="en-AU" sz="1050" b="1" dirty="0"/>
            </a:br>
            <a:r>
              <a:rPr lang="en-AU" sz="1050" b="1" dirty="0"/>
              <a:t>A micro view by default means we want to show the Units which went into the macro calculation; in this case, it would be the individual revenue trends for Kootha, Surjek and Jutik.</a:t>
            </a:r>
          </a:p>
          <a:p>
            <a:pPr lvl="0">
              <a:defRPr/>
            </a:pPr>
            <a:endParaRPr lang="en-AU" sz="1050" b="1" dirty="0"/>
          </a:p>
          <a:p>
            <a:pPr lvl="0">
              <a:defRPr/>
            </a:pPr>
            <a:r>
              <a:rPr lang="en-AU" sz="1050" b="1" dirty="0"/>
              <a:t>On this slide, we would like you to show the following:</a:t>
            </a:r>
            <a:br>
              <a:rPr lang="en-AU" sz="1050" b="1" dirty="0"/>
            </a:br>
            <a:r>
              <a:rPr lang="en-AU" sz="1050" b="1" dirty="0"/>
              <a:t>A) Create three chart(s), which show the Sales Revenues for each of the three customer segments for Kootha, Surjek and Jutik over the June-2013 to July-2014 Period.</a:t>
            </a:r>
            <a:br>
              <a:rPr lang="en-AU" sz="1050" b="1" dirty="0"/>
            </a:br>
            <a:endParaRPr lang="en-AU" sz="1050" b="1" dirty="0"/>
          </a:p>
          <a:p>
            <a:r>
              <a:rPr lang="en-AU" sz="1050" b="1" dirty="0"/>
              <a:t>Hint: The Chart you’ve created for the Revenues Tab, Q2, may be helpful.</a:t>
            </a:r>
            <a:br>
              <a:rPr lang="en-AU" sz="1050" b="1" dirty="0"/>
            </a:br>
            <a:br>
              <a:rPr lang="en-AU" sz="1050" b="1" dirty="0"/>
            </a:br>
            <a:r>
              <a:rPr lang="en-AU" sz="1050" b="1" dirty="0"/>
              <a:t>We’ve included an example chart on the right!</a:t>
            </a:r>
          </a:p>
        </p:txBody>
      </p:sp>
      <p:graphicFrame>
        <p:nvGraphicFramePr>
          <p:cNvPr id="3" name="Chart 2">
            <a:extLst>
              <a:ext uri="{FF2B5EF4-FFF2-40B4-BE49-F238E27FC236}">
                <a16:creationId xmlns:a16="http://schemas.microsoft.com/office/drawing/2014/main" id="{751BAE10-69C4-A483-169C-9FBCD8538511}"/>
              </a:ext>
            </a:extLst>
          </p:cNvPr>
          <p:cNvGraphicFramePr>
            <a:graphicFrameLocks/>
          </p:cNvGraphicFramePr>
          <p:nvPr>
            <p:extLst>
              <p:ext uri="{D42A27DB-BD31-4B8C-83A1-F6EECF244321}">
                <p14:modId xmlns:p14="http://schemas.microsoft.com/office/powerpoint/2010/main" val="4127142152"/>
              </p:ext>
            </p:extLst>
          </p:nvPr>
        </p:nvGraphicFramePr>
        <p:xfrm>
          <a:off x="4427970" y="728884"/>
          <a:ext cx="4230255" cy="27824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E118F921-777C-1C4F-B6C2-981C1AB89943}"/>
              </a:ext>
            </a:extLst>
          </p:cNvPr>
          <p:cNvGraphicFramePr>
            <a:graphicFrameLocks/>
          </p:cNvGraphicFramePr>
          <p:nvPr>
            <p:extLst>
              <p:ext uri="{D42A27DB-BD31-4B8C-83A1-F6EECF244321}">
                <p14:modId xmlns:p14="http://schemas.microsoft.com/office/powerpoint/2010/main" val="3504566665"/>
              </p:ext>
            </p:extLst>
          </p:nvPr>
        </p:nvGraphicFramePr>
        <p:xfrm>
          <a:off x="4280799" y="3511357"/>
          <a:ext cx="4230255" cy="28757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0CC67372-4C13-5C46-A81C-656E02139FFE}"/>
              </a:ext>
            </a:extLst>
          </p:cNvPr>
          <p:cNvGraphicFramePr>
            <a:graphicFrameLocks/>
          </p:cNvGraphicFramePr>
          <p:nvPr>
            <p:extLst>
              <p:ext uri="{D42A27DB-BD31-4B8C-83A1-F6EECF244321}">
                <p14:modId xmlns:p14="http://schemas.microsoft.com/office/powerpoint/2010/main" val="2533420077"/>
              </p:ext>
            </p:extLst>
          </p:nvPr>
        </p:nvGraphicFramePr>
        <p:xfrm>
          <a:off x="523878" y="3657799"/>
          <a:ext cx="3609750" cy="263185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67657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430887"/>
          </a:xfrm>
        </p:spPr>
        <p:txBody>
          <a:bodyPr/>
          <a:lstStyle/>
          <a:p>
            <a:r>
              <a:rPr lang="en-GB" sz="1400" b="1" dirty="0"/>
              <a:t>Targeted Expense Analysis reveals an interesting trend; Overall Costs sharply increase from December, with ____</a:t>
            </a:r>
            <a:r>
              <a:rPr lang="en-GB" sz="1400" b="1" dirty="0" err="1"/>
              <a:t>Surjek</a:t>
            </a:r>
            <a:r>
              <a:rPr lang="en-GB" sz="1400" b="1" dirty="0"/>
              <a:t>_____, contributing $____179M___ (56%) towards the overall cost-base. </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728884"/>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113BB59-C26A-4B5B-AAC6-AC1F1CBB1AF0}"/>
              </a:ext>
            </a:extLst>
          </p:cNvPr>
          <p:cNvSpPr/>
          <p:nvPr/>
        </p:nvSpPr>
        <p:spPr>
          <a:xfrm>
            <a:off x="303213" y="1238975"/>
            <a:ext cx="3665537" cy="4893647"/>
          </a:xfrm>
          <a:prstGeom prst="rect">
            <a:avLst/>
          </a:prstGeom>
        </p:spPr>
        <p:txBody>
          <a:bodyPr wrap="square">
            <a:spAutoFit/>
          </a:bodyPr>
          <a:lstStyle/>
          <a:p>
            <a:pPr lvl="0">
              <a:defRPr/>
            </a:pPr>
            <a:r>
              <a:rPr lang="en-AU" sz="1200" b="1" dirty="0"/>
              <a:t>We are now going to move to the expenses side of the story. </a:t>
            </a:r>
            <a:br>
              <a:rPr lang="en-AU" sz="1200" b="1" dirty="0"/>
            </a:br>
            <a:br>
              <a:rPr lang="en-AU" sz="1200" b="1" dirty="0"/>
            </a:br>
            <a:r>
              <a:rPr lang="en-AU" sz="1200" b="1" dirty="0"/>
              <a:t>Similar to before, we start with a macro-view of the expenses; </a:t>
            </a:r>
          </a:p>
          <a:p>
            <a:pPr lvl="0">
              <a:defRPr/>
            </a:pPr>
            <a:br>
              <a:rPr lang="en-AU" sz="1200" b="1" dirty="0"/>
            </a:br>
            <a:r>
              <a:rPr lang="en-AU" sz="1200" b="1" dirty="0"/>
              <a:t>Of the three units – which of these have clearly contributed the most to costs? Secondly, what does the aggregate costs look like when grouped by cost centre?</a:t>
            </a:r>
          </a:p>
          <a:p>
            <a:pPr lvl="0">
              <a:defRPr/>
            </a:pPr>
            <a:endParaRPr lang="en-AU" sz="1200" b="1" dirty="0"/>
          </a:p>
          <a:p>
            <a:pPr lvl="0">
              <a:defRPr/>
            </a:pPr>
            <a:r>
              <a:rPr lang="en-AU" sz="1200" b="1" dirty="0"/>
              <a:t>On this slide, we would like you to show the following:</a:t>
            </a:r>
          </a:p>
          <a:p>
            <a:pPr lvl="0">
              <a:defRPr/>
            </a:pPr>
            <a:br>
              <a:rPr lang="en-AU" sz="1200" b="1" dirty="0"/>
            </a:br>
            <a:r>
              <a:rPr lang="en-AU" sz="1200" b="1" dirty="0"/>
              <a:t>A) Create a chart which shows the Aggregate Costs on an individual-unit basis (i.e. Kootha, Surjek and Jutik should all be on the same chart)</a:t>
            </a:r>
          </a:p>
          <a:p>
            <a:pPr lvl="0">
              <a:defRPr/>
            </a:pPr>
            <a:endParaRPr lang="en-AU" sz="1200" b="1" dirty="0"/>
          </a:p>
          <a:p>
            <a:pPr lvl="0">
              <a:defRPr/>
            </a:pPr>
            <a:r>
              <a:rPr lang="en-AU" sz="1200" b="1" dirty="0"/>
              <a:t>B) Create a secondary chart which shows the aggregate costs for </a:t>
            </a:r>
            <a:r>
              <a:rPr lang="en-AU" sz="1200" b="1" u="sng" dirty="0"/>
              <a:t>all units</a:t>
            </a:r>
            <a:r>
              <a:rPr lang="en-AU" sz="1200" u="sng" dirty="0"/>
              <a:t> </a:t>
            </a:r>
            <a:r>
              <a:rPr lang="en-AU" sz="1200" b="1" u="sng" dirty="0"/>
              <a:t>shown by cost centre </a:t>
            </a:r>
          </a:p>
          <a:p>
            <a:pPr lvl="0">
              <a:defRPr/>
            </a:pPr>
            <a:r>
              <a:rPr lang="en-AU" sz="1200" b="1" dirty="0"/>
              <a:t> </a:t>
            </a:r>
          </a:p>
          <a:p>
            <a:r>
              <a:rPr lang="en-AU" sz="1200" b="1" dirty="0"/>
              <a:t>Hint: The Chart you’ve created for the Expenses  Tab, Q5, may be helpful.</a:t>
            </a:r>
            <a:br>
              <a:rPr lang="en-AU" sz="1200" b="1" dirty="0"/>
            </a:br>
            <a:endParaRPr lang="en-AU" sz="1200" b="1" dirty="0"/>
          </a:p>
        </p:txBody>
      </p:sp>
      <p:graphicFrame>
        <p:nvGraphicFramePr>
          <p:cNvPr id="3" name="Chart 2">
            <a:extLst>
              <a:ext uri="{FF2B5EF4-FFF2-40B4-BE49-F238E27FC236}">
                <a16:creationId xmlns:a16="http://schemas.microsoft.com/office/drawing/2014/main" id="{65D7A609-8F20-5184-3269-3DB0B8A9B36D}"/>
              </a:ext>
            </a:extLst>
          </p:cNvPr>
          <p:cNvGraphicFramePr>
            <a:graphicFrameLocks/>
          </p:cNvGraphicFramePr>
          <p:nvPr>
            <p:extLst>
              <p:ext uri="{D42A27DB-BD31-4B8C-83A1-F6EECF244321}">
                <p14:modId xmlns:p14="http://schemas.microsoft.com/office/powerpoint/2010/main" val="1294275085"/>
              </p:ext>
            </p:extLst>
          </p:nvPr>
        </p:nvGraphicFramePr>
        <p:xfrm>
          <a:off x="3826355" y="974689"/>
          <a:ext cx="5082695" cy="28055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46524DD3-2A8D-B4FC-BFCF-E3A3FB469B63}"/>
              </a:ext>
            </a:extLst>
          </p:cNvPr>
          <p:cNvGraphicFramePr>
            <a:graphicFrameLocks/>
          </p:cNvGraphicFramePr>
          <p:nvPr>
            <p:extLst>
              <p:ext uri="{D42A27DB-BD31-4B8C-83A1-F6EECF244321}">
                <p14:modId xmlns:p14="http://schemas.microsoft.com/office/powerpoint/2010/main" val="2682099155"/>
              </p:ext>
            </p:extLst>
          </p:nvPr>
        </p:nvGraphicFramePr>
        <p:xfrm>
          <a:off x="4332854" y="3780230"/>
          <a:ext cx="4069696" cy="25765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44286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91304"/>
            <a:ext cx="8737599" cy="646331"/>
          </a:xfrm>
        </p:spPr>
        <p:txBody>
          <a:bodyPr/>
          <a:lstStyle/>
          <a:p>
            <a:r>
              <a:rPr lang="en-GB" sz="1400" b="1" dirty="0"/>
              <a:t>Further analysis singles-out ___</a:t>
            </a:r>
            <a:r>
              <a:rPr lang="en-GB" sz="1400" b="1" dirty="0" err="1"/>
              <a:t>Surjek</a:t>
            </a:r>
            <a:r>
              <a:rPr lang="en-GB" sz="1400" b="1" dirty="0"/>
              <a:t>__ with _$179M__ (56%) worth of expenses, contrasted to a much lower spend from _</a:t>
            </a:r>
            <a:r>
              <a:rPr lang="en-GB" sz="1400" b="1" dirty="0" err="1"/>
              <a:t>Kootha</a:t>
            </a:r>
            <a:r>
              <a:rPr lang="en-GB" sz="1400" b="1" dirty="0"/>
              <a:t>__ ($51 M) and _Jutik__   ($91M), largely due to lower Chemical and Labour Expenditure. </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728884"/>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D1DDCDC-3E10-4265-8E28-C256F42C790A}"/>
              </a:ext>
            </a:extLst>
          </p:cNvPr>
          <p:cNvSpPr/>
          <p:nvPr/>
        </p:nvSpPr>
        <p:spPr>
          <a:xfrm>
            <a:off x="303213" y="1238975"/>
            <a:ext cx="4161065" cy="2800767"/>
          </a:xfrm>
          <a:prstGeom prst="rect">
            <a:avLst/>
          </a:prstGeom>
        </p:spPr>
        <p:txBody>
          <a:bodyPr wrap="square">
            <a:spAutoFit/>
          </a:bodyPr>
          <a:lstStyle/>
          <a:p>
            <a:pPr lvl="0">
              <a:defRPr/>
            </a:pPr>
            <a:r>
              <a:rPr lang="en-AU" sz="1100" b="1" dirty="0"/>
              <a:t>We’ve now told the expenses story from a macro view, it’s time we focus on the story now from a micro view. </a:t>
            </a:r>
            <a:br>
              <a:rPr lang="en-AU" sz="1100" b="1" dirty="0"/>
            </a:br>
            <a:endParaRPr lang="en-AU" sz="1100" b="1" dirty="0"/>
          </a:p>
          <a:p>
            <a:pPr lvl="0">
              <a:defRPr/>
            </a:pPr>
            <a:r>
              <a:rPr lang="en-AU" sz="1100" b="1" dirty="0"/>
              <a:t>This means creating three charts (one for each unit) which showcases the aggregate costs per cost centre group.</a:t>
            </a:r>
          </a:p>
          <a:p>
            <a:pPr lvl="0">
              <a:defRPr/>
            </a:pPr>
            <a:br>
              <a:rPr lang="en-AU" sz="1100" b="1" dirty="0"/>
            </a:br>
            <a:r>
              <a:rPr lang="en-AU" sz="1100" b="1" dirty="0"/>
              <a:t>On this slide, we would like you to show the following:</a:t>
            </a:r>
          </a:p>
          <a:p>
            <a:pPr lvl="0">
              <a:defRPr/>
            </a:pPr>
            <a:br>
              <a:rPr lang="en-AU" sz="1100" b="1" dirty="0"/>
            </a:br>
            <a:r>
              <a:rPr lang="en-AU" sz="1100" b="1" dirty="0"/>
              <a:t>A) Create a chart which shows the Aggregate Costs on an individual-unit basis with expenses grouped by cost centre (i.e. Kootha, Surjek and Jutik should all be on separate charts) </a:t>
            </a:r>
          </a:p>
          <a:p>
            <a:pPr lvl="0">
              <a:defRPr/>
            </a:pPr>
            <a:r>
              <a:rPr lang="en-AU" sz="1100" b="1" dirty="0"/>
              <a:t> </a:t>
            </a:r>
          </a:p>
          <a:p>
            <a:r>
              <a:rPr lang="en-AU" sz="1100" b="1" dirty="0"/>
              <a:t>Hint: The Chart you’ve created for the Expenses  Tab, Q6, may be helpful.</a:t>
            </a:r>
            <a:br>
              <a:rPr lang="en-AU" sz="1100" b="1" dirty="0"/>
            </a:br>
            <a:endParaRPr lang="en-AU" sz="1100" b="1" dirty="0"/>
          </a:p>
        </p:txBody>
      </p:sp>
      <p:graphicFrame>
        <p:nvGraphicFramePr>
          <p:cNvPr id="3" name="Chart 2">
            <a:extLst>
              <a:ext uri="{FF2B5EF4-FFF2-40B4-BE49-F238E27FC236}">
                <a16:creationId xmlns:a16="http://schemas.microsoft.com/office/drawing/2014/main" id="{40746F9E-5C3C-2574-66CA-DACCD83156FB}"/>
              </a:ext>
            </a:extLst>
          </p:cNvPr>
          <p:cNvGraphicFramePr>
            <a:graphicFrameLocks/>
          </p:cNvGraphicFramePr>
          <p:nvPr>
            <p:extLst>
              <p:ext uri="{D42A27DB-BD31-4B8C-83A1-F6EECF244321}">
                <p14:modId xmlns:p14="http://schemas.microsoft.com/office/powerpoint/2010/main" val="3338637753"/>
              </p:ext>
            </p:extLst>
          </p:nvPr>
        </p:nvGraphicFramePr>
        <p:xfrm>
          <a:off x="4244604" y="872602"/>
          <a:ext cx="4857750" cy="28829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5ADA955B-91AB-3746-A81B-A3875632CF0E}"/>
              </a:ext>
            </a:extLst>
          </p:cNvPr>
          <p:cNvGraphicFramePr>
            <a:graphicFrameLocks/>
          </p:cNvGraphicFramePr>
          <p:nvPr>
            <p:extLst>
              <p:ext uri="{D42A27DB-BD31-4B8C-83A1-F6EECF244321}">
                <p14:modId xmlns:p14="http://schemas.microsoft.com/office/powerpoint/2010/main" val="3950894162"/>
              </p:ext>
            </p:extLst>
          </p:nvPr>
        </p:nvGraphicFramePr>
        <p:xfrm>
          <a:off x="0" y="3755502"/>
          <a:ext cx="4712677" cy="28813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51832C8C-BF62-964F-A7B6-A586977A8748}"/>
              </a:ext>
            </a:extLst>
          </p:cNvPr>
          <p:cNvGraphicFramePr>
            <a:graphicFrameLocks/>
          </p:cNvGraphicFramePr>
          <p:nvPr>
            <p:extLst>
              <p:ext uri="{D42A27DB-BD31-4B8C-83A1-F6EECF244321}">
                <p14:modId xmlns:p14="http://schemas.microsoft.com/office/powerpoint/2010/main" val="701647718"/>
              </p:ext>
            </p:extLst>
          </p:nvPr>
        </p:nvGraphicFramePr>
        <p:xfrm>
          <a:off x="4540250" y="3755502"/>
          <a:ext cx="4562104" cy="27746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11419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r>
              <a:rPr lang="en-GB" sz="1400" b="1" dirty="0"/>
              <a:t>Drilling-down to the cost-element level, reveals an indicative relationship between water production and chemical expenditure with this being particularly pronounced for the _</a:t>
            </a:r>
            <a:r>
              <a:rPr lang="en-GB" sz="1400" b="1" dirty="0" err="1"/>
              <a:t>Surjek</a:t>
            </a:r>
            <a:r>
              <a:rPr lang="en-GB" sz="1400" b="1" dirty="0"/>
              <a:t>__ Unit which coincidentally has the highest rate of water production. </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913080"/>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523E659-7992-4D86-97D9-71CDE4327174}"/>
              </a:ext>
            </a:extLst>
          </p:cNvPr>
          <p:cNvSpPr/>
          <p:nvPr/>
        </p:nvSpPr>
        <p:spPr>
          <a:xfrm>
            <a:off x="303213" y="1238975"/>
            <a:ext cx="4288884" cy="2908489"/>
          </a:xfrm>
          <a:prstGeom prst="rect">
            <a:avLst/>
          </a:prstGeom>
        </p:spPr>
        <p:txBody>
          <a:bodyPr wrap="square">
            <a:spAutoFit/>
          </a:bodyPr>
          <a:lstStyle/>
          <a:p>
            <a:pPr lvl="0">
              <a:defRPr/>
            </a:pPr>
            <a:r>
              <a:rPr lang="en-AU" sz="900" b="1" dirty="0"/>
              <a:t>We’ve now identified that a particular cost group (chemicals) is responsible for a significant portion of the costs. </a:t>
            </a:r>
            <a:br>
              <a:rPr lang="en-AU" sz="900" b="1" dirty="0"/>
            </a:br>
            <a:br>
              <a:rPr lang="en-AU" sz="900" b="1" dirty="0"/>
            </a:br>
            <a:r>
              <a:rPr lang="en-AU" sz="900" b="1" dirty="0"/>
              <a:t>It’s time for us to drill-down a bit further and illustrate this story with a graphic.</a:t>
            </a:r>
            <a:br>
              <a:rPr lang="en-AU" sz="900" b="1" dirty="0"/>
            </a:br>
            <a:br>
              <a:rPr lang="en-AU" sz="900" b="1" dirty="0"/>
            </a:br>
            <a:r>
              <a:rPr lang="en-AU" sz="900" b="1" dirty="0"/>
              <a:t>We want to show-case the Chemical Expenditure for each month, trended against the Water Production.</a:t>
            </a:r>
          </a:p>
          <a:p>
            <a:pPr lvl="0">
              <a:defRPr/>
            </a:pPr>
            <a:endParaRPr lang="en-AU" sz="900" b="1" dirty="0"/>
          </a:p>
          <a:p>
            <a:pPr lvl="0">
              <a:defRPr/>
            </a:pPr>
            <a:r>
              <a:rPr lang="en-AU" sz="900" b="1" dirty="0"/>
              <a:t>This will let us know whether or not there is a relationship between Chemical Expenditure and Water Production Volumes. </a:t>
            </a:r>
          </a:p>
          <a:p>
            <a:pPr lvl="0">
              <a:defRPr/>
            </a:pPr>
            <a:br>
              <a:rPr lang="en-AU" sz="900" b="1" dirty="0"/>
            </a:br>
            <a:r>
              <a:rPr lang="en-AU" sz="900" b="1" dirty="0"/>
              <a:t>On this slide, we would like you to show the following:</a:t>
            </a:r>
          </a:p>
          <a:p>
            <a:pPr lvl="0">
              <a:defRPr/>
            </a:pPr>
            <a:br>
              <a:rPr lang="en-AU" sz="900" b="1" dirty="0"/>
            </a:br>
            <a:r>
              <a:rPr lang="en-AU" sz="900" b="1" dirty="0"/>
              <a:t>A) Create a chart (similar to the example shown on the right) which shows the Monthly Chemical Expenditure Per Month, versus Monthly Water Production for each of the three Units (Kootha, Surjek and Jutik). </a:t>
            </a:r>
          </a:p>
          <a:p>
            <a:pPr lvl="0">
              <a:defRPr/>
            </a:pPr>
            <a:r>
              <a:rPr lang="en-AU" sz="900" b="1" dirty="0"/>
              <a:t> </a:t>
            </a:r>
          </a:p>
          <a:p>
            <a:r>
              <a:rPr lang="en-AU" sz="900" b="1" dirty="0"/>
              <a:t>Hint: The Chart you’ve created for the Expenses  Tab, Q7, may be helpful.</a:t>
            </a:r>
            <a:br>
              <a:rPr lang="en-AU" sz="1200" b="1" dirty="0"/>
            </a:br>
            <a:endParaRPr lang="en-AU" sz="1200" b="1" dirty="0"/>
          </a:p>
        </p:txBody>
      </p:sp>
      <p:graphicFrame>
        <p:nvGraphicFramePr>
          <p:cNvPr id="3" name="Chart 2">
            <a:extLst>
              <a:ext uri="{FF2B5EF4-FFF2-40B4-BE49-F238E27FC236}">
                <a16:creationId xmlns:a16="http://schemas.microsoft.com/office/drawing/2014/main" id="{C19069C0-157C-6D6A-3469-DFC00E83784D}"/>
              </a:ext>
            </a:extLst>
          </p:cNvPr>
          <p:cNvGraphicFramePr>
            <a:graphicFrameLocks/>
          </p:cNvGraphicFramePr>
          <p:nvPr>
            <p:extLst>
              <p:ext uri="{D42A27DB-BD31-4B8C-83A1-F6EECF244321}">
                <p14:modId xmlns:p14="http://schemas.microsoft.com/office/powerpoint/2010/main" val="2952471187"/>
              </p:ext>
            </p:extLst>
          </p:nvPr>
        </p:nvGraphicFramePr>
        <p:xfrm>
          <a:off x="4391025" y="855818"/>
          <a:ext cx="4572000" cy="2933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2874F390-E64A-1E40-A208-9B6CAC9A9B73}"/>
              </a:ext>
            </a:extLst>
          </p:cNvPr>
          <p:cNvGraphicFramePr>
            <a:graphicFrameLocks/>
          </p:cNvGraphicFramePr>
          <p:nvPr>
            <p:extLst>
              <p:ext uri="{D42A27DB-BD31-4B8C-83A1-F6EECF244321}">
                <p14:modId xmlns:p14="http://schemas.microsoft.com/office/powerpoint/2010/main" val="2363578206"/>
              </p:ext>
            </p:extLst>
          </p:nvPr>
        </p:nvGraphicFramePr>
        <p:xfrm>
          <a:off x="20097" y="3813860"/>
          <a:ext cx="4572000" cy="2933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61DDF01E-FFB9-D743-BCD1-360EC500D260}"/>
              </a:ext>
            </a:extLst>
          </p:cNvPr>
          <p:cNvGraphicFramePr>
            <a:graphicFrameLocks/>
          </p:cNvGraphicFramePr>
          <p:nvPr>
            <p:extLst>
              <p:ext uri="{D42A27DB-BD31-4B8C-83A1-F6EECF244321}">
                <p14:modId xmlns:p14="http://schemas.microsoft.com/office/powerpoint/2010/main" val="4000472541"/>
              </p:ext>
            </p:extLst>
          </p:nvPr>
        </p:nvGraphicFramePr>
        <p:xfrm>
          <a:off x="4522787" y="3732255"/>
          <a:ext cx="4271421" cy="27416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76998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23248"/>
          </a:xfrm>
        </p:spPr>
        <p:txBody>
          <a:bodyPr/>
          <a:lstStyle/>
          <a:p>
            <a:r>
              <a:rPr lang="en-AU" sz="1350" b="1" dirty="0"/>
              <a:t>Concluding our analysis, __Jutik_ has the highest overall EBIT contributions ($73M), followed by __</a:t>
            </a:r>
            <a:r>
              <a:rPr lang="en-AU" sz="1350" b="1" dirty="0" err="1"/>
              <a:t>Surjek</a:t>
            </a:r>
            <a:r>
              <a:rPr lang="en-AU" sz="1350" b="1" dirty="0"/>
              <a:t>__($_23M), and lastly </a:t>
            </a:r>
            <a:r>
              <a:rPr lang="en-AU" sz="1350" b="1" dirty="0" err="1"/>
              <a:t>Kootha</a:t>
            </a:r>
            <a:r>
              <a:rPr lang="en-AU" sz="1350" b="1" dirty="0"/>
              <a:t> ($20M). However, from an EBIT  Margin (%) perspective, Kootha has a higher margin than that of __</a:t>
            </a:r>
            <a:r>
              <a:rPr lang="en-AU" sz="1350" b="1" dirty="0" err="1"/>
              <a:t>Surjek</a:t>
            </a:r>
            <a:r>
              <a:rPr lang="en-AU" sz="1350" b="1" dirty="0"/>
              <a:t>__, indicative of a lower revenue-to-expense ratio.¹ </a:t>
            </a:r>
          </a:p>
        </p:txBody>
      </p:sp>
      <p:sp>
        <p:nvSpPr>
          <p:cNvPr id="30" name="TextBox 29">
            <a:extLst>
              <a:ext uri="{FF2B5EF4-FFF2-40B4-BE49-F238E27FC236}">
                <a16:creationId xmlns:a16="http://schemas.microsoft.com/office/drawing/2014/main" id="{A9EFAD5F-5947-4F50-9D03-73E482BF7380}"/>
              </a:ext>
            </a:extLst>
          </p:cNvPr>
          <p:cNvSpPr txBox="1"/>
          <p:nvPr/>
        </p:nvSpPr>
        <p:spPr>
          <a:xfrm>
            <a:off x="134995" y="6351664"/>
            <a:ext cx="8512060" cy="369332"/>
          </a:xfrm>
          <a:prstGeom prst="rect">
            <a:avLst/>
          </a:prstGeom>
          <a:noFill/>
        </p:spPr>
        <p:txBody>
          <a:bodyPr wrap="square" rtlCol="0">
            <a:spAutoFit/>
          </a:bodyPr>
          <a:lstStyle/>
          <a:p>
            <a:r>
              <a:rPr lang="en-AU" sz="900" b="1" dirty="0"/>
              <a:t>Note:¹ We can clearly see for Surjek over the October, November and May Periods – expenses were far higher than revenues which contributed to this lower revenue-to-expense ratio. </a:t>
            </a:r>
          </a:p>
        </p:txBody>
      </p:sp>
      <p:sp>
        <p:nvSpPr>
          <p:cNvPr id="31" name="Rectangle 30">
            <a:extLst>
              <a:ext uri="{FF2B5EF4-FFF2-40B4-BE49-F238E27FC236}">
                <a16:creationId xmlns:a16="http://schemas.microsoft.com/office/drawing/2014/main" id="{F3D0ED9C-5523-4B1C-A07E-11C1F219EC79}"/>
              </a:ext>
            </a:extLst>
          </p:cNvPr>
          <p:cNvSpPr/>
          <p:nvPr/>
        </p:nvSpPr>
        <p:spPr>
          <a:xfrm>
            <a:off x="134995" y="1040872"/>
            <a:ext cx="3665537" cy="4708981"/>
          </a:xfrm>
          <a:prstGeom prst="rect">
            <a:avLst/>
          </a:prstGeom>
        </p:spPr>
        <p:txBody>
          <a:bodyPr wrap="square">
            <a:spAutoFit/>
          </a:bodyPr>
          <a:lstStyle/>
          <a:p>
            <a:pPr lvl="0">
              <a:defRPr/>
            </a:pPr>
            <a:r>
              <a:rPr lang="en-AU" sz="1200" b="1" dirty="0"/>
              <a:t>We’re now at the final slide for our story.</a:t>
            </a:r>
            <a:br>
              <a:rPr lang="en-AU" sz="1200" b="1" dirty="0"/>
            </a:br>
            <a:r>
              <a:rPr lang="en-AU" sz="1200" b="1" dirty="0"/>
              <a:t>We’ve shown the revenues, we’ve unpacked the expenditures and now, finally, we’re going to close out the analysis by showing the overall EBIT for each unit.</a:t>
            </a:r>
            <a:br>
              <a:rPr lang="en-AU" sz="1200" b="1" dirty="0"/>
            </a:br>
            <a:br>
              <a:rPr lang="en-AU" sz="1200" b="1" dirty="0"/>
            </a:br>
            <a:r>
              <a:rPr lang="en-AU" sz="1200" b="1" dirty="0"/>
              <a:t>In this Slide, we want to convey to the audience which Unit(s) bring in the most EBIT from both a EBIT ($) perspective as well as highlighting the EBIT Margin – Do any units have lower revenues than another unit, but higher EBIT Margins, indicating they are most cost effective? </a:t>
            </a:r>
          </a:p>
          <a:p>
            <a:pPr lvl="0">
              <a:defRPr/>
            </a:pPr>
            <a:br>
              <a:rPr lang="en-AU" sz="1200" b="1" dirty="0"/>
            </a:br>
            <a:r>
              <a:rPr lang="en-AU" sz="1200" b="1" dirty="0"/>
              <a:t>It’s time for us to close out this story below: </a:t>
            </a:r>
            <a:br>
              <a:rPr lang="en-AU" sz="1200" b="1" dirty="0"/>
            </a:br>
            <a:br>
              <a:rPr lang="en-AU" sz="1200" b="1" dirty="0"/>
            </a:br>
            <a:r>
              <a:rPr lang="en-AU" sz="1200" b="1" dirty="0"/>
              <a:t>A) Create two charts which highlight the overall EBIT per Unit (i.e. Kootha, Surjek and Jutik), as well as a second chart which shows the EBIT Trends for each Unit on a monthly basis (June-13 to June-14). </a:t>
            </a:r>
          </a:p>
          <a:p>
            <a:pPr lvl="0">
              <a:defRPr/>
            </a:pPr>
            <a:r>
              <a:rPr lang="en-AU" sz="1200" b="1" dirty="0"/>
              <a:t> </a:t>
            </a:r>
          </a:p>
          <a:p>
            <a:r>
              <a:rPr lang="en-AU" sz="1200" b="1" dirty="0"/>
              <a:t>Hint: The Chart you’ve created for the Expenses  Tab, Q9, may be helpful.</a:t>
            </a:r>
            <a:br>
              <a:rPr lang="en-AU" sz="1200" b="1" dirty="0"/>
            </a:br>
            <a:endParaRPr lang="en-AU" sz="1200" b="1" dirty="0"/>
          </a:p>
        </p:txBody>
      </p:sp>
      <p:cxnSp>
        <p:nvCxnSpPr>
          <p:cNvPr id="32" name="Straight Connector 31">
            <a:extLst>
              <a:ext uri="{FF2B5EF4-FFF2-40B4-BE49-F238E27FC236}">
                <a16:creationId xmlns:a16="http://schemas.microsoft.com/office/drawing/2014/main" id="{D28A3BF8-BBF4-43D8-9B9B-1BA918AB5CD5}"/>
              </a:ext>
            </a:extLst>
          </p:cNvPr>
          <p:cNvCxnSpPr/>
          <p:nvPr/>
        </p:nvCxnSpPr>
        <p:spPr>
          <a:xfrm>
            <a:off x="171451" y="913080"/>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3" name="Chart 2">
            <a:extLst>
              <a:ext uri="{FF2B5EF4-FFF2-40B4-BE49-F238E27FC236}">
                <a16:creationId xmlns:a16="http://schemas.microsoft.com/office/drawing/2014/main" id="{3A3146F5-E907-F832-2FDA-41B45D8F36BC}"/>
              </a:ext>
            </a:extLst>
          </p:cNvPr>
          <p:cNvGraphicFramePr>
            <a:graphicFrameLocks/>
          </p:cNvGraphicFramePr>
          <p:nvPr>
            <p:extLst>
              <p:ext uri="{D42A27DB-BD31-4B8C-83A1-F6EECF244321}">
                <p14:modId xmlns:p14="http://schemas.microsoft.com/office/powerpoint/2010/main" val="3158355309"/>
              </p:ext>
            </p:extLst>
          </p:nvPr>
        </p:nvGraphicFramePr>
        <p:xfrm>
          <a:off x="4750991" y="729345"/>
          <a:ext cx="4075452" cy="29311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8BE449DF-ABF7-AEDE-68A3-97B97FBC856D}"/>
              </a:ext>
            </a:extLst>
          </p:cNvPr>
          <p:cNvGraphicFramePr>
            <a:graphicFrameLocks/>
          </p:cNvGraphicFramePr>
          <p:nvPr>
            <p:extLst>
              <p:ext uri="{D42A27DB-BD31-4B8C-83A1-F6EECF244321}">
                <p14:modId xmlns:p14="http://schemas.microsoft.com/office/powerpoint/2010/main" val="1805999313"/>
              </p:ext>
            </p:extLst>
          </p:nvPr>
        </p:nvGraphicFramePr>
        <p:xfrm>
          <a:off x="3946051" y="3629939"/>
          <a:ext cx="4742307" cy="27217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44805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AME" val="Moon"/>
  <p:tag name="TYPE" val="McK Moon"/>
</p:tagLst>
</file>

<file path=ppt/tags/tag3.xml><?xml version="1.0" encoding="utf-8"?>
<p:tagLst xmlns:a="http://schemas.openxmlformats.org/drawingml/2006/main" xmlns:r="http://schemas.openxmlformats.org/officeDocument/2006/relationships" xmlns:p="http://schemas.openxmlformats.org/presentationml/2006/main">
  <p:tag name="NAME" val="Moon"/>
</p:tagLst>
</file>

<file path=ppt/tags/tag4.xml><?xml version="1.0" encoding="utf-8"?>
<p:tagLst xmlns:a="http://schemas.openxmlformats.org/drawingml/2006/main" xmlns:r="http://schemas.openxmlformats.org/officeDocument/2006/relationships" xmlns:p="http://schemas.openxmlformats.org/presentationml/2006/main">
  <p:tag name="NAME" val="Moon"/>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0.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1.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2.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13.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4.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6.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8.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heme/theme1.xml><?xml version="1.0" encoding="utf-8"?>
<a:theme xmlns:a="http://schemas.openxmlformats.org/drawingml/2006/main" name="1_Synergy_CF_YNR013">
  <a:themeElements>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ynergy_CF_YNR013.potx" id="{5B0B8770-4875-4F3D-A851-ED2332DB7D84}" vid="{3E5BE603-DDA9-4662-BF9D-F22E86449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14777</TotalTime>
  <Words>1302</Words>
  <Application>Microsoft Macintosh PowerPoint</Application>
  <PresentationFormat>Custom</PresentationFormat>
  <Paragraphs>68</Paragraphs>
  <Slides>6</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0" baseType="lpstr">
      <vt:lpstr>Arial</vt:lpstr>
      <vt:lpstr>Calibri</vt:lpstr>
      <vt:lpstr>1_Synergy_CF_YNR013</vt:lpstr>
      <vt:lpstr>think-cell Slide</vt:lpstr>
      <vt:lpstr>Segmentation of the revenues by unit, reveals that of the three (3) customer segments, _Private Water Hedge Sales_ ($187M) are the most popular, followed by __Public Sales____ ($147M) and lastly __Residential sales Sales ($102M_). </vt:lpstr>
      <vt:lpstr>Of the ($_437 M_)¹ in Revenue Sales over the July-2013 to June-2014 Period, ___Surjek_ provides close to 50% of Sales Volumes ($___202 M__), with __Jutik____ ($164 M) and Kootha ($71 M) providing the remaining.</vt:lpstr>
      <vt:lpstr>Targeted Expense Analysis reveals an interesting trend; Overall Costs sharply increase from December, with ____Surjek_____, contributing $____179M___ (56%) towards the overall cost-base. </vt:lpstr>
      <vt:lpstr>Further analysis singles-out ___Surjek__ with _$179M__ (56%) worth of expenses, contrasted to a much lower spend from _Kootha__ ($51 M) and _Jutik__   ($91M), largely due to lower Chemical and Labour Expenditure. </vt:lpstr>
      <vt:lpstr>Drilling-down to the cost-element level, reveals an indicative relationship between water production and chemical expenditure with this being particularly pronounced for the _Surjek__ Unit which coincidentally has the highest rate of water production. </vt:lpstr>
      <vt:lpstr>Concluding our analysis, __Jutik_ has the highest overall EBIT contributions ($73M), followed by __Surjek__($_23M), and lastly Kootha ($20M). However, from an EBIT  Margin (%) perspective, Kootha has a higher margin than that of __Surjek__, indicative of a lower revenue-to-expense ratio.¹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focusing our efforts on the units with the majority of questions; we can be confident that we are improving the overall User Experience etc.</dc:title>
  <dc:creator>Christopher H</dc:creator>
  <cp:lastModifiedBy>Ariel Sebastian Farelas Lazaro</cp:lastModifiedBy>
  <cp:revision>67</cp:revision>
  <dcterms:created xsi:type="dcterms:W3CDTF">2020-04-12T13:23:13Z</dcterms:created>
  <dcterms:modified xsi:type="dcterms:W3CDTF">2025-08-28T02:37:55Z</dcterms:modified>
</cp:coreProperties>
</file>