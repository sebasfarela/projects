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85"/>
    <p:restoredTop sz="56763"/>
  </p:normalViewPr>
  <p:slideViewPr>
    <p:cSldViewPr snapToGrid="0">
      <p:cViewPr varScale="1">
        <p:scale>
          <a:sx n="87" d="100"/>
          <a:sy n="87" d="100"/>
        </p:scale>
        <p:origin x="320"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el Sebastian Farelas Lazaro" userId="1a9187d6-15d9-4228-a7e1-8dd89972ed52" providerId="ADAL" clId="{FA2E4CBD-115D-55B4-B72B-BC8AC780125D}"/>
    <pc:docChg chg="undo custSel addSld delSld modSld">
      <pc:chgData name="Ariel Sebastian Farelas Lazaro" userId="1a9187d6-15d9-4228-a7e1-8dd89972ed52" providerId="ADAL" clId="{FA2E4CBD-115D-55B4-B72B-BC8AC780125D}" dt="2025-09-19T01:41:52.254" v="1363" actId="2696"/>
      <pc:docMkLst>
        <pc:docMk/>
      </pc:docMkLst>
      <pc:sldChg chg="modSp mod">
        <pc:chgData name="Ariel Sebastian Farelas Lazaro" userId="1a9187d6-15d9-4228-a7e1-8dd89972ed52" providerId="ADAL" clId="{FA2E4CBD-115D-55B4-B72B-BC8AC780125D}" dt="2025-09-19T01:41:18.428" v="1362" actId="20577"/>
        <pc:sldMkLst>
          <pc:docMk/>
          <pc:sldMk cId="0" sldId="256"/>
        </pc:sldMkLst>
        <pc:spChg chg="mod">
          <ac:chgData name="Ariel Sebastian Farelas Lazaro" userId="1a9187d6-15d9-4228-a7e1-8dd89972ed52" providerId="ADAL" clId="{FA2E4CBD-115D-55B4-B72B-BC8AC780125D}" dt="2025-09-19T01:03:19.691" v="393" actId="20577"/>
          <ac:spMkLst>
            <pc:docMk/>
            <pc:sldMk cId="0" sldId="256"/>
            <ac:spMk id="34" creationId="{00000000-0000-0000-0000-000000000000}"/>
          </ac:spMkLst>
        </pc:spChg>
        <pc:spChg chg="mod">
          <ac:chgData name="Ariel Sebastian Farelas Lazaro" userId="1a9187d6-15d9-4228-a7e1-8dd89972ed52" providerId="ADAL" clId="{FA2E4CBD-115D-55B4-B72B-BC8AC780125D}" dt="2025-09-19T01:09:11.420" v="692" actId="20577"/>
          <ac:spMkLst>
            <pc:docMk/>
            <pc:sldMk cId="0" sldId="256"/>
            <ac:spMk id="35" creationId="{00000000-0000-0000-0000-000000000000}"/>
          </ac:spMkLst>
        </pc:spChg>
        <pc:spChg chg="mod">
          <ac:chgData name="Ariel Sebastian Farelas Lazaro" userId="1a9187d6-15d9-4228-a7e1-8dd89972ed52" providerId="ADAL" clId="{FA2E4CBD-115D-55B4-B72B-BC8AC780125D}" dt="2025-09-19T01:27:29.392" v="976" actId="20577"/>
          <ac:spMkLst>
            <pc:docMk/>
            <pc:sldMk cId="0" sldId="256"/>
            <ac:spMk id="36" creationId="{00000000-0000-0000-0000-000000000000}"/>
          </ac:spMkLst>
        </pc:spChg>
        <pc:spChg chg="mod">
          <ac:chgData name="Ariel Sebastian Farelas Lazaro" userId="1a9187d6-15d9-4228-a7e1-8dd89972ed52" providerId="ADAL" clId="{FA2E4CBD-115D-55B4-B72B-BC8AC780125D}" dt="2025-09-19T01:35:14.104" v="1282" actId="20577"/>
          <ac:spMkLst>
            <pc:docMk/>
            <pc:sldMk cId="0" sldId="256"/>
            <ac:spMk id="37" creationId="{00000000-0000-0000-0000-000000000000}"/>
          </ac:spMkLst>
        </pc:spChg>
        <pc:spChg chg="mod">
          <ac:chgData name="Ariel Sebastian Farelas Lazaro" userId="1a9187d6-15d9-4228-a7e1-8dd89972ed52" providerId="ADAL" clId="{FA2E4CBD-115D-55B4-B72B-BC8AC780125D}" dt="2025-09-19T01:41:18.428" v="1362" actId="20577"/>
          <ac:spMkLst>
            <pc:docMk/>
            <pc:sldMk cId="0" sldId="256"/>
            <ac:spMk id="38" creationId="{00000000-0000-0000-0000-000000000000}"/>
          </ac:spMkLst>
        </pc:spChg>
        <pc:spChg chg="mod">
          <ac:chgData name="Ariel Sebastian Farelas Lazaro" userId="1a9187d6-15d9-4228-a7e1-8dd89972ed52" providerId="ADAL" clId="{FA2E4CBD-115D-55B4-B72B-BC8AC780125D}" dt="2025-09-19T01:37:29.920" v="1306" actId="20577"/>
          <ac:spMkLst>
            <pc:docMk/>
            <pc:sldMk cId="0" sldId="256"/>
            <ac:spMk id="47" creationId="{00000000-0000-0000-0000-000000000000}"/>
          </ac:spMkLst>
        </pc:spChg>
        <pc:spChg chg="mod">
          <ac:chgData name="Ariel Sebastian Farelas Lazaro" userId="1a9187d6-15d9-4228-a7e1-8dd89972ed52" providerId="ADAL" clId="{FA2E4CBD-115D-55B4-B72B-BC8AC780125D}" dt="2025-09-19T00:56:51.981" v="33" actId="20577"/>
          <ac:spMkLst>
            <pc:docMk/>
            <pc:sldMk cId="0" sldId="256"/>
            <ac:spMk id="48" creationId="{00000000-0000-0000-0000-000000000000}"/>
          </ac:spMkLst>
        </pc:spChg>
      </pc:sldChg>
      <pc:sldChg chg="add del">
        <pc:chgData name="Ariel Sebastian Farelas Lazaro" userId="1a9187d6-15d9-4228-a7e1-8dd89972ed52" providerId="ADAL" clId="{FA2E4CBD-115D-55B4-B72B-BC8AC780125D}" dt="2025-09-19T01:41:52.254" v="1363" actId="2696"/>
        <pc:sldMkLst>
          <pc:docMk/>
          <pc:sldMk cId="2706669158"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p:cNvSpPr/>
          <p:nvPr/>
        </p:nvSpPr>
        <p:spPr>
          <a:xfrm>
            <a:off x="4587388"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p:cNvSpPr/>
          <p:nvPr/>
        </p:nvSpPr>
        <p:spPr>
          <a:xfrm>
            <a:off x="218936"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p:cNvSpPr/>
          <p:nvPr/>
        </p:nvSpPr>
        <p:spPr>
          <a:xfrm>
            <a:off x="4668375"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601195"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Context</a:t>
            </a: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5050634"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Constraints within solution space</a:t>
            </a:r>
            <a:endParaRPr sz="1400" b="0" i="0" u="none" strike="noStrike" cap="none">
              <a:solidFill>
                <a:srgbClr val="000000"/>
              </a:solidFill>
              <a:latin typeface="Arial"/>
              <a:ea typeface="Arial"/>
              <a:cs typeface="Arial"/>
              <a:sym typeface="Arial"/>
            </a:endParaRPr>
          </a:p>
        </p:txBody>
      </p:sp>
      <p:sp>
        <p:nvSpPr>
          <p:cNvPr id="26" name="Google Shape;26;p1"/>
          <p:cNvSpPr/>
          <p:nvPr/>
        </p:nvSpPr>
        <p:spPr>
          <a:xfrm>
            <a:off x="4668375"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218936"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28" name="Google Shape;28;p1"/>
          <p:cNvSpPr/>
          <p:nvPr/>
        </p:nvSpPr>
        <p:spPr>
          <a:xfrm>
            <a:off x="601195"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Criteria for success</a:t>
            </a:r>
            <a:endParaRPr sz="1400" b="0" i="0" u="none" strike="noStrike" cap="none">
              <a:solidFill>
                <a:srgbClr val="000000"/>
              </a:solidFill>
              <a:latin typeface="Arial"/>
              <a:ea typeface="Arial"/>
              <a:cs typeface="Arial"/>
              <a:sym typeface="Arial"/>
            </a:endParaRPr>
          </a:p>
        </p:txBody>
      </p:sp>
      <p:sp>
        <p:nvSpPr>
          <p:cNvPr id="29" name="Google Shape;29;p1"/>
          <p:cNvSpPr/>
          <p:nvPr/>
        </p:nvSpPr>
        <p:spPr>
          <a:xfrm>
            <a:off x="5050634"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Stakeholders to provide key insight</a:t>
            </a:r>
            <a:endParaRPr sz="1400" b="0" i="0" u="none" strike="noStrike" cap="none">
              <a:solidFill>
                <a:srgbClr val="000000"/>
              </a:solidFill>
              <a:latin typeface="Arial"/>
              <a:ea typeface="Arial"/>
              <a:cs typeface="Arial"/>
              <a:sym typeface="Arial"/>
            </a:endParaRPr>
          </a:p>
        </p:txBody>
      </p:sp>
      <p:sp>
        <p:nvSpPr>
          <p:cNvPr id="30" name="Google Shape;30;p1"/>
          <p:cNvSpPr/>
          <p:nvPr/>
        </p:nvSpPr>
        <p:spPr>
          <a:xfrm>
            <a:off x="218936"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1" name="Google Shape;31;p1"/>
          <p:cNvSpPr/>
          <p:nvPr/>
        </p:nvSpPr>
        <p:spPr>
          <a:xfrm>
            <a:off x="4668375"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601195" y="4831972"/>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Scope of solution space </a:t>
            </a:r>
            <a:endParaRPr sz="1400" b="0" i="0" u="none" strike="noStrike" cap="none">
              <a:solidFill>
                <a:srgbClr val="000000"/>
              </a:solidFill>
              <a:latin typeface="Arial"/>
              <a:ea typeface="Arial"/>
              <a:cs typeface="Arial"/>
              <a:sym typeface="Arial"/>
            </a:endParaRPr>
          </a:p>
        </p:txBody>
      </p:sp>
      <p:sp>
        <p:nvSpPr>
          <p:cNvPr id="33" name="Google Shape;33;p1"/>
          <p:cNvSpPr/>
          <p:nvPr/>
        </p:nvSpPr>
        <p:spPr>
          <a:xfrm>
            <a:off x="5050634" y="482974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a:solidFill>
                  <a:schemeClr val="dk1"/>
                </a:solidFill>
              </a:rPr>
              <a:t>Key</a:t>
            </a:r>
            <a:r>
              <a:rPr lang="en-AU" sz="1428" b="0" i="0" u="none" strike="noStrike" cap="none">
                <a:solidFill>
                  <a:schemeClr val="dk1"/>
                </a:solidFill>
                <a:latin typeface="Arial"/>
                <a:ea typeface="Arial"/>
                <a:cs typeface="Arial"/>
                <a:sym typeface="Arial"/>
              </a:rPr>
              <a:t> data sources </a:t>
            </a:r>
            <a:endParaRPr sz="1400" b="0" i="0" u="none" strike="noStrike" cap="none">
              <a:solidFill>
                <a:srgbClr val="000000"/>
              </a:solidFill>
              <a:latin typeface="Arial"/>
              <a:ea typeface="Arial"/>
              <a:cs typeface="Arial"/>
              <a:sym typeface="Arial"/>
            </a:endParaRPr>
          </a:p>
        </p:txBody>
      </p:sp>
      <p:sp>
        <p:nvSpPr>
          <p:cNvPr id="34" name="Google Shape;34;p1"/>
          <p:cNvSpPr txBox="1"/>
          <p:nvPr/>
        </p:nvSpPr>
        <p:spPr>
          <a:xfrm>
            <a:off x="143108" y="1964976"/>
            <a:ext cx="4324418" cy="12458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b="1" i="0" u="none" strike="noStrike" cap="none" dirty="0" err="1">
                <a:solidFill>
                  <a:srgbClr val="000000"/>
                </a:solidFill>
                <a:latin typeface="Arial"/>
                <a:ea typeface="Arial"/>
                <a:cs typeface="Arial"/>
                <a:sym typeface="Arial"/>
              </a:rPr>
              <a:t>ChemCorp</a:t>
            </a:r>
            <a:r>
              <a:rPr lang="en-AU" sz="1070" b="1" i="0" u="none" strike="noStrike" cap="none" dirty="0">
                <a:solidFill>
                  <a:srgbClr val="000000"/>
                </a:solidFill>
                <a:latin typeface="Arial"/>
                <a:ea typeface="Arial"/>
                <a:cs typeface="Arial"/>
                <a:sym typeface="Arial"/>
              </a:rPr>
              <a:t> Inc is a consolidated chemical company which has demonstrated growth and relevance over the past few years. However, competition startups have changed the business through different technologies and made </a:t>
            </a:r>
            <a:r>
              <a:rPr lang="en-AU" sz="1070" b="1" i="0" u="none" strike="noStrike" cap="none" dirty="0" err="1">
                <a:solidFill>
                  <a:srgbClr val="000000"/>
                </a:solidFill>
                <a:latin typeface="Arial"/>
                <a:ea typeface="Arial"/>
                <a:cs typeface="Arial"/>
                <a:sym typeface="Arial"/>
              </a:rPr>
              <a:t>ChemCorp</a:t>
            </a:r>
            <a:r>
              <a:rPr lang="en-AU" sz="1070" b="1" i="0" u="none" strike="noStrike" cap="none" dirty="0">
                <a:solidFill>
                  <a:srgbClr val="000000"/>
                </a:solidFill>
                <a:latin typeface="Arial"/>
                <a:ea typeface="Arial"/>
                <a:cs typeface="Arial"/>
                <a:sym typeface="Arial"/>
              </a:rPr>
              <a:t> lose clients which represent about 10% of the sales revenues.</a:t>
            </a:r>
          </a:p>
          <a:p>
            <a:pPr marL="0" marR="0" lvl="0" indent="0" algn="l" rtl="0">
              <a:lnSpc>
                <a:spcPct val="100000"/>
              </a:lnSpc>
              <a:spcBef>
                <a:spcPts val="0"/>
              </a:spcBef>
              <a:spcAft>
                <a:spcPts val="0"/>
              </a:spcAft>
              <a:buNone/>
            </a:pPr>
            <a:endParaRPr dirty="0"/>
          </a:p>
        </p:txBody>
      </p:sp>
      <p:sp>
        <p:nvSpPr>
          <p:cNvPr id="35" name="Google Shape;35;p1"/>
          <p:cNvSpPr txBox="1"/>
          <p:nvPr/>
        </p:nvSpPr>
        <p:spPr>
          <a:xfrm>
            <a:off x="143108" y="3538874"/>
            <a:ext cx="4324418" cy="14106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1" i="0" u="none" strike="noStrike" cap="none" dirty="0">
                <a:solidFill>
                  <a:srgbClr val="000000"/>
                </a:solidFill>
                <a:latin typeface="Arial"/>
                <a:ea typeface="Arial"/>
                <a:cs typeface="Arial"/>
                <a:sym typeface="Arial"/>
              </a:rPr>
              <a:t>Success for this project = A solid plan and execution of identification of at least one growing business and at least one divestment product in at least one industry that will let other areas to have better chances of growth potential.</a:t>
            </a:r>
            <a:endParaRPr sz="1071" b="1" i="0" u="none" strike="noStrike" cap="none" dirty="0">
              <a:solidFill>
                <a:srgbClr val="000000"/>
              </a:solidFill>
              <a:latin typeface="Arial"/>
              <a:ea typeface="Arial"/>
              <a:cs typeface="Arial"/>
              <a:sym typeface="Arial"/>
            </a:endParaRPr>
          </a:p>
        </p:txBody>
      </p:sp>
      <p:sp>
        <p:nvSpPr>
          <p:cNvPr id="36" name="Google Shape;36;p1"/>
          <p:cNvSpPr txBox="1"/>
          <p:nvPr/>
        </p:nvSpPr>
        <p:spPr>
          <a:xfrm>
            <a:off x="186842" y="5184805"/>
            <a:ext cx="4324418" cy="7514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0" i="0" u="none" strike="noStrike" cap="none" dirty="0">
                <a:solidFill>
                  <a:srgbClr val="000000"/>
                </a:solidFill>
                <a:latin typeface="Arial"/>
                <a:ea typeface="Arial"/>
                <a:cs typeface="Arial"/>
                <a:sym typeface="Arial"/>
              </a:rPr>
              <a:t>Define an action plan to identify future growth industries and</a:t>
            </a:r>
            <a:r>
              <a:rPr lang="en-AU" sz="1071" dirty="0"/>
              <a:t> determine at least one product in one industry that has to be undergone to divestment.</a:t>
            </a:r>
            <a:endParaRPr sz="1400" b="0" i="0" u="none" strike="noStrike" cap="none" dirty="0">
              <a:solidFill>
                <a:srgbClr val="000000"/>
              </a:solidFill>
              <a:latin typeface="Arial"/>
              <a:ea typeface="Arial"/>
              <a:cs typeface="Arial"/>
              <a:sym typeface="Arial"/>
            </a:endParaRPr>
          </a:p>
        </p:txBody>
      </p:sp>
      <p:sp>
        <p:nvSpPr>
          <p:cNvPr id="37" name="Google Shape;37;p1"/>
          <p:cNvSpPr txBox="1"/>
          <p:nvPr/>
        </p:nvSpPr>
        <p:spPr>
          <a:xfrm>
            <a:off x="4558232" y="1963919"/>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b="1" dirty="0"/>
              <a:t>Limited amount of capital</a:t>
            </a:r>
          </a:p>
          <a:p>
            <a:pPr marL="0" marR="0" lvl="0" indent="0" algn="l" rtl="0">
              <a:lnSpc>
                <a:spcPct val="100000"/>
              </a:lnSpc>
              <a:spcBef>
                <a:spcPts val="0"/>
              </a:spcBef>
              <a:spcAft>
                <a:spcPts val="0"/>
              </a:spcAft>
              <a:buNone/>
            </a:pPr>
            <a:r>
              <a:rPr lang="en-AU" sz="1070" b="1" dirty="0"/>
              <a:t>Pressure due to shareholders uncertainty</a:t>
            </a:r>
          </a:p>
          <a:p>
            <a:pPr marL="0" marR="0" lvl="0" indent="0" algn="l" rtl="0">
              <a:lnSpc>
                <a:spcPct val="100000"/>
              </a:lnSpc>
              <a:spcBef>
                <a:spcPts val="0"/>
              </a:spcBef>
              <a:spcAft>
                <a:spcPts val="0"/>
              </a:spcAft>
              <a:buNone/>
            </a:pPr>
            <a:r>
              <a:rPr lang="en-AU" sz="1070" b="1" dirty="0"/>
              <a:t>Problems finding a good and promising growth industry or doing divestments on a product which is not affecting negatively the profit margins. </a:t>
            </a:r>
          </a:p>
          <a:p>
            <a:pPr marL="0" marR="0" lvl="0" indent="0" algn="l" rtl="0">
              <a:lnSpc>
                <a:spcPct val="100000"/>
              </a:lnSpc>
              <a:spcBef>
                <a:spcPts val="0"/>
              </a:spcBef>
              <a:spcAft>
                <a:spcPts val="0"/>
              </a:spcAft>
              <a:buNone/>
            </a:pPr>
            <a:endParaRPr sz="1070" b="1" i="0" u="none" strike="noStrike" cap="none" dirty="0">
              <a:solidFill>
                <a:srgbClr val="000000"/>
              </a:solidFill>
              <a:latin typeface="Arial"/>
              <a:ea typeface="Arial"/>
              <a:cs typeface="Arial"/>
              <a:sym typeface="Arial"/>
            </a:endParaRPr>
          </a:p>
        </p:txBody>
      </p:sp>
      <p:sp>
        <p:nvSpPr>
          <p:cNvPr id="38" name="Google Shape;38;p1"/>
          <p:cNvSpPr txBox="1"/>
          <p:nvPr/>
        </p:nvSpPr>
        <p:spPr>
          <a:xfrm>
            <a:off x="4590928" y="5085174"/>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b="1" i="0" u="none" strike="noStrike" cap="none" dirty="0" err="1">
                <a:solidFill>
                  <a:srgbClr val="000000"/>
                </a:solidFill>
                <a:latin typeface="Arial"/>
                <a:ea typeface="Arial"/>
                <a:cs typeface="Arial"/>
                <a:sym typeface="Arial"/>
              </a:rPr>
              <a:t>ChemCorp’s</a:t>
            </a:r>
            <a:r>
              <a:rPr lang="en-AU" sz="1070" b="1" i="0" u="none" strike="noStrike" cap="none" dirty="0">
                <a:solidFill>
                  <a:srgbClr val="000000"/>
                </a:solidFill>
                <a:latin typeface="Arial"/>
                <a:ea typeface="Arial"/>
                <a:cs typeface="Arial"/>
                <a:sym typeface="Arial"/>
              </a:rPr>
              <a:t> Customer Revenues and Market size datasets. </a:t>
            </a:r>
            <a:endParaRPr sz="1070" b="1" i="0" u="none" strike="noStrike" cap="none" dirty="0">
              <a:solidFill>
                <a:srgbClr val="000000"/>
              </a:solidFill>
              <a:latin typeface="Arial"/>
              <a:ea typeface="Arial"/>
              <a:cs typeface="Arial"/>
              <a:sym typeface="Arial"/>
            </a:endParaRPr>
          </a:p>
        </p:txBody>
      </p:sp>
      <p:sp>
        <p:nvSpPr>
          <p:cNvPr id="39" name="Google Shape;39;p1"/>
          <p:cNvSpPr/>
          <p:nvPr/>
        </p:nvSpPr>
        <p:spPr>
          <a:xfrm>
            <a:off x="6633337" y="652441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0" name="Google Shape;40;p1"/>
          <p:cNvSpPr/>
          <p:nvPr/>
        </p:nvSpPr>
        <p:spPr>
          <a:xfrm>
            <a:off x="7028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D</a:t>
            </a:r>
            <a:endParaRPr sz="1400" b="0" i="0" u="none" strike="noStrike" cap="none">
              <a:solidFill>
                <a:srgbClr val="000000"/>
              </a:solidFill>
              <a:latin typeface="Arial"/>
              <a:ea typeface="Arial"/>
              <a:cs typeface="Arial"/>
              <a:sym typeface="Arial"/>
            </a:endParaRPr>
          </a:p>
        </p:txBody>
      </p:sp>
      <p:sp>
        <p:nvSpPr>
          <p:cNvPr id="41" name="Google Shape;41;p1"/>
          <p:cNvSpPr/>
          <p:nvPr/>
        </p:nvSpPr>
        <p:spPr>
          <a:xfrm>
            <a:off x="7452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E</a:t>
            </a:r>
            <a:endParaRPr sz="1400" b="0" i="0" u="none" strike="noStrike" cap="none">
              <a:solidFill>
                <a:srgbClr val="000000"/>
              </a:solidFill>
              <a:latin typeface="Arial"/>
              <a:ea typeface="Arial"/>
              <a:cs typeface="Arial"/>
              <a:sym typeface="Arial"/>
            </a:endParaRPr>
          </a:p>
        </p:txBody>
      </p:sp>
      <p:sp>
        <p:nvSpPr>
          <p:cNvPr id="42" name="Google Shape;42;p1"/>
          <p:cNvSpPr/>
          <p:nvPr/>
        </p:nvSpPr>
        <p:spPr>
          <a:xfrm>
            <a:off x="7846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I</a:t>
            </a:r>
            <a:endParaRPr sz="1400" b="0" i="0" u="none" strike="noStrike" cap="none">
              <a:solidFill>
                <a:srgbClr val="000000"/>
              </a:solidFill>
              <a:latin typeface="Arial"/>
              <a:ea typeface="Arial"/>
              <a:cs typeface="Arial"/>
              <a:sym typeface="Arial"/>
            </a:endParaRPr>
          </a:p>
        </p:txBody>
      </p:sp>
      <p:sp>
        <p:nvSpPr>
          <p:cNvPr id="43" name="Google Shape;43;p1"/>
          <p:cNvSpPr/>
          <p:nvPr/>
        </p:nvSpPr>
        <p:spPr>
          <a:xfrm>
            <a:off x="8245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P</a:t>
            </a:r>
            <a:endParaRPr sz="1400" b="0" i="0" u="none" strike="noStrike" cap="none">
              <a:solidFill>
                <a:srgbClr val="000000"/>
              </a:solidFill>
              <a:latin typeface="Arial"/>
              <a:ea typeface="Arial"/>
              <a:cs typeface="Arial"/>
              <a:sym typeface="Arial"/>
            </a:endParaRPr>
          </a:p>
        </p:txBody>
      </p:sp>
      <p:sp>
        <p:nvSpPr>
          <p:cNvPr id="44" name="Google Shape;44;p1"/>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p:cNvSpPr/>
          <p:nvPr/>
        </p:nvSpPr>
        <p:spPr>
          <a:xfrm>
            <a:off x="121750" y="116631"/>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a:solidFill>
                  <a:srgbClr val="29748D"/>
                </a:solidFill>
                <a:latin typeface="Quattrocento Sans"/>
                <a:ea typeface="Quattrocento Sans"/>
                <a:cs typeface="Quattrocento Sans"/>
                <a:sym typeface="Quattrocento Sans"/>
              </a:rPr>
              <a:t>Problem Statement Worksheet (Hypothesis Formation)</a:t>
            </a:r>
            <a:endParaRPr/>
          </a:p>
        </p:txBody>
      </p:sp>
      <p:sp>
        <p:nvSpPr>
          <p:cNvPr id="47" name="Google Shape;47;p1"/>
          <p:cNvSpPr txBox="1"/>
          <p:nvPr/>
        </p:nvSpPr>
        <p:spPr>
          <a:xfrm>
            <a:off x="4607126" y="3547600"/>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0" i="0" u="none" strike="noStrike" cap="none" dirty="0">
                <a:solidFill>
                  <a:srgbClr val="000000"/>
                </a:solidFill>
                <a:latin typeface="Arial"/>
                <a:ea typeface="Arial"/>
                <a:cs typeface="Arial"/>
                <a:sym typeface="Arial"/>
              </a:rPr>
              <a:t>CSO Amelia Edwards</a:t>
            </a:r>
            <a:endParaRPr sz="1400" b="0" i="0" u="none" strike="noStrike" cap="none" dirty="0">
              <a:solidFill>
                <a:srgbClr val="000000"/>
              </a:solidFill>
              <a:latin typeface="Arial"/>
              <a:ea typeface="Arial"/>
              <a:cs typeface="Arial"/>
              <a:sym typeface="Arial"/>
            </a:endParaRPr>
          </a:p>
        </p:txBody>
      </p:sp>
      <p:sp>
        <p:nvSpPr>
          <p:cNvPr id="48" name="Google Shape;48;p1"/>
          <p:cNvSpPr txBox="1"/>
          <p:nvPr/>
        </p:nvSpPr>
        <p:spPr>
          <a:xfrm>
            <a:off x="184140" y="540901"/>
            <a:ext cx="8584648" cy="764998"/>
          </a:xfrm>
          <a:prstGeom prst="rect">
            <a:avLst/>
          </a:prstGeom>
          <a:noFill/>
          <a:ln>
            <a:noFill/>
          </a:ln>
        </p:spPr>
        <p:txBody>
          <a:bodyPr spcFirstLastPara="1" wrap="square" lIns="91425" tIns="45700" rIns="91425" bIns="45700" anchor="t" anchorCtr="0">
            <a:noAutofit/>
          </a:bodyPr>
          <a:lstStyle/>
          <a:p>
            <a:pPr>
              <a:buNone/>
            </a:pPr>
            <a:r>
              <a:rPr lang="en-US" dirty="0">
                <a:solidFill>
                  <a:srgbClr val="000000"/>
                </a:solidFill>
                <a:effectLst/>
                <a:latin typeface="Helvetica" pitchFamily="2" charset="0"/>
              </a:rPr>
              <a:t>How can </a:t>
            </a:r>
            <a:r>
              <a:rPr lang="en-US" dirty="0" err="1">
                <a:solidFill>
                  <a:srgbClr val="000000"/>
                </a:solidFill>
                <a:effectLst/>
                <a:latin typeface="Helvetica" pitchFamily="2" charset="0"/>
              </a:rPr>
              <a:t>ChemCorp</a:t>
            </a:r>
            <a:r>
              <a:rPr lang="en-US" dirty="0">
                <a:solidFill>
                  <a:srgbClr val="000000"/>
                </a:solidFill>
                <a:effectLst/>
                <a:latin typeface="Helvetica" pitchFamily="2" charset="0"/>
              </a:rPr>
              <a:t> prevent the loss of future market share through the identification of future growth industries and identification of at least one divestment product in at least one of our industries by the end of the year? </a:t>
            </a:r>
          </a:p>
        </p:txBody>
      </p:sp>
    </p:spTree>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529</Words>
  <Application>Microsoft Macintosh PowerPoint</Application>
  <PresentationFormat>On-screen Show (4:3)</PresentationFormat>
  <Paragraphs>43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Helvetica</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Ariel Sebastian Farelas Lazaro</cp:lastModifiedBy>
  <cp:revision>1</cp:revision>
  <dcterms:modified xsi:type="dcterms:W3CDTF">2025-09-19T01:42:02Z</dcterms:modified>
</cp:coreProperties>
</file>